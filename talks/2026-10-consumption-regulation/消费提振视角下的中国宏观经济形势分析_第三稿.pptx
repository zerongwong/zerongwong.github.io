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8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5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7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8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19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20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21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charts/chart22.xml" ContentType="application/vnd.openxmlformats-officedocument.drawingml.chart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charts/chart2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一 消费之镜" id="{a41d0e3e-8143-c295-73b6-3d626c50b546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二 外需之变" id="{fb6df60e-9fbf-ddc4-297d-dacb8ba77f46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三 内需之困" id="{07107a41-46b4-fbd7-0ef0-fd7db38fea92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休息" id="{7642ba29-d6db-0d5e-e678-e5d879c62fc4}">
          <p14:sldIdLst>
            <p14:sldId id="285"/>
          </p14:sldIdLst>
        </p14:section>
        <p14:section name="四 三账联读" id="{2921c103-aa4c-2173-673b-ce1703dc914f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五 浙江之察" id="{c9add4c6-e593-3e71-bc0b-29af71b7de99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六 监管之为" id="{089a432c-2bdc-b4bd-eb50-b8685e25ad5a}">
          <p14:sldIdLst>
            <p14:sldId id="309"/>
            <p14:sldId id="310"/>
            <p14:sldId id="311"/>
            <p14:sldId id="312"/>
            <p14:sldId id="313"/>
            <p14:sldId id="314"/>
            <p14:sldId id="315"/>
          </p14:sldIdLst>
        </p14:section>
        <p14:section name="备查（隐藏）" id="{f3990867-7e33-1f14-fb14-96a5e34e62f6}">
          <p14:sldIdLst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2026年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世界</c:v>
                  </c:pt>
                  <c:pt idx="1">
                    <c:v>美国</c:v>
                  </c:pt>
                  <c:pt idx="2">
                    <c:v>欧元区</c:v>
                  </c:pt>
                  <c:pt idx="3">
                    <c:v>日本</c:v>
                  </c:pt>
                  <c:pt idx="4">
                    <c:v>中国</c:v>
                  </c:pt>
                  <c:pt idx="5">
                    <c:v>印度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</c:v>
                </c:pt>
                <c:pt idx="1">
                  <c:v>2.3</c:v>
                </c:pt>
                <c:pt idx="2">
                  <c:v>1.1</c:v>
                </c:pt>
                <c:pt idx="3">
                  <c:v>0.7</c:v>
                </c:pt>
                <c:pt idx="4">
                  <c:v>4.5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2027年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世界</c:v>
                  </c:pt>
                  <c:pt idx="1">
                    <c:v>美国</c:v>
                  </c:pt>
                  <c:pt idx="2">
                    <c:v>欧元区</c:v>
                  </c:pt>
                  <c:pt idx="3">
                    <c:v>日本</c:v>
                  </c:pt>
                  <c:pt idx="4">
                    <c:v>中国</c:v>
                  </c:pt>
                  <c:pt idx="5">
                    <c:v>印度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3.4</c:v>
                </c:pt>
                <c:pt idx="1">
                  <c:v>2.3</c:v>
                </c:pt>
                <c:pt idx="2">
                  <c:v>1.2</c:v>
                </c:pt>
                <c:pt idx="3">
                  <c:v>0.7</c:v>
                </c:pt>
                <c:pt idx="4">
                  <c:v>4</c:v>
                </c:pt>
                <c:pt idx="5">
                  <c:v>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布伦特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66.6</c:v>
                </c:pt>
                <c:pt idx="1">
                  <c:v>70.9</c:v>
                </c:pt>
                <c:pt idx="2">
                  <c:v>103.1</c:v>
                </c:pt>
                <c:pt idx="3">
                  <c:v>117.3</c:v>
                </c:pt>
                <c:pt idx="4">
                  <c:v>107.1</c:v>
                </c:pt>
                <c:pt idx="5">
                  <c:v>85.4</c:v>
                </c:pt>
                <c:pt idx="6">
                  <c:v>83.8</c:v>
                </c:pt>
                <c:pt idx="7">
                  <c:v>91.1</c:v>
                </c:pt>
                <c:pt idx="8">
                  <c:v>114.2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居民消费率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美国</c:v>
                  </c:pt>
                  <c:pt idx="1">
                    <c:v>英国</c:v>
                  </c:pt>
                  <c:pt idx="2">
                    <c:v>印度</c:v>
                  </c:pt>
                  <c:pt idx="3">
                    <c:v>日本</c:v>
                  </c:pt>
                  <c:pt idx="4">
                    <c:v>法国</c:v>
                  </c:pt>
                  <c:pt idx="5">
                    <c:v>德国</c:v>
                  </c:pt>
                  <c:pt idx="6">
                    <c:v>韩国</c:v>
                  </c:pt>
                  <c:pt idx="7">
                    <c:v>中国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</c:v>
                </c:pt>
                <c:pt idx="1">
                  <c:v>62</c:v>
                </c:pt>
                <c:pt idx="2">
                  <c:v>60</c:v>
                </c:pt>
                <c:pt idx="3">
                  <c:v>55</c:v>
                </c:pt>
                <c:pt idx="4">
                  <c:v>53</c:v>
                </c:pt>
                <c:pt idx="5">
                  <c:v>50</c:v>
                </c:pt>
                <c:pt idx="6">
                  <c:v>48</c:v>
                </c:pt>
                <c:pt idx="7">
                  <c:v>39.9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GDP增速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上半年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2.2</c:v>
                </c:pt>
                <c:pt idx="2">
                  <c:v>8.4</c:v>
                </c:pt>
                <c:pt idx="3">
                  <c:v>3</c:v>
                </c:pt>
                <c:pt idx="4">
                  <c:v>5.2</c:v>
                </c:pt>
                <c:pt idx="5">
                  <c:v>5</c:v>
                </c:pt>
                <c:pt idx="6">
                  <c:v>5</c:v>
                </c:pt>
                <c:pt idx="7">
                  <c:v>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最终消费拉动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上半年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3.5</c:v>
                </c:pt>
                <c:pt idx="1">
                  <c:v>-0.5</c:v>
                </c:pt>
                <c:pt idx="2">
                  <c:v>5.3</c:v>
                </c:pt>
                <c:pt idx="3">
                  <c:v>1</c:v>
                </c:pt>
                <c:pt idx="4">
                  <c:v>4.3</c:v>
                </c:pt>
                <c:pt idx="5">
                  <c:v>2.2</c:v>
                </c:pt>
                <c:pt idx="6">
                  <c:v>2.6</c:v>
                </c:pt>
                <c:pt idx="7">
                  <c:v>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社零同比</c:v>
                </c:pt>
              </c:strCache>
            </c:strRef>
          </c:tx>
          <c:spPr>
            <a:solidFill>
              <a:srgbClr val="870C0C"/>
            </a:solidFill>
            <a:ln w="3175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1-2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1-2</c:v>
                  </c:pt>
                  <c:pt idx="12">
                    <c:v>3</c:v>
                  </c:pt>
                  <c:pt idx="13">
                    <c:v>4</c:v>
                  </c:pt>
                  <c:pt idx="14">
                    <c:v>5</c:v>
                  </c:pt>
                  <c:pt idx="15">
                    <c:v>6</c:v>
                  </c:pt>
                  <c:pt idx="16">
                    <c:v>7</c:v>
                  </c:pt>
                  <c:pt idx="17">
                    <c:v>8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</c:v>
                </c:pt>
                <c:pt idx="1">
                  <c:v>5.9</c:v>
                </c:pt>
                <c:pt idx="2">
                  <c:v>5.1</c:v>
                </c:pt>
                <c:pt idx="3">
                  <c:v>6.4</c:v>
                </c:pt>
                <c:pt idx="4">
                  <c:v>4.8</c:v>
                </c:pt>
                <c:pt idx="5">
                  <c:v>3.7</c:v>
                </c:pt>
                <c:pt idx="6">
                  <c:v>3.4</c:v>
                </c:pt>
                <c:pt idx="7">
                  <c:v>3</c:v>
                </c:pt>
                <c:pt idx="8">
                  <c:v>2.9</c:v>
                </c:pt>
                <c:pt idx="9">
                  <c:v>1.3</c:v>
                </c:pt>
                <c:pt idx="10">
                  <c:v>0.9</c:v>
                </c:pt>
                <c:pt idx="11">
                  <c:v>2.8</c:v>
                </c:pt>
                <c:pt idx="12">
                  <c:v>1.7</c:v>
                </c:pt>
                <c:pt idx="13">
                  <c:v>0.2</c:v>
                </c:pt>
                <c:pt idx="14">
                  <c:v>-0.6</c:v>
                </c:pt>
                <c:pt idx="15">
                  <c:v>1</c:v>
                </c:pt>
                <c:pt idx="16">
                  <c:v>0.6</c:v>
                </c:pt>
                <c:pt idx="17">
                  <c:v>0.4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-2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年度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-3.9</c:v>
                </c:pt>
                <c:pt idx="2">
                  <c:v>12.5</c:v>
                </c:pt>
                <c:pt idx="3">
                  <c:v>-0.2</c:v>
                </c:pt>
                <c:pt idx="4">
                  <c:v>7.2</c:v>
                </c:pt>
                <c:pt idx="5">
                  <c:v>3.5</c:v>
                </c:pt>
                <c:pt idx="6">
                  <c:v>3.7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-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</c:v>
                </c:pt>
              </c:strCache>
            </c:strRef>
          </c:tx>
          <c:spPr>
            <a:solidFill>
              <a:srgbClr val="870C0C"/>
            </a:solidFill>
            <a:ln w="3175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</c:v>
                  </c:pt>
                  <c:pt idx="13">
                    <c:v>2</c:v>
                  </c:pt>
                  <c:pt idx="14">
                    <c:v>3</c:v>
                  </c:pt>
                  <c:pt idx="15">
                    <c:v>4</c:v>
                  </c:pt>
                  <c:pt idx="16">
                    <c:v>5</c:v>
                  </c:pt>
                  <c:pt idx="17">
                    <c:v>6</c:v>
                  </c:pt>
                  <c:pt idx="18">
                    <c:v>7</c:v>
                  </c:pt>
                  <c:pt idx="19">
                    <c:v>8</c:v>
                  </c:pt>
                  <c:pt idx="20">
                    <c:v>9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0.5</c:v>
                </c:pt>
                <c:pt idx="1">
                  <c:v>-0.7</c:v>
                </c:pt>
                <c:pt idx="2">
                  <c:v>-0.1</c:v>
                </c:pt>
                <c:pt idx="3">
                  <c:v>-0.1</c:v>
                </c:pt>
                <c:pt idx="4">
                  <c:v>-0.1</c:v>
                </c:pt>
                <c:pt idx="5">
                  <c:v>0.1</c:v>
                </c:pt>
                <c:pt idx="6">
                  <c:v>0</c:v>
                </c:pt>
                <c:pt idx="7">
                  <c:v>-0.4</c:v>
                </c:pt>
                <c:pt idx="8">
                  <c:v>-0.3</c:v>
                </c:pt>
                <c:pt idx="9">
                  <c:v>0.2</c:v>
                </c:pt>
                <c:pt idx="10">
                  <c:v>0.7</c:v>
                </c:pt>
                <c:pt idx="11">
                  <c:v>0.8</c:v>
                </c:pt>
                <c:pt idx="12">
                  <c:v>0.2</c:v>
                </c:pt>
                <c:pt idx="13">
                  <c:v>1.3</c:v>
                </c:pt>
                <c:pt idx="14">
                  <c:v>1</c:v>
                </c:pt>
                <c:pt idx="15">
                  <c:v>1.2</c:v>
                </c:pt>
                <c:pt idx="16">
                  <c:v>1.2</c:v>
                </c:pt>
                <c:pt idx="17">
                  <c:v>1</c:v>
                </c:pt>
                <c:pt idx="18">
                  <c:v>0.5</c:v>
                </c:pt>
                <c:pt idx="19">
                  <c:v>0.8</c:v>
                </c:pt>
                <c:pt idx="20">
                  <c:v>0.9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PPI</c:v>
                </c:pt>
              </c:strCache>
            </c:strRef>
          </c:tx>
          <c:spPr>
            <a:solidFill>
              <a:srgbClr val="507B9B"/>
            </a:solidFill>
            <a:ln w="31750" cap="flat">
              <a:solidFill>
                <a:srgbClr val="507B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07B9B"/>
              </a:solidFill>
              <a:ln w="9525" cap="flat">
                <a:solidFill>
                  <a:srgbClr val="507B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</c:v>
                  </c:pt>
                  <c:pt idx="13">
                    <c:v>2</c:v>
                  </c:pt>
                  <c:pt idx="14">
                    <c:v>3</c:v>
                  </c:pt>
                  <c:pt idx="15">
                    <c:v>4</c:v>
                  </c:pt>
                  <c:pt idx="16">
                    <c:v>5</c:v>
                  </c:pt>
                  <c:pt idx="17">
                    <c:v>6</c:v>
                  </c:pt>
                  <c:pt idx="18">
                    <c:v>7</c:v>
                  </c:pt>
                  <c:pt idx="19">
                    <c:v>8</c:v>
                  </c:pt>
                  <c:pt idx="20">
                    <c:v>9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-2.3</c:v>
                </c:pt>
                <c:pt idx="1">
                  <c:v>-2.2</c:v>
                </c:pt>
                <c:pt idx="2">
                  <c:v>-2.5</c:v>
                </c:pt>
                <c:pt idx="3">
                  <c:v>-2.7</c:v>
                </c:pt>
                <c:pt idx="4">
                  <c:v>-3.3</c:v>
                </c:pt>
                <c:pt idx="5">
                  <c:v>-3.6</c:v>
                </c:pt>
                <c:pt idx="6">
                  <c:v>-3.6</c:v>
                </c:pt>
                <c:pt idx="7">
                  <c:v>-2.9</c:v>
                </c:pt>
                <c:pt idx="8">
                  <c:v>-2.3</c:v>
                </c:pt>
                <c:pt idx="9">
                  <c:v>-2.1</c:v>
                </c:pt>
                <c:pt idx="10">
                  <c:v>-2.2</c:v>
                </c:pt>
                <c:pt idx="11">
                  <c:v>-1.9</c:v>
                </c:pt>
                <c:pt idx="12">
                  <c:v>-1.4</c:v>
                </c:pt>
                <c:pt idx="13">
                  <c:v>-0.9</c:v>
                </c:pt>
                <c:pt idx="14">
                  <c:v>0.5</c:v>
                </c:pt>
                <c:pt idx="15">
                  <c:v>2.8</c:v>
                </c:pt>
                <c:pt idx="16">
                  <c:v>3.9</c:v>
                </c:pt>
                <c:pt idx="17">
                  <c:v>4.1</c:v>
                </c:pt>
                <c:pt idx="18">
                  <c:v>3.5</c:v>
                </c:pt>
                <c:pt idx="19">
                  <c:v>3.8</c:v>
                </c:pt>
                <c:pt idx="20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-4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8月同比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通讯器材</c:v>
                  </c:pt>
                  <c:pt idx="1">
                    <c:v>烟酒</c:v>
                  </c:pt>
                  <c:pt idx="2">
                    <c:v>化妆品</c:v>
                  </c:pt>
                  <c:pt idx="3">
                    <c:v>中西药品</c:v>
                  </c:pt>
                  <c:pt idx="4">
                    <c:v>家电音像</c:v>
                  </c:pt>
                  <c:pt idx="5">
                    <c:v>服装鞋帽针纺</c:v>
                  </c:pt>
                  <c:pt idx="6">
                    <c:v>石油及制品</c:v>
                  </c:pt>
                  <c:pt idx="7">
                    <c:v>家具</c:v>
                  </c:pt>
                  <c:pt idx="8">
                    <c:v>建筑及装潢材料</c:v>
                  </c:pt>
                  <c:pt idx="9">
                    <c:v>金银珠宝</c:v>
                  </c:pt>
                  <c:pt idx="10">
                    <c:v>汽车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27.3</c:v>
                </c:pt>
                <c:pt idx="1">
                  <c:v>12.5</c:v>
                </c:pt>
                <c:pt idx="2">
                  <c:v>4.9</c:v>
                </c:pt>
                <c:pt idx="3">
                  <c:v>4.8</c:v>
                </c:pt>
                <c:pt idx="4">
                  <c:v>2.3</c:v>
                </c:pt>
                <c:pt idx="5">
                  <c:v>-0.5</c:v>
                </c:pt>
                <c:pt idx="6">
                  <c:v>-7</c:v>
                </c:pt>
                <c:pt idx="7">
                  <c:v>-7.9</c:v>
                </c:pt>
                <c:pt idx="8">
                  <c:v>-11.8</c:v>
                </c:pt>
                <c:pt idx="9">
                  <c:v>-17.5</c:v>
                </c:pt>
                <c:pt idx="10">
                  <c:v>-18.5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-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平均消费倾向</c:v>
                </c:pt>
              </c:strCache>
            </c:strRef>
          </c:tx>
          <c:spPr>
            <a:solidFill>
              <a:srgbClr val="870C0C"/>
            </a:solidFill>
            <a:ln w="3810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70.1</c:v>
                </c:pt>
                <c:pt idx="1">
                  <c:v>65.9</c:v>
                </c:pt>
                <c:pt idx="2">
                  <c:v>68.6</c:v>
                </c:pt>
                <c:pt idx="3">
                  <c:v>66.5</c:v>
                </c:pt>
                <c:pt idx="4">
                  <c:v>68.3</c:v>
                </c:pt>
                <c:pt idx="5">
                  <c:v>68.3</c:v>
                </c:pt>
                <c:pt idx="6">
                  <c:v>68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"/>
          <c:min val="6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服务性消费占比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45.9</c:v>
                </c:pt>
                <c:pt idx="1">
                  <c:v>42.6</c:v>
                </c:pt>
                <c:pt idx="2">
                  <c:v>44.2</c:v>
                </c:pt>
                <c:pt idx="3">
                  <c:v>43.2</c:v>
                </c:pt>
                <c:pt idx="4">
                  <c:v>45.2</c:v>
                </c:pt>
                <c:pt idx="5">
                  <c:v>46.1</c:v>
                </c:pt>
                <c:pt idx="6">
                  <c:v>46.1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平均数</c:v>
                  </c:pt>
                  <c:pt idx="1">
                    <c:v>中位数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22981</c:v>
                </c:pt>
                <c:pt idx="1">
                  <c:v>19036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5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</c:v>
                </c:pt>
              </c:strCache>
            </c:strRef>
          </c:tx>
          <c:spPr>
            <a:solidFill>
              <a:srgbClr val="BDBDBD"/>
            </a:solidFill>
            <a:ln w="38100" cap="flat">
              <a:solidFill>
                <a:srgbClr val="BDBD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DBDBD"/>
              </a:solidFill>
              <a:ln w="9525" cap="flat">
                <a:solidFill>
                  <a:srgbClr val="BDBD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上半年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2.2</c:v>
                </c:pt>
                <c:pt idx="2">
                  <c:v>8.4</c:v>
                </c:pt>
                <c:pt idx="3">
                  <c:v>3</c:v>
                </c:pt>
                <c:pt idx="4">
                  <c:v>5.2</c:v>
                </c:pt>
                <c:pt idx="5">
                  <c:v>5</c:v>
                </c:pt>
                <c:pt idx="6">
                  <c:v>5</c:v>
                </c:pt>
                <c:pt idx="7">
                  <c:v>4.7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居民收入</c:v>
                </c:pt>
              </c:strCache>
            </c:strRef>
          </c:tx>
          <c:spPr>
            <a:solidFill>
              <a:srgbClr val="870C0C"/>
            </a:solidFill>
            <a:ln w="3810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上半年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5.8</c:v>
                </c:pt>
                <c:pt idx="1">
                  <c:v>2.1</c:v>
                </c:pt>
                <c:pt idx="2">
                  <c:v>8.1</c:v>
                </c:pt>
                <c:pt idx="3">
                  <c:v>2.9</c:v>
                </c:pt>
                <c:pt idx="4">
                  <c:v>6.1</c:v>
                </c:pt>
                <c:pt idx="5">
                  <c:v>5.1</c:v>
                </c:pt>
                <c:pt idx="6">
                  <c:v>5</c:v>
                </c:pt>
                <c:pt idx="7">
                  <c:v>4.2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16—24岁（不含在校生）</c:v>
                </c:pt>
              </c:strCache>
            </c:strRef>
          </c:tx>
          <c:spPr>
            <a:solidFill>
              <a:srgbClr val="870C0C"/>
            </a:solidFill>
            <a:ln w="3175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  <c:pt idx="13">
                    <c:v>7</c:v>
                  </c:pt>
                  <c:pt idx="14">
                    <c:v>8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14.5</c:v>
                </c:pt>
                <c:pt idx="1">
                  <c:v>17.8</c:v>
                </c:pt>
                <c:pt idx="2">
                  <c:v>18.9</c:v>
                </c:pt>
                <c:pt idx="3">
                  <c:v>17.7</c:v>
                </c:pt>
                <c:pt idx="4">
                  <c:v>17.3</c:v>
                </c:pt>
                <c:pt idx="5">
                  <c:v>16.9</c:v>
                </c:pt>
                <c:pt idx="6">
                  <c:v>16.5</c:v>
                </c:pt>
                <c:pt idx="7">
                  <c:v>16.3</c:v>
                </c:pt>
                <c:pt idx="8">
                  <c:v>16.1</c:v>
                </c:pt>
                <c:pt idx="9">
                  <c:v>16.9</c:v>
                </c:pt>
                <c:pt idx="10">
                  <c:v>16.3</c:v>
                </c:pt>
                <c:pt idx="11">
                  <c:v>15.6</c:v>
                </c:pt>
                <c:pt idx="12">
                  <c:v>14.9</c:v>
                </c:pt>
                <c:pt idx="13">
                  <c:v>17.9</c:v>
                </c:pt>
                <c:pt idx="14">
                  <c:v>18.9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25—29岁</c:v>
                </c:pt>
              </c:strCache>
            </c:strRef>
          </c:tx>
          <c:spPr>
            <a:solidFill>
              <a:srgbClr val="507B9B"/>
            </a:solidFill>
            <a:ln w="31750" cap="flat">
              <a:solidFill>
                <a:srgbClr val="507B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07B9B"/>
              </a:solidFill>
              <a:ln w="9525" cap="flat">
                <a:solidFill>
                  <a:srgbClr val="507B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  <c:pt idx="13">
                    <c:v>7</c:v>
                  </c:pt>
                  <c:pt idx="14">
                    <c:v>8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6.7</c:v>
                </c:pt>
                <c:pt idx="1">
                  <c:v>6.9</c:v>
                </c:pt>
                <c:pt idx="2">
                  <c:v>7.2</c:v>
                </c:pt>
                <c:pt idx="3">
                  <c:v>7.2</c:v>
                </c:pt>
                <c:pt idx="4">
                  <c:v>7.2</c:v>
                </c:pt>
                <c:pt idx="5">
                  <c:v>7.2</c:v>
                </c:pt>
                <c:pt idx="6">
                  <c:v>6.9</c:v>
                </c:pt>
                <c:pt idx="7">
                  <c:v>6.8</c:v>
                </c:pt>
                <c:pt idx="8">
                  <c:v>7.2</c:v>
                </c:pt>
                <c:pt idx="9">
                  <c:v>7.7</c:v>
                </c:pt>
                <c:pt idx="10">
                  <c:v>7.4</c:v>
                </c:pt>
                <c:pt idx="11">
                  <c:v>7.2</c:v>
                </c:pt>
                <c:pt idx="12">
                  <c:v>7.1</c:v>
                </c:pt>
                <c:pt idx="13">
                  <c:v>7.2</c:v>
                </c:pt>
                <c:pt idx="14">
                  <c:v>7.5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全国城镇</c:v>
                </c:pt>
              </c:strCache>
            </c:strRef>
          </c:tx>
          <c:spPr>
            <a:solidFill>
              <a:srgbClr val="666666"/>
            </a:solidFill>
            <a:ln w="31750" cap="flat">
              <a:solidFill>
                <a:srgbClr val="6666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66666"/>
              </a:solidFill>
              <a:ln w="9525" cap="flat">
                <a:solidFill>
                  <a:srgbClr val="6666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  <c:pt idx="13">
                    <c:v>7</c:v>
                  </c:pt>
                  <c:pt idx="14">
                    <c:v>8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5</c:v>
                </c:pt>
                <c:pt idx="1">
                  <c:v>5.2</c:v>
                </c:pt>
                <c:pt idx="2">
                  <c:v>5.3</c:v>
                </c:pt>
                <c:pt idx="3">
                  <c:v>5.2</c:v>
                </c:pt>
                <c:pt idx="4">
                  <c:v>5.1</c:v>
                </c:pt>
                <c:pt idx="5">
                  <c:v>5.1</c:v>
                </c:pt>
                <c:pt idx="6">
                  <c:v>5.1</c:v>
                </c:pt>
                <c:pt idx="7">
                  <c:v>5.2</c:v>
                </c:pt>
                <c:pt idx="8">
                  <c:v>5.3</c:v>
                </c:pt>
                <c:pt idx="9">
                  <c:v>5.4</c:v>
                </c:pt>
                <c:pt idx="10">
                  <c:v>5.2</c:v>
                </c:pt>
                <c:pt idx="11">
                  <c:v>5.1</c:v>
                </c:pt>
                <c:pt idx="12">
                  <c:v>5</c:v>
                </c:pt>
                <c:pt idx="13">
                  <c:v>5.2</c:v>
                </c:pt>
                <c:pt idx="14">
                  <c:v>5.3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住户存款增加额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9.7</c:v>
                </c:pt>
                <c:pt idx="1">
                  <c:v>11.3</c:v>
                </c:pt>
                <c:pt idx="2">
                  <c:v>9.9</c:v>
                </c:pt>
                <c:pt idx="3">
                  <c:v>17.8</c:v>
                </c:pt>
                <c:pt idx="4">
                  <c:v>16.7</c:v>
                </c:pt>
                <c:pt idx="5">
                  <c:v>14.3</c:v>
                </c:pt>
                <c:pt idx="6">
                  <c:v>14.6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销售面积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17.16</c:v>
                </c:pt>
                <c:pt idx="1">
                  <c:v>17.61</c:v>
                </c:pt>
                <c:pt idx="2">
                  <c:v>17.94</c:v>
                </c:pt>
                <c:pt idx="3">
                  <c:v>13.58</c:v>
                </c:pt>
                <c:pt idx="4">
                  <c:v>11.17</c:v>
                </c:pt>
                <c:pt idx="5">
                  <c:v>9.74</c:v>
                </c:pt>
                <c:pt idx="6">
                  <c:v>8.81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沪深300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2026年
1—9月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-5.2</c:v>
                </c:pt>
                <c:pt idx="1">
                  <c:v>-21.63</c:v>
                </c:pt>
                <c:pt idx="2">
                  <c:v>-11.38</c:v>
                </c:pt>
                <c:pt idx="3">
                  <c:v>14.68</c:v>
                </c:pt>
                <c:pt idx="4">
                  <c:v>17.66</c:v>
                </c:pt>
                <c:pt idx="5">
                  <c:v>-5.88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-2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60岁及以上占比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18.7</c:v>
                </c:pt>
                <c:pt idx="1">
                  <c:v>18.9</c:v>
                </c:pt>
                <c:pt idx="2">
                  <c:v>19.8</c:v>
                </c:pt>
                <c:pt idx="3">
                  <c:v>21.1</c:v>
                </c:pt>
                <c:pt idx="4">
                  <c:v>22</c:v>
                </c:pt>
                <c:pt idx="5">
                  <c:v>23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9月同比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PPI</c:v>
                  </c:pt>
                  <c:pt idx="1">
                    <c:v>CPI</c:v>
                  </c:pt>
                  <c:pt idx="2">
                    <c:v>核心CPI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0.9</c:v>
                </c:pt>
                <c:pt idx="2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5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全国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GDP
（实际）</c:v>
                  </c:pt>
                  <c:pt idx="1">
                    <c:v>社零
（名义）</c:v>
                  </c:pt>
                  <c:pt idx="2">
                    <c:v>人均可支配收入
（名义）</c:v>
                  </c:pt>
                  <c:pt idx="3">
                    <c:v>人均消费支出
（名义）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4.7</c:v>
                </c:pt>
                <c:pt idx="1">
                  <c:v>1.3</c:v>
                </c:pt>
                <c:pt idx="2">
                  <c:v>5.2</c:v>
                </c:pt>
                <c:pt idx="3">
                  <c:v>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浙江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GDP
（实际）</c:v>
                  </c:pt>
                  <c:pt idx="1">
                    <c:v>社零
（名义）</c:v>
                  </c:pt>
                  <c:pt idx="2">
                    <c:v>人均可支配收入
（名义）</c:v>
                  </c:pt>
                  <c:pt idx="3">
                    <c:v>人均消费支出
（名义）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5.7</c:v>
                </c:pt>
                <c:pt idx="1">
                  <c:v>3</c:v>
                </c:pt>
                <c:pt idx="2">
                  <c:v>5.3</c:v>
                </c:pt>
                <c:pt idx="3">
                  <c:v>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人均可支配收入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城镇居民</c:v>
                  </c:pt>
                  <c:pt idx="1">
                    <c:v>农村居民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45324</c:v>
                </c:pt>
                <c:pt idx="1">
                  <c:v>27555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人均消费支出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城镇居民</c:v>
                  </c:pt>
                  <c:pt idx="1">
                    <c:v>农村居民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26902</c:v>
                </c:pt>
                <c:pt idx="1">
                  <c:v>19273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bubble3D val="0"/>
            <c:spPr>
              <a:solidFill>
                <a:srgbClr val="870C0C"/>
              </a:solidFill>
              <a:effectLst/>
            </c:spPr>
          </c:dPt>
          <c:dPt>
            <c:idx val="2"/>
            <c:bubble3D val="0"/>
            <c:spPr>
              <a:solidFill>
                <a:srgbClr val="A87B12"/>
              </a:solidFill>
              <a:effectLst/>
            </c:spPr>
          </c:dPt>
          <c:dPt>
            <c:idx val="3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工资性收入</c:v>
                </c:pt>
                <c:pt idx="1">
                  <c:v>经营净收入</c:v>
                </c:pt>
                <c:pt idx="2">
                  <c:v>财产净收入</c:v>
                </c:pt>
                <c:pt idx="3">
                  <c:v>转移净收入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22119</c:v>
                </c:pt>
                <c:pt idx="1">
                  <c:v>7074</c:v>
                </c:pt>
                <c:pt idx="2">
                  <c:v>4792</c:v>
                </c:pt>
                <c:pt idx="3">
                  <c:v>5821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5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GDP增速（实际）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嘉兴</c:v>
                  </c:pt>
                  <c:pt idx="1">
                    <c:v>丽水</c:v>
                  </c:pt>
                  <c:pt idx="2">
                    <c:v>金华</c:v>
                  </c:pt>
                  <c:pt idx="3">
                    <c:v>宁波</c:v>
                  </c:pt>
                  <c:pt idx="4">
                    <c:v>浙江</c:v>
                  </c:pt>
                  <c:pt idx="5">
                    <c:v>全国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6.9</c:v>
                </c:pt>
                <c:pt idx="1">
                  <c:v>6.4</c:v>
                </c:pt>
                <c:pt idx="2">
                  <c:v>6.2</c:v>
                </c:pt>
                <c:pt idx="3">
                  <c:v>5.4</c:v>
                </c:pt>
                <c:pt idx="4">
                  <c:v>5.7</c:v>
                </c:pt>
                <c:pt idx="5">
                  <c:v>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社零增速（名义）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嘉兴</c:v>
                  </c:pt>
                  <c:pt idx="1">
                    <c:v>丽水</c:v>
                  </c:pt>
                  <c:pt idx="2">
                    <c:v>金华</c:v>
                  </c:pt>
                  <c:pt idx="3">
                    <c:v>宁波</c:v>
                  </c:pt>
                  <c:pt idx="4">
                    <c:v>浙江</c:v>
                  </c:pt>
                  <c:pt idx="5">
                    <c:v>全国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</c:v>
                </c:pt>
                <c:pt idx="1">
                  <c:v>1.6</c:v>
                </c:pt>
                <c:pt idx="2">
                  <c:v>3.9</c:v>
                </c:pt>
                <c:pt idx="3">
                  <c:v>3.6</c:v>
                </c:pt>
                <c:pt idx="4">
                  <c:v>3</c:v>
                </c:pt>
                <c:pt idx="5">
                  <c:v>1.3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</c:v>
                </c:pt>
              </c:strCache>
            </c:strRef>
          </c:tx>
          <c:spPr>
            <a:solidFill>
              <a:srgbClr val="870C0C"/>
            </a:solidFill>
            <a:ln w="3175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1990</c:v>
                  </c:pt>
                  <c:pt idx="1">
                    <c:v>1991</c:v>
                  </c:pt>
                  <c:pt idx="2">
                    <c:v>1992</c:v>
                  </c:pt>
                  <c:pt idx="3">
                    <c:v>1993</c:v>
                  </c:pt>
                  <c:pt idx="4">
                    <c:v>1994</c:v>
                  </c:pt>
                  <c:pt idx="5">
                    <c:v>1995</c:v>
                  </c:pt>
                  <c:pt idx="6">
                    <c:v>1996</c:v>
                  </c:pt>
                  <c:pt idx="7">
                    <c:v>1997</c:v>
                  </c:pt>
                  <c:pt idx="8">
                    <c:v>1998</c:v>
                  </c:pt>
                  <c:pt idx="9">
                    <c:v>1999</c:v>
                  </c:pt>
                  <c:pt idx="10">
                    <c:v>2000</c:v>
                  </c:pt>
                  <c:pt idx="11">
                    <c:v>2001</c:v>
                  </c:pt>
                  <c:pt idx="12">
                    <c:v>2002</c:v>
                  </c:pt>
                  <c:pt idx="13">
                    <c:v>2003</c:v>
                  </c:pt>
                  <c:pt idx="14">
                    <c:v>2004</c:v>
                  </c:pt>
                  <c:pt idx="15">
                    <c:v>2005</c:v>
                  </c:pt>
                  <c:pt idx="16">
                    <c:v>2006</c:v>
                  </c:pt>
                  <c:pt idx="17">
                    <c:v>2007</c:v>
                  </c:pt>
                  <c:pt idx="18">
                    <c:v>2008</c:v>
                  </c:pt>
                  <c:pt idx="19">
                    <c:v>2009</c:v>
                  </c:pt>
                  <c:pt idx="20">
                    <c:v>2010</c:v>
                  </c:pt>
                  <c:pt idx="21">
                    <c:v>2011</c:v>
                  </c:pt>
                  <c:pt idx="22">
                    <c:v>2012</c:v>
                  </c:pt>
                  <c:pt idx="23">
                    <c:v>2013</c:v>
                  </c:pt>
                  <c:pt idx="24">
                    <c:v>2014</c:v>
                  </c:pt>
                  <c:pt idx="25">
                    <c:v>2015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3.08</c:v>
                </c:pt>
                <c:pt idx="1">
                  <c:v>3.25</c:v>
                </c:pt>
                <c:pt idx="2">
                  <c:v>1.76</c:v>
                </c:pt>
                <c:pt idx="3">
                  <c:v>1.24</c:v>
                </c:pt>
                <c:pt idx="4">
                  <c:v>0.7</c:v>
                </c:pt>
                <c:pt idx="5">
                  <c:v>-0.13</c:v>
                </c:pt>
                <c:pt idx="6">
                  <c:v>0.14</c:v>
                </c:pt>
                <c:pt idx="7">
                  <c:v>1.75</c:v>
                </c:pt>
                <c:pt idx="8">
                  <c:v>0.66</c:v>
                </c:pt>
                <c:pt idx="9">
                  <c:v>-0.34</c:v>
                </c:pt>
                <c:pt idx="10">
                  <c:v>-0.68</c:v>
                </c:pt>
                <c:pt idx="11">
                  <c:v>-0.74</c:v>
                </c:pt>
                <c:pt idx="12">
                  <c:v>-0.92</c:v>
                </c:pt>
                <c:pt idx="13">
                  <c:v>-0.26</c:v>
                </c:pt>
                <c:pt idx="14">
                  <c:v>-0.01</c:v>
                </c:pt>
                <c:pt idx="15">
                  <c:v>-0.28</c:v>
                </c:pt>
                <c:pt idx="16">
                  <c:v>0.25</c:v>
                </c:pt>
                <c:pt idx="17">
                  <c:v>0.06</c:v>
                </c:pt>
                <c:pt idx="18">
                  <c:v>1.38</c:v>
                </c:pt>
                <c:pt idx="19">
                  <c:v>-1.35</c:v>
                </c:pt>
                <c:pt idx="20">
                  <c:v>-0.73</c:v>
                </c:pt>
                <c:pt idx="21">
                  <c:v>-0.27</c:v>
                </c:pt>
                <c:pt idx="22">
                  <c:v>-0.04</c:v>
                </c:pt>
                <c:pt idx="23">
                  <c:v>0.34</c:v>
                </c:pt>
                <c:pt idx="24">
                  <c:v>2.76</c:v>
                </c:pt>
                <c:pt idx="25">
                  <c:v>0.8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GDP平减指数</c:v>
                </c:pt>
              </c:strCache>
            </c:strRef>
          </c:tx>
          <c:spPr>
            <a:solidFill>
              <a:srgbClr val="507B9B"/>
            </a:solidFill>
            <a:ln w="31750" cap="flat">
              <a:solidFill>
                <a:srgbClr val="507B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07B9B"/>
              </a:solidFill>
              <a:ln w="9525" cap="flat">
                <a:solidFill>
                  <a:srgbClr val="507B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1990</c:v>
                  </c:pt>
                  <c:pt idx="1">
                    <c:v>1991</c:v>
                  </c:pt>
                  <c:pt idx="2">
                    <c:v>1992</c:v>
                  </c:pt>
                  <c:pt idx="3">
                    <c:v>1993</c:v>
                  </c:pt>
                  <c:pt idx="4">
                    <c:v>1994</c:v>
                  </c:pt>
                  <c:pt idx="5">
                    <c:v>1995</c:v>
                  </c:pt>
                  <c:pt idx="6">
                    <c:v>1996</c:v>
                  </c:pt>
                  <c:pt idx="7">
                    <c:v>1997</c:v>
                  </c:pt>
                  <c:pt idx="8">
                    <c:v>1998</c:v>
                  </c:pt>
                  <c:pt idx="9">
                    <c:v>1999</c:v>
                  </c:pt>
                  <c:pt idx="10">
                    <c:v>2000</c:v>
                  </c:pt>
                  <c:pt idx="11">
                    <c:v>2001</c:v>
                  </c:pt>
                  <c:pt idx="12">
                    <c:v>2002</c:v>
                  </c:pt>
                  <c:pt idx="13">
                    <c:v>2003</c:v>
                  </c:pt>
                  <c:pt idx="14">
                    <c:v>2004</c:v>
                  </c:pt>
                  <c:pt idx="15">
                    <c:v>2005</c:v>
                  </c:pt>
                  <c:pt idx="16">
                    <c:v>2006</c:v>
                  </c:pt>
                  <c:pt idx="17">
                    <c:v>2007</c:v>
                  </c:pt>
                  <c:pt idx="18">
                    <c:v>2008</c:v>
                  </c:pt>
                  <c:pt idx="19">
                    <c:v>2009</c:v>
                  </c:pt>
                  <c:pt idx="20">
                    <c:v>2010</c:v>
                  </c:pt>
                  <c:pt idx="21">
                    <c:v>2011</c:v>
                  </c:pt>
                  <c:pt idx="22">
                    <c:v>2012</c:v>
                  </c:pt>
                  <c:pt idx="23">
                    <c:v>2013</c:v>
                  </c:pt>
                  <c:pt idx="24">
                    <c:v>2014</c:v>
                  </c:pt>
                  <c:pt idx="25">
                    <c:v>2015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2.56</c:v>
                </c:pt>
                <c:pt idx="1">
                  <c:v>2.9</c:v>
                </c:pt>
                <c:pt idx="2">
                  <c:v>1.68</c:v>
                </c:pt>
                <c:pt idx="3">
                  <c:v>0.53</c:v>
                </c:pt>
                <c:pt idx="4">
                  <c:v>0.19</c:v>
                </c:pt>
                <c:pt idx="5">
                  <c:v>-0.52</c:v>
                </c:pt>
                <c:pt idx="6">
                  <c:v>-0.45</c:v>
                </c:pt>
                <c:pt idx="7">
                  <c:v>0.5</c:v>
                </c:pt>
                <c:pt idx="8">
                  <c:v>-0.03</c:v>
                </c:pt>
                <c:pt idx="9">
                  <c:v>-1.24</c:v>
                </c:pt>
                <c:pt idx="10">
                  <c:v>-1.34</c:v>
                </c:pt>
                <c:pt idx="11">
                  <c:v>-1.08</c:v>
                </c:pt>
                <c:pt idx="12">
                  <c:v>-1.39</c:v>
                </c:pt>
                <c:pt idx="13">
                  <c:v>-1.61</c:v>
                </c:pt>
                <c:pt idx="14">
                  <c:v>-1.12</c:v>
                </c:pt>
                <c:pt idx="15">
                  <c:v>-1.19</c:v>
                </c:pt>
                <c:pt idx="16">
                  <c:v>-0.86</c:v>
                </c:pt>
                <c:pt idx="17">
                  <c:v>-0.71</c:v>
                </c:pt>
                <c:pt idx="18">
                  <c:v>-0.91</c:v>
                </c:pt>
                <c:pt idx="19">
                  <c:v>-0.57</c:v>
                </c:pt>
                <c:pt idx="20">
                  <c:v>-1.88</c:v>
                </c:pt>
                <c:pt idx="21">
                  <c:v>-1.62</c:v>
                </c:pt>
                <c:pt idx="22">
                  <c:v>-0.76</c:v>
                </c:pt>
                <c:pt idx="23">
                  <c:v>-0.35</c:v>
                </c:pt>
                <c:pt idx="24">
                  <c:v>1.69</c:v>
                </c:pt>
                <c:pt idx="25">
                  <c:v>2.11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-3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【时长】0.5分钟（全课：讲授105分钟含两段视频，第48分钟休息10分钟，第115分钟结束主体，留5分钟提问）
【开场】各位领导、各位同事，大家好。我是王泽荣，在浙江财经大学经济学院做消费经济研究，今年在省局经济发展处挂职。今天的题目是“消费提振视角下的中国宏观经济形势分析”。
请大家带着一个问题听：一个家庭的一次购买选择，为什么能反映整个宏观经济的运行？今天两个小时，就从这一笔钱讲起，最后落到我们市场监管能做什么。
【备注】若前三季度数据已于讲课前发布，开场补一句：“昨天国家统计局刚发布前三季度数据……”，并按隐藏页B08更新。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【时长】0.75分钟
【讲法】六个部分，前三部分看现象：从消费的视角、外部环境到国内数据，找出消费到底弱在哪里；第四部分讲机制，用家庭、企业、政府三本账解释约束怎样形成、政策怎样起作用；第五部分落到浙江；第六部分回到我们自己——哪些消费障碍，市场监管能够在职责内改善。
第48分钟休息10分钟，第115分钟结束主体，留5分钟交流。
【衔接】先从一个熟悉的家庭消费选择讲起。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【时长】1.75分钟
【讲法】先请大家想想身边：节假日景区、高铁照样人多，但很多家庭说“装修再等等”“车先不换了”。这是矛盾吗？不是。
左边是小额、即时、可以随时调整的支出；右边是大额、要动用积蓄或背上贷款、一旦发生就很难撤回的支出。
经济学有个概念叫“等待的期权价值”：当未来不确定时，推迟一笔不可逆的大额支出，本身就有价值。所以前景越不确定，家庭越倾向“小钱照花、大钱先捂”。
【伏笔】全国数据里也能看到同样的分化：8月通讯器材零售额增长27.3%，汽车下降18.5%、家具下降7.9%（第17页展开）。
【口径】本页为虚拟教学情境，不代表全国居民调查结论。
【衔接】个人少花一笔钱，只是自己的事吗？它会影响谁的收入？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一家人在小饭馆吃了一顿饭，付了100元。这100元去了哪里？大约三成多买了食材，变成农户、批发商的收入；两成多发了工资，变成厨师、服务员家里的收入；还有房租、水电、税费，剩下的才是店主的经营所得。
每一份收入，又会变成下一轮消费。所以宏观经济不是抽象的数字，而是千万笔这样的交易首尾相接。
两点提醒：第一，营业额不等于利润；第二，把各环节的交易额加起来不是GDP——GDP算的是每个环节新创造的价值，也就是增加值，否则会重复计算。
凯恩斯讲过“节俭的悖论”：每个家庭多存一点钱，是理性的；但如果所有家庭同时收紧，别人的收入就下降，最后大家都更难。个体理性加总起来，可能是集体的困境。
【口径】金额为教学假设，不代表餐饮业实际成本结构；传导有时滞，也有库存、利润等缓冲。
【衔接】同样有需求，为什么有的交易发生、有的没有发生？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【讲法】以换一台家电为例。家里冰箱用了十几年，“想换”是需求；真正下单，要跨过四道门槛：
第一道，付得起——预算够不够，要不要分期；第二道，敢花钱——明年工作稳不稳，孩子上学、老人看病要不要先留钱；第三道，买得到——有没有合适的型号，能不能上门安装，旧机器怎么处理；第四道，信得过——标的“补贴价”是真优惠吗，坏了谁来修。
右边的分组是今天的一条暗线：前两道门槛主要由收入、就业、社保和资产决定，是宏观与民生政策的主场；后两道门槛发生在每一次交易中：“信得过”是市场监管直接履职的领域；“买得到”主要靠供给，市场监管通过标准、质量提升协同。
【口径】这是分析框架，不预设哪一道最重要；第三部分逐一用数据检验。
【衔接】讨论消费强弱之前，先把“消费”这个词在统计上量的是什么说清楚。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【讲法】我们常说的“消费”，统计上至少有几种量法，口径不同，读数也不同。
社零是卖方口径，主要是商品和餐饮，大部分服务不在里面——所以社零弱，不等于消费全面弱。今年起统计局发布了含服务的“社会消费商品和服务零售总额”，1—8月增长2.5%，比社零的1.1%高。
居民人均消费支出是买方口径，来自住户调查，包括服务，能看到家庭真实的预算安排；第五部分看浙江，主要用这个。
GDP里的最终消费，包括居民消费和政府消费，衡量的是对增长的拉动。
【口径】买房、买股票是资产交易，不计入消费；但会通过财富和现金流影响消费（第四部分）。社零含部分单位购买；本地商户销售额也不等于本地居民消费（外地游客、网购跨地区）。
【衔接】浙江家庭的收入，一部分来自本地消费，一部分来自省外和海外订单。要解释消费，先看这些收入来源面对怎样的外部环境。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【讲法】先看外部大环境。上周二（10月13日）IMF刚发布新一期《世界经济展望》，标题是“韧性承压”。今年全球增长3.1%，明年3.4%；中国今年4.5%，比7月下调0.1个百分点。
更要注意的是通胀：全球通胀从去年的4.1%升到今年的4.7%。原因是2月底爆发的中东战事推高了油价，IMF假设今年油价均值约96美元/桶，比去年上涨约41%。
贸易方面，WTO 10月8日把今年全球货物贸易量增速从3月预测的1.9%上调到3.9%，主要靠AI相关资本品。
【判断】外需没有消失，但增长更多来自AI设备和能源；能源涨价又在挤压各国居民的实际购买力。
【口径】图中均为预测值，不是实际结果；印度为财年口径。
【衔接】全球消费需求的“压舱石”在美国，先看美国家庭。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【讲法】美国是全球最大的消费市场。8月美国实际消费支出环比增长0.6%，但实际可支配收入是零增长——消费跑在收入前面，靠的是少存钱：个人储蓄率只有4.1%。
同时通胀重新抬头：PCE物价同比3.4%，核心3.0%。9月16日美联储加息25个基点，目标区间升到3.75%—4.00%，这是2023年7月以来第一次加息，原因是能源推高通胀。
【含义】美国需求还在，但储蓄缓冲薄、利率上行，持续性要打问号；对我们的出口企业来说，订单会更看价格和交期。
【口径】居民消费、政府赤字和进口需求相互联系，但没有一一对应关系；不把美国政府债务规模当成居民购买力。环比数据只说明近期变化。
【衔接】需求之外，贸易政策会直接改变同一笔订单的交易条件。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过去一年半，美国对华关税几起几落：2025年4月一度叠加到145%，5月日内瓦会谈后降到30%左右；10月底釜山会晤后休战，芬太尼关税降到10%。今年2月20日，美国最高法院裁定依据《国际紧急经济权力法》征收的关税无效，美方当天改依1974年贸易法第122条征收全球附加税，7月附加税到期后改依301条款征税；9月底休战延长到明年1月10日。
对企业来说，最难受的不是某一个税率，而是不确定性：报价、交期、要不要转移产能，都要重新算。
关税由谁缴，与成本最终由谁承担，是两个问题——要看买卖双方谁更离不开谁。
【口径】美国对华平均关税仍在约20%—35%区间（不同机构口径不同），远高于贸易摩擦前；2026年7月后改征的301条款关税税率以官方公告为准。本页为机制分析，不代表某一企业的实际情况。
【衔接】订单的变化，怎样进一步传到一个浙江家庭？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【讲法】浙江是外贸大省。今年1—8月全省进出口3.99万亿元，增长8.3%，其中出口增长8.6%，“新三样”出口增长56%。
讲一个真实案例：绍兴弗迪电池，上半年锂电池出口超过1亿元，巴西、泰国订单增长；为赶交期连续排产，海关提前审单、预约查验。
订单多了，工厂排产、加班、发奖金，员工家庭收入改善，周边的餐馆、小店生意也跟着好——这是链条的后半段。但要说清楚：报道只披露了订单和通关，没有披露工资、利润和家庭消费的变化，后半段是机制分析，不是这家企业的实测。
【讨论】全国前三季度货物进出口增长18.8%（海关总署10月14日发布），浙江1—8月是8.3%。两者时期不同，只能作量级参考；差距从哪里来，可以结合分商品数据（集成电路、能源等）再看。
【口径】个案解释机制，不代表全省；订单→收入→消费有时滞，也有库存和利润的缓冲。
【核对】案例出处：浙江在线2026年7月17日、浙江省经济信息中心2026年7月20日报道（链接见B06）。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【讲法】除了订单，还有三条价格渠道。
第一是油价。2月28日中东战事爆发，霍尔木兹海峡航运受阻，布伦特油价从战前约71美元一路涨到4月初的138美元；今年以来均价约94美元，比去年高约36%（EIA现货价，统计到10月6日；IMF全年假设为同比约+41%，口径不同）。国内成品油跟着涨：5月汽油同比上涨23.5%，单这一项就拉动CPI约0.66个百分点。开车、物流、外卖配送都更贵了，挤占家庭其他支出。
第二是利率。美联储9月加息，全球融资成本上行；借美元的外贸企业成本上升。
第三是汇率。人民币对美元中间价从去年末的7.03升到10月14日的6.72，升值约4.5%。它降低了进口能源的人民币成本，但出口企业收到的美元折成人民币变少了。
【判断】同一个外部冲击，对不同企业、不同家庭方向不同：用油多的、出口多的、借美元多的，受影响最大。
【口径】油价为EIA布伦特现货月均价，作者据日度数据计算；期货与现货今年价差较大。
【衔接】外部冲击最终要靠国内需求来承接——这就是内需和外需的关系。
【超时可压缩】前半场超时可简讲本页至30秒：只讲油价一条。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【讲法】把中国放到国际坐标里。居民消费占GDP的比重，美国约68%，英国约62%，日本、法国五成多，德国约五成，韩国接近一半，中国大约四成。
这不是说中国人不爱花钱，而是收入分配格局决定的：居民收入在国民收入中的份额偏低，企业和政府部门占比较高，加上高储蓄、高投资的发展模式。
粗算一下：按2025年GDP约140万亿元，居民消费率每提高1个百分点，就是约1.4万亿元的需求——比一年以旧换新的中央资金大得多。
外需和内需不是替代关系：出口提供收入和就业，但外部一波动，能稳住经济的只能是本国家庭的消费。2025年净出口拉动GDP 1.6个百分点，今年上半年拉动0.8个百分点——外需在托底，但不能长期靠它。
【口径】国际比较为世界银行WDI居民最终消费支出占GDP比重（最近可得年份，取整），讲前复核；出口增速不能代替净出口对GDP的贡献。
【衔接】外部环境的结论是什么？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【时长】1分钟
【讲法】小结第二部分：全球需求在、但结构变了；关税反复，规则不确定；油价、利率、汇率改变成本和预期。
这些冲击是真实的，但它们影响的是部分行业、部分家庭。今年外需总体是“托底”，不是“拖累”。所以，消费偏弱的主要原因，要回到国内去找——收入、预期、资产负债，以及交易环境。
【衔接】回到全国数据，先看消费在增长中的位置。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回到国内。灰色柱是GDP增速，红色柱是最终消费拉动GDP的百分点。2019年消费拉动3.5个百分点，2025年2.6个，今年上半年2.1个。上半年GDP增长4.7%，其中消费拉动2.1、投资1.7、净出口0.8个百分点。消费贡献率约45%，去年同期是52%。
消费仍是第一拉动力，但出力明显不如疫情前：上半年消费拉动不到一半，增长更多靠投资和净出口；这两年外需出力偏多。2025年中央经济工作会议的判断是“国内供强需弱矛盾突出”，今年7月统计局发布上半年数据时用的也是这个表述。
【口径】最终消费包括居民和政府消费；拉动百分点不是贡献率，也不是GDP占比；上半年三项拉动相加4.6，与4.7有舍入尾差。
【衔接】GDP回答总体作用。日常的商品和服务消费，还要分开看。
【进度检查点】本页应在第20分钟左右开始。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【讲法】左图是社零月度同比。去年5月6.4%是阶段高点，今年5月一度转负（-0.6%），是2022年12月以来首次负增长；8月0.4%。1—8月累计增长1.1%。
要分清几件事：一是高基数——去年以旧换新力度大，抬高了基数；二是补贴力度减弱——据今年政府工作报告，以旧换新中央资金安排2500亿元，少于去年的3000亿元（讲前核对）；三是需求前置——本来明后年才换的车和家电，提前到去年买了，今年自然回吐。汽车1—8月下降13.9%，扣除汽车，社零增长2.7%。
剔除基数看两年平均增速：一季度约3.5%，7—8月约2%——基数解释了一部分，但动能确实在减弱。
【口径】1—2月合并发布，不是单月；社零为名义值，不覆盖全部服务消费；同比受基数影响，不据单月推断全年。
【衔接】金额的变化，还要结合价格看。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【讲法】价格是今年最大的变化之一。PPI连续下降41个月后，今年3月转正，9月已经涨到5.0%；CPI从去年的零附近回到今年9月的0.9%。
但要看清是谁在涨：PPI上涨主要由石油、煤炭、有色、化工链带动，带有明显的输入型、成本型特征；核心CPI只有1.0%，需求端并不热。9月食品价格下降1.7%，猪肉降10.0%、鲜菜降8.1%。家庭的感受是“吃的便宜了，开车、用的东西贵了”。
还有一个变化：据机构测算，GDP平减指数今年二季度转正，此前连续十多个季度为负。名义增速重新跑赢实际增速，对企业营收和财政收入是好事，但要防止成本上涨挤压中下游利润（第38页）。
【口径】不能用总体CPI机械平减社零；二者统计对象和权重不同。2026年CPI以2025年为基期。
【衔接】总量背后，不同消费类别的方向并不一样。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8月限额以上单位的分类数据：通讯器材增长27.3%，可能有新机型和存储芯片涨价的因素；烟酒、化妆品、药品也在增长。另一头，汽车下降18.5%，金银珠宝下降17.5%（可能与金价高企有关），建材下降11.8%、家具下降7.9%——这些和住房调整直接相关。
1—8月，服务零售增长4.9%，快于商品零售的1.0%；餐饮收入增长2.4%，但限额以上餐饮8月下降0.7%。
分化有三个来源，不能只用一个原因解释：一是补贴节奏，汽车是去年补贴集中释放后的回吐，数码产品仍在补贴范围内；二是住房调整，拖累家具、建材；三是收入预期，大额支出更谨慎。还要看到，消费偏弱是普遍的：上半年居民教育文化娱乐支出增速从去年同期的11.8%降到4.9%，服务也在放缓。
【口径】分类为限额以上单位；服务零售与餐饮有交叉，不能相加；增速高不等于贡献大。
【衔接】这是卖方的数据。家庭自己的账本是什么样？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看家庭自己的账本——住户调查。左图是平均消费倾向，也就是每100元可支配收入里花掉多少：2019年70.1元，2020年掉到65.9元，之后在66.5—68.6元之间波动，没有回到疫情前。今年上半年收入名义增长5.2%，消费增长3.7%，消费慢于收入；上半年消费倾向64.6%，低于去年同期的65.5%。
右图是服务性消费占比，已回到46%左右，说明支出结构在向服务转移。但上半年教育文化娱乐支出增速从去年同期的11.8%降到4.9%，交通通信从8.4%降到4.7%。
粗算一下这个差距的分量：按2025年人均可支配收入43377元、约14亿人计算，消费倾向每回升1个百分点，大约对应6000亿元居民消费。
【口径】平均消费倾向不是边际消费倾向；上半年数据有季节性，只与上年同期比较。
【衔接】支出从哪里来？首先要看收入，以及收入在不同人之间的分布。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【讲法】平均数会“被拉高”。上半年全国居民人均可支配收入22981元，中位数19036元，只有平均数的83%——一半以上的人达不到平均数。中位数名义增长4.7%，也低于平均数的5.2%。
右图对比收入和GDP的实际增速。2019年以来大体同步，但今年上半年居民收入实际增长4.2%，低于GDP的4.7%。上半年财产净收入只增长1.1%，资产端没有给家庭“加分”。农村居民收入增长6.4%，快于城镇的4.4%。
所以“数据在增长、感觉没增长”有它的道理：多数家庭的感受，取决于中位数，和自己那份收入稳不稳。
【口径】中位数增速为名义值；均值与中位数之差不能直接换算不平等程度；住户调查季度数据不含自产自用部分。
【衔接】收入稳不稳，首先取决于工作稳不稳。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全国城镇调查失业率今年在5.0%—5.4%之间，8月5.3%，基本平稳。但分年龄看，16—24岁（不含在校生）8月是18.9%，毕业季季节性冲高，和去年同期持平；25—29岁7.5%，3月一度到7.7%，是这个口径发布以来的最高；30—59岁主力人群3.9%，比较稳定。
今年高校毕业生1270万人，比去年多48万。2025年农民工月均收入5075元，只增长2.3%。
失业率看的是“有没有工作”，消费更看“收入稳不稳”：工时、奖金、订单型收入的波动，会先压缩大额、长期的支出。
【口径】青年失业率为不含在校生口径；8月含毕业季季节因素，与上年同月比较；统计口径调整前后不直接拼接。
【衔接】对未来的担心，能不能在家庭的花钱意愿里看到？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一个很应景的例子：10月12日，2026年诺贝尔经济学奖授予斯坦福大学的罗伯特·霍尔和哥伦比亚大学的迈克尔·伍德福德，表彰他们为宏观经济稳定奠定了微观基础。霍尔1978年的经典发现是：如果家庭按长期收入安排消费，消费就只会对“关于未来收入的新消息”作出反应，可预期的、临时的变化大多被平滑掉。所以，一次性的奖金、消费券，宽裕的家庭多半存起来；但手头紧的家庭会花掉较多——发给谁很关键。真正改变换房、换车这类大额决策的，是稳定的工作和可预期的保障。伍德福德研究的则是预期怎样被政策引导。
用到今天：消费倾向没有回到疫情前（第18页），贷款净减少（第22页），这些都是“行为”上的谨慎。
提醒一句：“信心不足”不能当作解释一切的万能答案，它需要证据。官方连续的消费者信心调查可得性有限，这里主要用行为数据来判断。
【衔接】存款和贷款这两个信号，具体看一看。
【超时可压缩】前半场超时可简讲本页至30秒：只讲诺奖一句和“长期收入”。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【讲法】左图是住户存款每年的增加额：2019年不到10万亿元，2022年跳到17.8万亿元，之后每年都在14万亿元以上。今年前三季度又增加了9.39万亿元（与上年同期相比是多增还是少增，讲前对照人民银行原文）。
更值得注意的是贷款：今年1—8月住户贷款净减少1.03万亿元——借的比还的少，而去年1—8月还是增加7110亿元；到9月末，前三季度累计仍是减少1.03万亿元。
存款增加不等于“有钱不花”：里面有预防性储蓄，也有理财赎回、资产“搬家”。但贷款净减少是一个更干净的信号：家庭借钱的意愿明显偏弱，不愿意为未来的消费和购房借钱。
【口径】存款增量不是储蓄率；存贷款增量相减不能称为“居民净储蓄”；贷款减少不能单独证明提前还贷。
【衔接】家庭最大的一笔资产和负债，都和房子有关。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【讲法】新建商品房销售面积2021年接近18亿平方米，2025年降到8.8亿平方米，不到高点的一半；今年1—8月又下降12.1%。二手房成交在增长，1—8月网签面积增长10.6%——交易在从新房向二手房转移。
价格方面，看浙江的三个70城样本城市：8月杭州新房同比上涨2.2%，二手房下降3.5%；宁波新房降0.8%、二手房降2.7%；温州新房降3.8%、二手房降5.3%。同一城市，新房和二手房走势也不一样。
房子是中国家庭最大的资产。房价预期不稳，影响的不只是开发商：家庭的“财富感”、换房链条、装修家居家电，都会受影响（机制见第34页）。
【口径】销售面积为商品房；房价为70城住宅价格指数，上年同月=100；三市不代表全省；不能用销售额除以面积冒充同质房价。
【核对】2026年1—8月数据讲前对照统计局、住建部原文。
【衔接】另一类资产——股票——变化如何？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【讲法】沪深300指数：2021—2023年连跌三年，2022年跌了21.6%；2024、2025年分别上涨14.7%和17.7%；今年前三季度回调5.9%。
股市涨了，消费会不会跟着涨？先看两个事实：一是波动大，二是覆盖窄——持股集中在部分家庭，多数家庭的资产以住房和存款为主。股市怎样影响消费，第35页展开。
【口径】价格指数，不含分红再投资；2026年为1—9月，非全年；指数涨跌不等于居民实际收益，本页不预测行情、不作投资建议。
【衔接】家庭能花多少钱，还要看债务和融资成本。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按用途看二季度末的住户贷款：个人住房贷款36.29万亿元，同比下降3.8%，上半年减少7163亿元；不含住房的消费贷款20.83万亿元，下降1.7%；只有住户经营性贷款在增长，2.8%。住户贷款合计82.91万亿元，下降1.3%。
与此同时，新发放的房贷利率约3.1%，处在历史低位。利率这么低，贷款还在收缩，说明约束主要不在“借不到”，而在“不想借、不敢借”——背后是收入预期和房价预期。
住户经营性贷款在增长，和浙江关系很大：大量个体户、小微经营者的经营资金，是以家庭名义借的。
【口径】个人住房贷款为人民币口径，其余两项为本外币口径；期限分类不等于用途分类；余额下降不能单独证明提前还贷。
【衔接】同样的收入和债务变化，对不同家庭影响不同——人口结构也在改变需求。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【讲法】60岁及以上人口占比，从2020年的18.7%升到2025年末的23.0%，年均上升近0.9个百分点。
人口结构改变的，首先是“买什么”：老年家庭需要照护、康复、助餐、适老化改造；有孩子的家庭需要托育、教育；小家庭、独居增多，家政、维修、外卖这类“替代家务”的服务需求上升。
老年人的消费倾向并不一定低，但他们对“风险”更敏感：看病、养老的钱要先留着。保障越不确定，越要多存。
【口径】人口规模只能提示需求方向，不能直接乘一个价格就当成市场规模；年龄结构不是当期消费变化的全部原因。
【衔接】有需求、有支付能力，交易为什么还是没发生？
【超时可压缩】前半场超时可简讲本页至30秒：只讲“买什么在变”。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设想一个家庭，想为行动不便的老人买上门照护服务，也付得起。他们会问：附近有没有靠谱的机构？临时缺人怎么办？收费包括哪些项目，会不会临时加价？服务质量怎么核实？办了预付卡，机构关门了钱能不能退？任何一个问题答不上来，交易就可能不发生。
右边是衢州2025年度消费维权的几个真实案例：口腔种植用的基台品牌和约定不符；美容祛痘套餐，调解中认定商家承诺的效果属于合同内容，退还1.15万元；保健品“会议营销”，为老年人追回10余万元；平台下单的家政服务纠纷，全额退还600元。
这些都是“信得过”这道门槛上的问题——恰恰是市场监管的着力点。
【口径】左侧为虚拟教学场景；投诉只提示问题，不能据此推算全体消费者的顾虑比例。
【衔接】把第三部分的证据归纳一下。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【讲法】把第三部分归纳成一张表。
“付得起”：收入增速放缓，中位数低于平均数，青年就业有压力——证据较强。
“敢花钱”：消费倾向没回到疫情前，存款持续增加、贷款净减少，房价还在调整——几组行为数据方向一致，证据较强。
“买得到”：服务消费快于商品，照护、托育等供给有缺口——只有结构数据和案例，属于间接证据。
“信得过”：预付式、价格、质量投诉高发——投诉能提示问题，但不能代表全体，也是间接证据，需要本地调查验证。
我的判断：宏观上，收入与预期是首要约束；在我们的职责上，交易信任是能直接改善的那一块。两者不矛盾：信任改善，会让同样的收入更愿意花出去。
【口径】仅归纳本部分证据；“证据强度”指证据的直接程度，不是各因素的贡献权重。
【衔接】有房、有存款的家庭，为什么还推迟支出？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【讲法】最后留一个问题。一个家庭：房子市值300万元，存款30万元，房贷还欠105万元，算下来净资产225万元。看起来家底不薄。这个家庭想换一辆20万元的车，却一直在犹豫。为什么？
请大家默想：要判断这个家庭“现在敢花多少钱”，还需要知道什么？——每个月收入多少、稳不稳；每个月要还多少；未来几年有哪些必须花的大钱。
休息之后，我们就把这几样放进同一本账里。
【口径】虚拟教学假设，不采集学员个人财产信息，不邀请披露真实家庭账。
【衔接】下半场：三本账。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【时长】10分钟（第48—58分钟）
【安排】休息时间不放视频、不加新内容。返回后先用一句话回顾：“上半场我们看到，消费弱在大额、长期的支出上，约束集中在收入、预期和交易信任。”
【可选】休息时可以随口问一句：“3·15为什么是3月15日？”——1962年3月15日，美国总统肯尼迪提出消费者的四项权利。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【讲法】下半场先讲方法。三本账，指家庭、企业、政府三个主体的账；每本账都要看三个维度：
一是家底，资产负债，某一时点有多少、欠多少；二是收支，一段时间里挣多少、花多少；三是现金，钱什么时候到、什么时候要付出去。
三个维度不能互相替代：资产减负债是净资产，不是可支配收入；有家底，不等于有现金；企业有利润，也不等于有现金。上半场那个“有房有存款却不敢换车”的家庭，问题就出在收支和现金这两个维度上。
【口径】“三本账”是分析视角，不是要求市场监管部门另行采集家庭或企业的财务报表。
【衔接】先把那个家庭的月度现金账列出来。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还是上半场那个家庭。每月到账18000元：工资14000元，加上家里小店提取4000元。先付日常生活8500元，再扣房贷月供4500元（按105万元、30年、利率约3.1%等额本息测算，月供约4480元），再转3000元到备用金——给孩子上学、老人看病、小店周转留的。最后剩下可以灵活安排的，只有2000元。
换车、装修、旅行，都要从这2000元里出，或者动用那30万元存款。而那30万元，家里多半早有安排：应急、教育、小店周转。
【口径】到账金额不是统计意义上的可支配收入；备用金不是当期消费；2000元月结余不是消费能力上限，只描述这个家庭当前的预算选择。教学假设，不代表任何群体的平均情况。
【衔接】如果收入不变，只改一个条件，会怎样？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【讲法】收入还是18000元，一次只改一个条件。
情景B：月供从4500元涨到6500元——比如家里新借了一笔装修贷或经营周转贷。可灵活支出从2000元变成0。
情景C：月供不变，但家里对收入的担心变大了——小店生意不稳、单位传出要降薪——于是每月多存2000元备用金。可灵活支出同样变成0。
两种情况，收入一分没少，但换车的计划都搁置了。前者是“偿债压力”，后者是“预防性储蓄”——两者挤占的是同一块钱。这也解释了为什么只看收入数据，看不出消费为什么弱。
【口径】教学反事实算例；本金偿还是现金流出，不列为消费支出；借款也不列为收入。
【衔接】房价的变化，通过哪些渠道进到家庭账里？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【讲法】房价下跌对消费的影响，要按家庭处境分开看。
已有住房、暂不交易的家庭：没有现金损失，但“财富感”下降，花钱会更谨慎。
计划买房、换房的家庭：房价跌，门槛其实降低了；但如果预期还会跌，就会继续观望——装修、家具、家电这条链也跟着停下来。
有按揭、继续居住的家庭：每月还多少和房价没有直接关系，取决于利率、期限和收入。
第四类在浙江特别重要：个体户、小微经营者用房子抵押借经营贷。房价下跌，抵押品值钱少了，可贷额度下降，经营收缩，家庭收入跟着下降。前面看到住户经营性贷款还在增长，说明这条渠道的分量不小。
【口径】账面价值变化不能机械换算为当期消费增减；本页不重复展示房价数据（见第23页）。
【衔接】股票财富的传导，和住房又不一样。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【讲法】股市涨了，消费就会涨吗？要过三关。
第一关，持有：没有股票的家庭，不会直接受益；持股越集中，财富效应覆盖的家庭越少。
第二关，可支配：账面盈利不等于已经实现的收益，更不等于可以随时动用的现金；很多人会把收益继续留在市场里。
第三关，可持续：家庭只有相信收益能持续，才会增加长期支出。前两年涨、今年回调，这种起伏会让家庭更谨慎。
所以研究上，股票财富的消费效应普遍小于收入的效应，而且集中在中高收入家庭。
【口径】机制分析，不预测市场涨跌，不提供投资建议；不把历史估计弹性直接套用为当前影响。
【衔接】资产之外，利率也会改变家庭的现金安排。
【超时可压缩】后半场超时可简讲本页至30秒：只讲三关的名字。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【时长】1分钟
【讲法】降息对谁有利？对负债家庭，月供可能减少——前提是贷款利率重新定价；对储蓄家庭，利息收入减少，特别是依靠利息补贴生活的老年家庭，反而可能更谨慎。
降息实际上是把利息收入从储蓄者转给借款者。借款者通常手头更紧、花钱的倾向更高，所以总效应取决于两类家庭花钱倾向之差；中国居民部门总体是净储蓄者，利息收入减少的抵消作用不能忽视。利率是一个“分配”工具，不是对所有家庭都一样的“刺激”。
另外，贷款只是把未来的钱挪到今天花，最终要靠未来收入偿还——收入预期不改善，低利率也很难让家庭多借。
【口径】方向性机制分析，不把新发放贷款利率当作所有存量贷款利率。
【衔接】家庭经营收入的另一端，是企业和小店的经营账。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【讲法】回到那个家庭开的小店。这个月卖出去10万元，成本费用9万元，账面利润1万元。但客户只付了8万元，2万元还欠着；9万元成本当月都付出去了。结果是：有利润，现金却少了1万元。
这时候，家里每月从小店提的那4000元就提不出来了：家庭到账从18000元降到14000元，扣掉日常生活8500元、房贷4500元、备用金3000元，灵活支出变成负2000元——只能停存备用金，或者动用存款。企业账上的“回款难”，就这样变成了家庭账上的“现金紧”。
回款难还会沿链条传递：大企业拖中小企业，中小企业就可能拖供应商、压员工工资和奖金。2025年修订的《反不正当竞争法》对大型企业滥用优势地位拖欠中小企业账款作了规定；清欠是跨部门工作，市场监管依职责配合。
【口径】教学假设，与第32页为同一家庭；忽略税费。法条条号和执法主体讲前核对（见B06）。
【衔接】经营变化怎样放大到利润和工资？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为什么生意稍微差一点，老板就叫苦？因为固定成本。一家店月收入10万元，变动成本6万元，房租、人工等固定成本3万元，利润1万元。销量下降10%：收入9万元，变动成本5.4万元，固定成本还是3万元——利润只剩0.6万元，下降40%。
今年还多了一道“剪刀”：9月PPI上涨5.0%，CPI只涨0.9%、核心CPI 1.0%——上游原材料、能源涨价快，终端价格涨得慢，中下游企业的成本压力上升（利润是否被挤压，要看统计局分行业利润数据）。如果再叠加“内卷式”的价格战，利润会更薄。
利润压缩之后，企业首先调整的是工时、奖金和经营所得，然后才是岗位——这正是前面看到的“收入稳不稳”。所以，治理“内卷式”竞争、维护公平竞争，也是在稳家庭收入。
【口径】教学测算，售价和单位变动成本不变；不推断所有企业都会降薪或裁员。
【衔接】政府账，看财力与支出。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【讲法】今年1—8月，全国一般公共预算收入15.66万亿元，增长5.7%，其中税收增长6.6%——和名义增速回升有关；一般公共预算支出18.15万亿元，只增长1.2%，地方支出只增长0.3%。
另一本预算——政府性基金——压力更大：国有土地使用权出让收入1.38万亿元，下降28.6%；政府性基金收入下降19%。土地收入曾是地方财力的重要来源，它的下降直接压缩了地方的可用财力。
地方要先保工资、保运转、保基本民生，能用于发展和促消费的空间有限。
【口径】一般公共预算与政府性基金预算分开列示，不能混加；累计收支差不等于年度赤字。
【衔接】财力紧，能不能举债？举债的钱怎样影响消费？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【讲法】政府和家庭不一样：它可以在经济偏弱时多借，在经济好时多还，用跨期安排平滑波动——这是宏观调控的正常工具。但借的钱要靠未来的收入和增长偿还，利息和到期本金会占用未来财力。
评价举债能不能促消费，关键看钱花在哪里：用于基建的钱，要经过工程、订单、就业，才间接影响消费，时滞长；用于民生、社保、转移支付的钱，更直接地进入家庭预算。所以，发债的规模，并不等于新增的消费。
【口径】政府履行公共职能并承担跨期责任，不能简单类比为“借消费贷的家庭”；本页不对任何地方的债务风险作评价。
【衔接】财政支出具体通过哪些渠道影响家庭消费？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【讲法】财政的钱进入家庭，有三条路。
第一条，现金支持：比如育儿补贴，3岁以下婴幼儿每孩每年3600元；提高城乡居民基础养老金。见效快，直接增加可支配收入。
第二条，公共服务和社会保障：逐步推行免费学前教育、提高医保和养老服务保障。它降低的是“未来负担”——第21页讲的，消费跟着长期预期走，所以这条路的作用最持久。
第三条，采购、建设和清理拖欠：先到企业，再经过订单、回款、工资传到家庭，时滞最长。
【口径】转移支付本身不作为最终消费重复计入GDP；一般公共预算支出不等于GDP中的政府消费。基础养老金等具体标准以当年官方文件为准。
【衔接】还有一类政策直接作用于购买：消费补贴。先看一段视频。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【时长】3分钟（导入约15秒＋视频2分12秒＋收束约33秒）
【导入】请大家带一个问题看：补贴之外，拆旧、配送、安装、售后，怎样影响一个家庭买不买？
【收束】价格激励和交易便利共同决定政策能否落地：补贴降低购置成本，上门拆旧、安装和售后减少交易顾虑。但要注意，“带动销售额”不等于“新增消费”——下一页讲。
【播放】央视《新闻联播》2026年5月16日《以旧换新 持续激发消费活力》，需联网和音响；无网络时用本页要点讲解。
https://tv.cctv.com/2026/05/16/VIDE9cPItSCzQ7Cjln6L4yZj260516.shtml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回到第5页的四道门槛：购买补贴主要降低“付得起”的门槛，见效快，但要分清新增需求、提前购买和渠道替代；收入和就业支持作用于“付得起”和“敢花钱”；公共服务和社保作用于“敢花钱”，慢而持久；交易环境改善主要作用于“信得过”，也协同“买得到”——这是我们的主场。
右边一个问题，也是我自己研究的题目：一台空调补贴600元，钱落进了谁的口袋？如果商家借机把售价抬高300元，消费者实际只得到300元。这叫“补贴归宿”，取决于供求弹性：供给越紧、越难扩产，商家分走得越多；需求越刚性，消费者得到的越多。这本身是市场规律，不违法。
但如果商家虚构原价、先提价后打折，就是价格欺诈。《明码标价和禁止价格欺诈规定》第十六条要求被比较价格真实，未标明的不得高于前七日内最低成交价；第十七条禁止折价前临时显著提高标价作为折扣基准；第十九条第三项列明“虚假折价、减价或者价格比较”属于价格欺诈。补贴期间，这是监管必须盯住的。
【本地例子】衢州是有奖发票试点城市，单张满100元可抽奖；截至5月6日累计参与250万人次——这也是一种购买激励，同样要看净增量。
【衔接】三本账怎样联动？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【时长】1分钟
【讲法】把三本账连起来：企业给家庭发工资、分经营所得，家庭花钱成为企业的收入；家庭和企业向政府缴税，政府通过转移支付、公共服务、采购和清欠，再回到家庭和企业。
所以，消费偏弱不是一句“信心不足”能概括的：它是家庭现金流、企业利润和政府财力相互传导的结果。任何一本账出问题，都会传到另外两本。
【口径】局部传导示意，不是封闭的会计恒等式；金融机构和外部部门同样参与。
【衔接】同样的机制，在不同地方分量不同。下面把这套分析放到浙江。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【讲法】把分析放到浙江。今年上半年，浙江GDP增长5.7%，比全国高1.0个百分点；社零增长3.0%，比全国高1.7个百分点；居民人均消费支出增长4.9%，比全国快1.2个百分点，增速居全国第7位。
水平上，浙江居民人均可支配收入39807元，是全国的1.73倍；城乡收入比1.64，全国是2.37。浙江的消费“底子”厚。
也要看到：社零增速从一季度的4.0%降到上半年的3.0%，动能在放缓。浙江的平均消费倾向61.6%，低于全国的64.6%——收入越高，花钱的比例通常越低，这是普遍规律，单凭这一点不能说明潜力大小；要判断潜力，还要和收入相近的省市、和浙江自己的往年比。
【口径】全国与浙江用同一个上半年；水平与增速分开看；平均消费倾向为作者计算，不是边际消费倾向。
【衔接】全省平均之下，城乡之间差别有多大？
【进度检查点】本页应在第83分钟左右开始。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【讲法】浙江城镇居民上半年人均可支配收入45324元，消费26902元；农村居民收入27555元，比城镇低约四成，消费19273元。
算一下花钱的比例：城镇约59%，农村约70%。农村居民收入增长6.0%，快于城镇的4.7%；消费增长5.8%，也快于城镇的4.3%。
含义是：增收政策向农村和中低收入群体倾斜，同样一块钱，更可能变成消费。这里的70%是平均消费倾向，不是边际消费倾向；但大量经济学研究发现，收入较低、流动性约束较紧的家庭，边际消费倾向确实更高。这对各市县设计促消费政策很有参考价值——钱发给谁，和发多少同样重要。
【口径】消费支出与收入之比为平均消费倾向，不是边际消费倾向；用住户调查数据，不用当地社零代替本地居民消费。
【衔接】浙江家庭的收入从哪里来？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【讲法】浙江居民上半年人均可支配收入39807元，其中工资性收入22119元，占55.6%；经营净收入7074元，占17.8%；财产净收入4792元，占12.0%；转移净收入5821元，占14.6%。
经营和财产两项合计接近三成。经营净收入——个体户、网店、民宿、来料加工、特色养殖……很多浙江家庭的收入直接随经营景气波动；财产净收入——房租、利息、分红，受房价和利率影响，按往年数据看，这一块的占比明显高于全国（全国约8%左右，讲前用同期数据核对）。省里上半年发布会介绍过：一般生猪养殖户有亏损，部分特色养殖户情况较好，蛋禽养殖受二季度价格回升支持——同样是经营收入，冷暖不同。
这对我们很有意义：稳经营主体，就是稳家庭收入。登记便利、信用修复、规范涉企检查、治理拖欠和内卷，都是“间接的促消费”。
【口径】分项舍入后与总额差1元；主体登记数量不能直接代表经营活跃度或收入。
【衔接】不同家庭的需求，形成了哪些服务消费的机会？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【讲法】两个场景。
第一个是养老照护。金华今年1月的报道：符合条件的失能老人，可以获得居家社区养老服务的抵扣支持。补贴解决了“可负担”；但还要有合适的护理人员（可到达），服务要稳定、不随意涨价、预付的钱有保障（可持续）。
第二个是县域休闲。衢州去年办了136场促消费活动，发放消费券1.4亿元；“观《南孔》大戏，游名城衢州”，凭巡演地身份证可免费游衢州14个景区。来访理由有了，能不能留下来消费、下次还来，要看停车、餐饮、住宿是否方便，价格是否透明，服务是否兑现。
【口径】政策适用有条件，不能推定所有老人都能获得同等待遇；需求场景分析不是市场规模测算；衢州数据来自市政协公开材料。
【核对】金华案例出处：浙江省经济信息中心2026年1月29日转载（链接见B06）。
【衔接】数字平台和品质供给，会怎样改变需求实现的方式？
【超时可压缩】后半场超时可简讲本页至30秒：只讲三个条件。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【讲法】浙江上半年限额以上单位通过公共网络实现的零售额增长18.1%；全国1—8月网上商品零售额增长4.3%，占社零约四分之一。
线上增长快，要分清两件事：一部分是新增需求，一部分是从线下转移过来的——后者对全社会消费总量没有增加。
线上交易更依赖“信得过”：参数和宣传能不能核实，直播间说的和收到的是否一致，配送、安装、退换和维修是否兑现。低标价也不等于用起来便宜。
一个典型案例：今年4月17日，市场监管总局对7家电商平台的“幽灵外卖”系列案作出处罚，罚没款合计35.97亿元；据报道查实“幽灵店铺”6.7万余家。平台规则透明、商家信息真实，是线上增量变成真增量的前提。
【口径】限上口径不等于全省全部网络交易；平台成交额不能直接替代全省消费；正常低价不等于违法竞争。
【衔接】接下来看杭州文旅：内容和体验怎样促成交易。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【时长】3分钟（视频1分56秒，导入和收束约64秒）
【导入】请大家带一个问题看：游客愿意为哪些体验掏钱？
【收束】地方文化提供了“来的理由”，餐饮、演艺、文创承接了支出。但有了客流，不等于有了等量的消费——下一页把“来过”到“再来”拆开看。
【播放】央视《消费主张》2026年8月18日《白蛇主题IP赋能 杭州文旅迎新风口》，需联网和音响；无网络时用本页要点讲解。
https://tv.cctv.com/2026/08/18/VIDEPUoUa2rJol0pvLC9NRw6260818.shtml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【时长】2.5分钟
【讲法】沿着刚才的杭州案例，把一次文旅消费拆开：
来访——靠内容吸引和交通；停留——靠停车、餐饮、开放时间；付费——靠可选择的服务和看得懂的价格；跨商户消费——靠街区运营、联票；再次来访——靠这一次的体验，包括出了问题能不能顺利处理、退款。
到访人数不等于消费人数，热度也不等于商户收益。每往前走一关，都有人流失。红色标出的几项——明码标价、服务兑现、投诉和退款体验——是市场监管直接管得着的。
【口径】机制分析；未测算成交和复购的转化率；人次与人数、监测商户与全市场要区分。
【衔接】这样的观察，怎样用到不同市县，而不机械复制？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【时长】2.5分钟
【讲法】比较各市，先要同口径。图中是几个已公开上半年数据的城市：嘉兴GDP增长6.9%，社零增长8.2%；丽水GDP增长6.4%，社零只增长1.6%；金华GDP 6.2%、社零3.9%；宁波GDP 5.4%、社零3.6%。生产增速相近，消费增速可以差好几倍。
再看杭州：1—8月社零增长0.6%，扣除汽车增长5.2%——一个品类就能改变一个城市的读数。
所以比较消费要看四件事：居民收入和支出（住户调查）、收入从哪里来、人口流动和外来客群、本地交易环境。不编综合排名，不给城市贴标签，缺数就留空。
【互动】在座各市的同志，欢迎会后把本市同口径数据补给我们，备查页B03已列出资料清单。
【核对】各市数据据各市统计部门发布及媒体报道整理，讲前请与各市核对；衢州、湖州、舟山、台州等市上半年同口径数据待补。
【衔接】对本地而言，最值得优先改善的消费障碍是什么？
【超时可压缩】后半场超时可简讲本页至30秒：只讲“生产快不等于消费快”。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【讲法】把浙江的观察归成三类问题。
收入与风险：浙江收入高、城乡差距小，但消费倾向偏低、经营收入波动大——主要靠增收、社保、稳就业，市场监管通过稳经营主体间接出力。
供给适配：养老、托育、县域服务供给不足，文旅热度高但承接能力参差——主要靠服务业发展和标准建设，市场监管在标准、认证、质量提升上协同。
交易信任：预付式消费、价格、计量、网络交易的问题——这是市场监管直接履职的领域，见效也相对快。
【口径】只调用本部分证据；标清已确认问题和待调查问题，不以消费热点代替全省判断。
【衔接】最后一部分，聚焦市场监管能够依法改善的交易障碍。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【讲法】市场监管局管这么多事，内在逻辑是什么？一句话：市场失灵在哪里，监管职能就设在哪里。
第一类失灵是信息不对称：消费者看不清质量、核不准数量、辨不清广告——所以有标准、计量、认证认可、检验检测、广告监管。第二类是市场势力和不正当竞争：垄断协议、平台强制低价、仿冒混淆——所以有反垄断、反不正当竞争、公平竞争审查。第三类是交易成本和履约风险：价格欺诈、霸王条款、预付卡跑路——所以有价格监管、合同格式条款治理、12315消费维权。第四类是安全外部性：食品、特种设备一旦出事，代价由社会承担——所以有安全监管。
这四类主要对应“信得过”这道门槛，也通过标准和质量提升协同“买得到”。
还有一点越来越重要：消费正在转向服务，而服务多是“信任品”——买之前看不见，买之后也难评判，还常常要预付。消费越往服务走，交易信任就越重要。
边界也要讲清：我们分直接履职、跨部门协同（如预付式消费、养老托育、文旅）、信息反馈（用投诉数据服务政策研判）三个层次；不直接调控收入、社保、房价和家庭资产配置，也不采集家庭财产信息。
【衔接】沿着一次真实的交易，看信任在哪里流失。
【进度检查点】本页应在第103分钟左右开始；本部分不压缩。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【讲法】这是最高人民法院2025年3月公布的一个预付式消费典型案例，案情发生在2023年。消费者花2000元办了健身卡，约定50次，商家另赠10次；用了12次之后，经营者停止营业。消费者起诉要求退款。
一张卡把交易的三个环节都暴露出来：购买时，消费者买的是“未来的服务”，价格、条款、经营者靠不靠谱都要判断；履约中，承诺能不能兑现；停业后，钱怎么退、找谁退。
预付式消费的风险在于“先付钱、后履约”：期限越长、金额越大，风险越集中在消费者一侧。
【口径】只用最高法公开的案情，不添加“低价体验诱导”等未披露情节；个案不代表所有预付式消费。
【衔接】同一个案例，退款怎么算、谁来管？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【时长】2.5分钟
【讲法】法院怎么算的？本案是经营者违约停业导致合同解除，赠送的10次也按原优惠方案计入，总共60次；用了12次，剩48次。退款＝2000×48÷60＝1600元。
要注意：这个算法适用于本案的情形——经营者违约。消费者自己要退卡、计时年卡等情形，要分别判断，不能把一则判决推成通用公式。
三种机制各司其职：法院处理民事争议，判决退款；市场监管部门处理投诉——调解以双方自愿为前提——并查处违法行为，比如不公平格式条款、虚假宣传、价格违法；行业主管部门和地方，负责行业管理和预付资金监管。
市场监管自己的抓手在哪里？2024年7月1日施行的《消费者权益保护法实施条例》对预付式经营者提出了明确要求：要订立书面合同，约定内容、价款、退款方式和违约责任；要按约提供，不得降低质量、任意加价；出现重大经营风险、可能影响履约时，应当停止收取预付款；决定停业或迁址的，应当提前告知消费者。这些是我们督促、检查和处理投诉时的依据（具体条号讲前核对）。
浙江在推进地方立法：《浙江省单用途预付消费卡管理条例（草案）》今年3—4月公开征求意见；省“十五五”市场监管现代化规划提出推进预付资金监管市场化、“信用＋预付式消费”。
今年4月15日起施行的《市场监督管理投诉举报处理办法》（总局令第121号），对调解、不予受理和平台内经营者投诉的处理部门作了新规定。
【口径】调解不能等同司法裁判；不能由一则判决推出普遍的行政强制退款权限。
【衔接】信任还来自消费者能否核实质量和数量。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【时长】1分钟
【讲法】一个衢州本地的例子：2025年度衢州消费维权典型案例里，衢江区查实一家黄金回收店的电子秤被非法改装——俗称“鬼秤”，属于不合格计量器具。消费者凭肉眼根本无法判断克数，只能靠准确的计量器具和可用的公平秤。
这就是市场监管促消费最基础的功能：计量让数量可核验，标准让质量可比较，认证和检验检测让质量可识别，召回和追责让承诺可兑现。可信的信息，降低了每一次交易的“验货成本”。
【口径】消费争议调解与违法查处程序不同；认证、检测有适用范围，不是无限担保；个案不能直接推算消费增量。
【衔接】怎样判断治理有没有改善消费体验？看投诉数据——但要会看。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【讲法】2025年，全国市场监管部门受理消费投诉举报2600多万件，挽回经济损失43.5亿元。衢州2025年受理消费投诉举报22681件，同比下降9.74%，是近五年来首次下降。
投诉数据怎么看？它是“体温计”，不是“成绩单”。能看问题结构——哪类问题突出；能看重复发生——同一场景是否反复；能看处理过程——多久解决、当事人是否满意。但投诉不等于违法认定；投诉少不一定是环境好，也可能是不愿投、不会投；没有可靠的交易量做分母，不能算“投诉率”。
新的《投诉举报处理办法》今年4月15日施行：明确不得滥用投诉举报权利牟取不正当利益；平台内经营者的投诉，按其公示的地址确定处理部门。使用投诉数据时，还要依法保护个人信息。
【口径】投诉、举报、咨询分开统计；调解与违法认定分开。
【衔接】把这些观察，转成市县可以持续做的几件事。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【讲法】给各市县一个可操作的做法：从一个高频场景做起。
第一步，找问题：用授权汇总的投诉举报数据，选一个最集中、最反复的场景——比如预付式消费、补贴商品价格、文旅消费。
第二步，分责任：把消费争议、违法线索、跨部门事项分开，依法分流，不把所有问题都揽到自己身上。
第三步，看改善：跟踪履约、重复投诉和解决体验，必要时公开典型案例。
同时，规范涉企检查，信用分级分类，做到“无事不扰”——对守法经营者少打扰，本身就是稳经营、稳收入。
评价标准是实际问题有没有减少、消费体验有没有改善，不预设某项治理必然带来某个消费增幅。
【口径】工作建议；优先次序由本地数据决定。
【衔接】回到开场的那个家庭，归纳整堂课。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【讲法】回到开场的问题：一个家庭的一次购买选择，为什么能反映宏观经济？因为它同时取决于收入稳不稳、现金紧不紧、家底厚不厚——也取决于这一次交易信不信得过。
三句话收尾：
看形势，要同时看总量和差异：消费偏弱是普遍的，大额、长期支出最弱；局部活跃也要找原因——补贴、价格还是新品。
看机制，要联读三本账：家庭的收入、现金和家底，企业的利润和回款，政府的财力和支出。
看履职，要落到可依法改善的交易障碍：让每一次交易更可信，同样的收入就更愿意花出去。
最后留一个问题带回去：在您所在的市县，哪一项高频交易障碍，最值得优先核实和解决？
谢谢大家！
【衔接】第115分钟结束主体，余下时间交流。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学员追问口径时调用。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核验截至2026年10月15日。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缺数留空，不用估算填补；不编排名。讲前请各市核对，欢迎各市补充。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两段主视频已计入时长；备选视频若启用，应替换而非新增。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条号依据检索到的法规原文摘录；标“待核”的讲前对照国家法律法规数据库确认。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每题准备30秒。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按发布时间逐项更新data3.js后重新生成。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用于回答“会不会日本化”。数据：世界银行（CPI、GDP平减指数）。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257300"/>
            <a:ext cx="822960" cy="457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hyperlink" Target="https://tv.cctv.com/2026/05/16/VIDE9cPItSCzQ7Cjln6L4yZj260516.shtm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hyperlink" Target="https://tv.cctv.com/2026/08/18/VIDEPUoUa2rJol0pvLC9NRw6260818.shtm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spc="10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浙江省市场监管系统干部专题培训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4630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5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消费提振视角下的</a:t>
            </a:r>
            <a:endParaRPr lang="zh-CN" sz="5000" dirty="0"/>
          </a:p>
          <a:p>
            <a:pPr indent="0" marL="0">
              <a:lnSpc>
                <a:spcPct val="108000"/>
              </a:lnSpc>
              <a:buNone/>
            </a:pPr>
            <a:r>
              <a:rPr lang="zh-CN" altLang="en-US" sz="5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中国宏观经济形势分析</a:t>
            </a:r>
            <a:endParaRPr lang="zh-CN" sz="5000" dirty="0"/>
          </a:p>
        </p:txBody>
      </p:sp>
      <p:sp>
        <p:nvSpPr>
          <p:cNvPr id="5" name="Shape 3"/>
          <p:cNvSpPr/>
          <p:nvPr/>
        </p:nvSpPr>
        <p:spPr>
          <a:xfrm>
            <a:off x="1005840" y="3611880"/>
            <a:ext cx="1188720" cy="6400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王泽荣　经济学博士</a:t>
            </a:r>
            <a:endParaRPr lang="zh-CN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72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浙江财经大学经济学院　｜　挂职浙江省市场监督管理局经济发展处</a:t>
            </a:r>
            <a:endParaRPr lang="zh-CN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074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2026年10月20日　·　衢州</a:t>
            </a:r>
            <a:endParaRPr lang="zh-CN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63550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数据截至2026年10月15日</a:t>
            </a:r>
            <a:endParaRPr lang="zh-CN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课程框架：六个问题，从现象到机制，再到履职</a:t>
            </a:r>
            <a:endParaRPr lang="zh-CN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zh-CN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5361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消费之镜</a:t>
            </a:r>
            <a:endParaRPr lang="zh-CN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153619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为什么可以从消费看宏观经济</a:t>
            </a:r>
            <a:endParaRPr lang="zh-CN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53619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8分钟</a:t>
            </a:r>
            <a:endParaRPr lang="zh-CN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104120" y="153619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第0—8分钟</a:t>
            </a:r>
            <a:endParaRPr lang="zh-CN" sz="1400" dirty="0"/>
          </a:p>
        </p:txBody>
      </p:sp>
      <p:sp>
        <p:nvSpPr>
          <p:cNvPr id="10" name="Shape 7"/>
          <p:cNvSpPr/>
          <p:nvPr/>
        </p:nvSpPr>
        <p:spPr>
          <a:xfrm>
            <a:off x="1097280" y="208483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zh-CN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0848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外需之变</a:t>
            </a:r>
            <a:endParaRPr lang="zh-CN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208483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外部变化怎样传到国内家庭</a:t>
            </a:r>
            <a:endParaRPr lang="zh-CN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208483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12分钟</a:t>
            </a:r>
            <a:endParaRPr lang="zh-CN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0104120" y="208483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第8—20分钟</a:t>
            </a:r>
            <a:endParaRPr lang="zh-CN" sz="1400" dirty="0"/>
          </a:p>
        </p:txBody>
      </p:sp>
      <p:sp>
        <p:nvSpPr>
          <p:cNvPr id="17" name="Shape 14"/>
          <p:cNvSpPr/>
          <p:nvPr/>
        </p:nvSpPr>
        <p:spPr>
          <a:xfrm>
            <a:off x="1097280" y="263347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zh-CN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263347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内需之困</a:t>
            </a:r>
            <a:endParaRPr lang="zh-CN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2651760" y="263347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消费弱在哪里，哪些约束有证据</a:t>
            </a:r>
            <a:endParaRPr lang="zh-CN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006840" y="263347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28分钟</a:t>
            </a:r>
            <a:endParaRPr lang="zh-CN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0104120" y="263347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第20—48分钟</a:t>
            </a:r>
            <a:endParaRPr lang="zh-CN" sz="1400" dirty="0"/>
          </a:p>
        </p:txBody>
      </p:sp>
      <p:sp>
        <p:nvSpPr>
          <p:cNvPr id="24" name="Shape 21"/>
          <p:cNvSpPr/>
          <p:nvPr/>
        </p:nvSpPr>
        <p:spPr>
          <a:xfrm>
            <a:off x="1097280" y="318211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zh-CN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1097280" y="318211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三账联读</a:t>
            </a:r>
            <a:endParaRPr lang="zh-CN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2651760" y="318211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家庭、企业、政府三本账：约束怎样形成，政策怎样起作用</a:t>
            </a:r>
            <a:endParaRPr lang="zh-CN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006840" y="318211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</a:t>
            </a:r>
            <a:endParaRPr lang="zh-CN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0104120" y="318211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第58—83分钟</a:t>
            </a:r>
            <a:endParaRPr lang="zh-CN" sz="1400" dirty="0"/>
          </a:p>
        </p:txBody>
      </p:sp>
      <p:sp>
        <p:nvSpPr>
          <p:cNvPr id="31" name="Shape 28"/>
          <p:cNvSpPr/>
          <p:nvPr/>
        </p:nvSpPr>
        <p:spPr>
          <a:xfrm>
            <a:off x="1097280" y="373075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zh-CN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1097280" y="373075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浙江之察</a:t>
            </a:r>
            <a:endParaRPr lang="zh-CN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2651760" y="373075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浙江有哪些特点，潜力怎样转化为交易</a:t>
            </a:r>
            <a:endParaRPr lang="zh-CN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006840" y="373075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zh-CN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104120" y="373075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第83—103分钟</a:t>
            </a:r>
            <a:endParaRPr lang="zh-CN" sz="1400" dirty="0"/>
          </a:p>
        </p:txBody>
      </p:sp>
      <p:sp>
        <p:nvSpPr>
          <p:cNvPr id="38" name="Shape 35"/>
          <p:cNvSpPr/>
          <p:nvPr/>
        </p:nvSpPr>
        <p:spPr>
          <a:xfrm>
            <a:off x="1097280" y="427939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endParaRPr lang="zh-CN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1097280" y="42793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监管之为</a:t>
            </a:r>
            <a:endParaRPr lang="zh-CN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2651760" y="427939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哪些消费障碍能在市场监管职责内改善</a:t>
            </a:r>
            <a:endParaRPr lang="zh-CN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9006840" y="427939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12分钟</a:t>
            </a:r>
            <a:endParaRPr lang="zh-CN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104120" y="427939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第103—115分钟</a:t>
            </a:r>
            <a:endParaRPr lang="zh-CN" sz="1400" dirty="0"/>
          </a:p>
        </p:txBody>
      </p:sp>
      <p:sp>
        <p:nvSpPr>
          <p:cNvPr id="45" name="Shape 42"/>
          <p:cNvSpPr/>
          <p:nvPr/>
        </p:nvSpPr>
        <p:spPr>
          <a:xfrm>
            <a:off x="548640" y="5029200"/>
            <a:ext cx="712196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48640" y="5029200"/>
            <a:ext cx="712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zh-CN" sz="1300" dirty="0"/>
          </a:p>
        </p:txBody>
      </p:sp>
      <p:sp>
        <p:nvSpPr>
          <p:cNvPr id="47" name="Shape 44"/>
          <p:cNvSpPr/>
          <p:nvPr/>
        </p:nvSpPr>
        <p:spPr>
          <a:xfrm>
            <a:off x="1288268" y="5029200"/>
            <a:ext cx="1082010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288268" y="5029200"/>
            <a:ext cx="1082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zh-CN" sz="1300" dirty="0"/>
          </a:p>
        </p:txBody>
      </p:sp>
      <p:sp>
        <p:nvSpPr>
          <p:cNvPr id="49" name="Shape 46"/>
          <p:cNvSpPr/>
          <p:nvPr/>
        </p:nvSpPr>
        <p:spPr>
          <a:xfrm>
            <a:off x="2397709" y="5029200"/>
            <a:ext cx="2561265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397709" y="5029200"/>
            <a:ext cx="25612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zh-CN" sz="1300" dirty="0"/>
          </a:p>
        </p:txBody>
      </p:sp>
      <p:sp>
        <p:nvSpPr>
          <p:cNvPr id="51" name="Shape 48"/>
          <p:cNvSpPr/>
          <p:nvPr/>
        </p:nvSpPr>
        <p:spPr>
          <a:xfrm>
            <a:off x="4986406" y="5029200"/>
            <a:ext cx="897103" cy="36576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986406" y="5029200"/>
            <a:ext cx="897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</a:t>
            </a:r>
            <a:endParaRPr lang="zh-CN" sz="1300" dirty="0"/>
          </a:p>
        </p:txBody>
      </p:sp>
      <p:sp>
        <p:nvSpPr>
          <p:cNvPr id="53" name="Shape 50"/>
          <p:cNvSpPr/>
          <p:nvPr/>
        </p:nvSpPr>
        <p:spPr>
          <a:xfrm>
            <a:off x="5910941" y="5029200"/>
            <a:ext cx="2283905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910941" y="5029200"/>
            <a:ext cx="2283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zh-CN" sz="1300" dirty="0"/>
          </a:p>
        </p:txBody>
      </p:sp>
      <p:sp>
        <p:nvSpPr>
          <p:cNvPr id="55" name="Shape 52"/>
          <p:cNvSpPr/>
          <p:nvPr/>
        </p:nvSpPr>
        <p:spPr>
          <a:xfrm>
            <a:off x="8222277" y="5029200"/>
            <a:ext cx="1821637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22277" y="5029200"/>
            <a:ext cx="18216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zh-CN" sz="1300" dirty="0"/>
          </a:p>
        </p:txBody>
      </p:sp>
      <p:sp>
        <p:nvSpPr>
          <p:cNvPr id="57" name="Shape 54"/>
          <p:cNvSpPr/>
          <p:nvPr/>
        </p:nvSpPr>
        <p:spPr>
          <a:xfrm>
            <a:off x="10071346" y="5029200"/>
            <a:ext cx="1082010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0071346" y="5029200"/>
            <a:ext cx="1082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endParaRPr lang="zh-CN" sz="1300" dirty="0"/>
          </a:p>
        </p:txBody>
      </p:sp>
      <p:sp>
        <p:nvSpPr>
          <p:cNvPr id="59" name="Shape 56"/>
          <p:cNvSpPr/>
          <p:nvPr/>
        </p:nvSpPr>
        <p:spPr>
          <a:xfrm>
            <a:off x="11180788" y="5029200"/>
            <a:ext cx="434835" cy="365760"/>
          </a:xfrm>
          <a:prstGeom prst="rect">
            <a:avLst/>
          </a:prstGeom>
          <a:solidFill>
            <a:srgbClr val="A9C0D3"/>
          </a:solidFill>
          <a:ln w="12700">
            <a:solidFill>
              <a:srgbClr val="A9C0D3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1180788" y="5029200"/>
            <a:ext cx="4348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</a:t>
            </a:r>
            <a:endParaRPr lang="zh-CN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274320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zh-CN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2123389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zh-CN" sz="1200" dirty="0"/>
          </a:p>
        </p:txBody>
      </p:sp>
      <p:sp>
        <p:nvSpPr>
          <p:cNvPr id="63" name="Text 60"/>
          <p:cNvSpPr txBox="1"/>
          <p:nvPr/>
        </p:nvSpPr>
        <p:spPr>
          <a:xfrm>
            <a:off x="4712086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zh-CN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5636621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zh-CN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7947957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endParaRPr lang="zh-CN" sz="1200" dirty="0"/>
          </a:p>
        </p:txBody>
      </p:sp>
      <p:sp>
        <p:nvSpPr>
          <p:cNvPr id="66" name="Text 63"/>
          <p:cNvSpPr txBox="1"/>
          <p:nvPr/>
        </p:nvSpPr>
        <p:spPr>
          <a:xfrm>
            <a:off x="9797026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</a:t>
            </a:r>
            <a:endParaRPr lang="zh-CN" sz="1200" dirty="0"/>
          </a:p>
        </p:txBody>
      </p:sp>
      <p:sp>
        <p:nvSpPr>
          <p:cNvPr id="67" name="Text 64"/>
          <p:cNvSpPr txBox="1"/>
          <p:nvPr/>
        </p:nvSpPr>
        <p:spPr>
          <a:xfrm>
            <a:off x="10906468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115</a:t>
            </a:r>
            <a:endParaRPr lang="zh-CN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11094415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</a:t>
            </a:r>
            <a:endParaRPr lang="zh-CN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讲授105分钟（含两段短视频）＋ 休息10分钟 ＋ 交流5分钟</a:t>
            </a:r>
            <a:endParaRPr lang="zh-CN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　消费之镜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为什么可以从消费看宏观经济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8分钟 · 第0—8分钟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同一个家庭，为何一边出门旅行、一边推迟换车？</a:t>
            </a:r>
            <a:endParaRPr lang="zh-CN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教学情境（虚拟）：一家三口，近一年收入没有明显变化</a:t>
            </a:r>
            <a:endParaRPr lang="zh-CN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5318608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084832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愿意花：周末短途游，约2000元</a:t>
            </a:r>
            <a:endParaRPr lang="zh-CN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51760"/>
            <a:ext cx="5318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金额小，花完即止，不形成长期还款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买的是当下的体验，下一次可以随时调整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即使收入有波动，也不伤筋动骨</a:t>
            </a:r>
            <a:endParaRPr lang="zh-CN" sz="1800" dirty="0"/>
          </a:p>
        </p:txBody>
      </p:sp>
      <p:sp>
        <p:nvSpPr>
          <p:cNvPr id="11" name="Shape 8"/>
          <p:cNvSpPr/>
          <p:nvPr/>
        </p:nvSpPr>
        <p:spPr>
          <a:xfrm>
            <a:off x="6324448" y="1965960"/>
            <a:ext cx="5318608" cy="54864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084832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先观望：装修、换车，约20万元</a:t>
            </a:r>
            <a:endParaRPr lang="zh-CN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324448" y="2651760"/>
            <a:ext cx="5318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金额大，要动用积蓄或新增贷款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一旦支出很难撤回，买错了代价高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对收入是否稳定、房子值多少、未来还有哪些大额开支格外敏感</a:t>
            </a:r>
            <a:endParaRPr lang="zh-CN" sz="1800" dirty="0"/>
          </a:p>
        </p:txBody>
      </p:sp>
      <p:sp>
        <p:nvSpPr>
          <p:cNvPr id="14" name="Shape 11"/>
          <p:cNvSpPr/>
          <p:nvPr/>
        </p:nvSpPr>
        <p:spPr>
          <a:xfrm>
            <a:off x="6095848" y="2103120"/>
            <a:ext cx="0" cy="219456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572000"/>
            <a:ext cx="73152" cy="10972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" y="4572000"/>
            <a:ext cx="1068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大额、不可逆、需要长期承诺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的支出，对未来收入最敏感：前景越不确定，“再等等”本身就越有价值（经济学称为“等待的期权价值”）。所以，消费谨慎与局部活跃，可以同时出现在同一个家庭。</a:t>
            </a:r>
            <a:endParaRPr lang="zh-CN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说明：教学情境为虚拟设定，用于提出问题，不代表全国居民调查结论。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　消费之镜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你的支出就是别人的收入：一笔消费怎样在经济中循环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1691640" cy="1417320"/>
          </a:xfrm>
          <a:prstGeom prst="roundRect">
            <a:avLst>
              <a:gd name="adj" fmla="val 3871"/>
            </a:avLst>
          </a:prstGeom>
          <a:solidFill>
            <a:srgbClr val="F7F1F0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2514600"/>
            <a:ext cx="15453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一家人付了</a:t>
            </a:r>
            <a:br/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一顿饭钱</a:t>
            </a:r>
            <a:br/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100元</a:t>
            </a:r>
            <a:endParaRPr lang="zh-CN" sz="1800" dirty="0"/>
          </a:p>
        </p:txBody>
      </p:sp>
      <p:sp>
        <p:nvSpPr>
          <p:cNvPr id="13" name="Shape 10"/>
          <p:cNvSpPr/>
          <p:nvPr/>
        </p:nvSpPr>
        <p:spPr>
          <a:xfrm>
            <a:off x="2788920" y="1481328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98648" y="14813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食材采购　35元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农户、批发商</a:t>
            </a:r>
            <a:endParaRPr lang="zh-CN" sz="1800" dirty="0"/>
          </a:p>
        </p:txBody>
      </p:sp>
      <p:sp>
        <p:nvSpPr>
          <p:cNvPr id="15" name="Shape 12"/>
          <p:cNvSpPr/>
          <p:nvPr/>
        </p:nvSpPr>
        <p:spPr>
          <a:xfrm flipV="1">
            <a:off x="2267712" y="1755648"/>
            <a:ext cx="493776" cy="1467612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879592" y="1755648"/>
            <a:ext cx="475488" cy="1467612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788920" y="2153412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98648" y="21534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员工工资　25元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厨师、服务员家庭</a:t>
            </a:r>
            <a:endParaRPr lang="zh-CN" sz="1800" dirty="0"/>
          </a:p>
        </p:txBody>
      </p:sp>
      <p:sp>
        <p:nvSpPr>
          <p:cNvPr id="19" name="Shape 16"/>
          <p:cNvSpPr/>
          <p:nvPr/>
        </p:nvSpPr>
        <p:spPr>
          <a:xfrm flipV="1">
            <a:off x="2267712" y="2427732"/>
            <a:ext cx="493776" cy="795528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879592" y="2427732"/>
            <a:ext cx="475488" cy="795528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788920" y="2825496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898648" y="282549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房租　12元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房东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 flipV="1">
            <a:off x="2267712" y="3099816"/>
            <a:ext cx="493776" cy="123444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879592" y="3099816"/>
            <a:ext cx="475488" cy="123444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788920" y="3497580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898648" y="34975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水电燃气等　10元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公用事业企业</a:t>
            </a:r>
            <a:endParaRPr lang="zh-CN" sz="1800" dirty="0"/>
          </a:p>
        </p:txBody>
      </p:sp>
      <p:sp>
        <p:nvSpPr>
          <p:cNvPr id="27" name="Shape 24"/>
          <p:cNvSpPr/>
          <p:nvPr/>
        </p:nvSpPr>
        <p:spPr>
          <a:xfrm>
            <a:off x="2267712" y="3223260"/>
            <a:ext cx="493776" cy="548640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V="1">
            <a:off x="5879592" y="3223260"/>
            <a:ext cx="475488" cy="548640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788920" y="4169664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898648" y="41696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税费　6元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政府</a:t>
            </a:r>
            <a:endParaRPr lang="zh-CN" sz="1800" dirty="0"/>
          </a:p>
        </p:txBody>
      </p:sp>
      <p:sp>
        <p:nvSpPr>
          <p:cNvPr id="31" name="Shape 28"/>
          <p:cNvSpPr/>
          <p:nvPr/>
        </p:nvSpPr>
        <p:spPr>
          <a:xfrm>
            <a:off x="2267712" y="3223260"/>
            <a:ext cx="493776" cy="1220724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 flipV="1">
            <a:off x="5879592" y="3223260"/>
            <a:ext cx="475488" cy="1220724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2788920" y="4841748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898648" y="48417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店主经营所得　12元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店主家庭</a:t>
            </a:r>
            <a:endParaRPr lang="zh-CN" sz="1800" dirty="0"/>
          </a:p>
        </p:txBody>
      </p:sp>
      <p:sp>
        <p:nvSpPr>
          <p:cNvPr id="35" name="Shape 32"/>
          <p:cNvSpPr/>
          <p:nvPr/>
        </p:nvSpPr>
        <p:spPr>
          <a:xfrm>
            <a:off x="2267712" y="3223260"/>
            <a:ext cx="493776" cy="1892808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 flipV="1">
            <a:off x="5879592" y="3223260"/>
            <a:ext cx="475488" cy="1892808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382512" y="251460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EEF3F7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55664" y="2514600"/>
            <a:ext cx="1271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各类家庭</a:t>
            </a:r>
            <a:br/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有了收入</a:t>
            </a:r>
            <a:br/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→下一轮消费</a:t>
            </a:r>
            <a:endParaRPr lang="zh-CN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8183880" y="1508760"/>
            <a:ext cx="3459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营业额≠利润，流水≠GDP：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GDP计算的是每个环节新创造的价值（增加值）。把各环节交易额直接相加，会重复计算。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节俭的悖论：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每个家庭多存一点钱是理性的；但如果所有家庭同时收紧，别人的收入就会下降，最后大家都更难。</a:t>
            </a:r>
            <a:endParaRPr lang="zh-CN" sz="1800" dirty="0"/>
          </a:p>
        </p:txBody>
      </p:sp>
      <p:sp>
        <p:nvSpPr>
          <p:cNvPr id="40" name="Shape 37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宏观经济就是千万笔这样的交易：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消费放缓，会经由营业收入、工资和经营所得，传回每一个家庭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说明：金额为教学假设，不代表餐饮业实际成本结构。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　消费之镜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从“想买”到“买单”，家庭要跨过四道门槛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zh-CN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1481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付得起</a:t>
            </a:r>
            <a:endParaRPr lang="zh-CN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149961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支付能力：收入、现金和已有负债，决定一笔支出能否承受。</a:t>
            </a:r>
            <a:endParaRPr lang="zh-CN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2423160" y="208483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换家电：预算够不够？要不要分期？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450592"/>
            <a:ext cx="8001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zh-CN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敢花钱</a:t>
            </a:r>
            <a:endParaRPr lang="zh-CN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252374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预期与风险：收入是否稳定，未来有没有教育、医疗、养老等大额开支，决定“现在买”还是“以后买”。</a:t>
            </a:r>
            <a:endParaRPr lang="zh-CN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31089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换家电：明年工作稳不稳？</a:t>
            </a:r>
            <a:endParaRPr lang="zh-CN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474720"/>
            <a:ext cx="8001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zh-CN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35295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买得到</a:t>
            </a:r>
            <a:endParaRPr lang="zh-CN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2423160" y="354787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供给适配：功能、服务时间、距离和价格，能否对上真实需要。</a:t>
            </a:r>
            <a:endParaRPr lang="zh-CN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2423160" y="413308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换家电：有没有合适型号？能否上门安装、回收旧机？</a:t>
            </a:r>
            <a:endParaRPr lang="zh-CN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4498848"/>
            <a:ext cx="8001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zh-CN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4553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信得过</a:t>
            </a:r>
            <a:endParaRPr lang="zh-CN" sz="2100" dirty="0"/>
          </a:p>
        </p:txBody>
      </p:sp>
      <p:sp>
        <p:nvSpPr>
          <p:cNvPr id="28" name="Text 25"/>
          <p:cNvSpPr txBox="1"/>
          <p:nvPr/>
        </p:nvSpPr>
        <p:spPr>
          <a:xfrm>
            <a:off x="2423160" y="45720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交易信任：质量能否判断，价格是否透明，承诺能否兑现，出了问题能否解决。</a:t>
            </a:r>
            <a:endParaRPr lang="zh-CN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2423160" y="515721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换家电：“补贴价”是真优惠吗？坏了谁来修？</a:t>
            </a:r>
            <a:endParaRPr lang="zh-CN" sz="1400" dirty="0"/>
          </a:p>
        </p:txBody>
      </p:sp>
      <p:sp>
        <p:nvSpPr>
          <p:cNvPr id="30" name="Shape 27"/>
          <p:cNvSpPr/>
          <p:nvPr/>
        </p:nvSpPr>
        <p:spPr>
          <a:xfrm>
            <a:off x="8686800" y="1572768"/>
            <a:ext cx="0" cy="1810512"/>
          </a:xfrm>
          <a:prstGeom prst="line">
            <a:avLst/>
          </a:prstGeom>
          <a:noFill/>
          <a:ln w="25400">
            <a:solidFill>
              <a:srgbClr val="507B9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915400" y="1572768"/>
            <a:ext cx="2727655" cy="1810512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98280" y="1709928"/>
            <a:ext cx="2361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总量约束</a:t>
            </a:r>
            <a:endParaRPr lang="zh-CN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9098280" y="2212848"/>
            <a:ext cx="2361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收入、就业、社保、资产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宏观与民生政策的主场</a:t>
            </a:r>
            <a:endParaRPr lang="zh-CN" sz="1500" dirty="0"/>
          </a:p>
        </p:txBody>
      </p:sp>
      <p:sp>
        <p:nvSpPr>
          <p:cNvPr id="34" name="Shape 31"/>
          <p:cNvSpPr/>
          <p:nvPr/>
        </p:nvSpPr>
        <p:spPr>
          <a:xfrm>
            <a:off x="8686800" y="3621024"/>
            <a:ext cx="0" cy="1810512"/>
          </a:xfrm>
          <a:prstGeom prst="line">
            <a:avLst/>
          </a:prstGeom>
          <a:noFill/>
          <a:ln w="25400">
            <a:solidFill>
              <a:srgbClr val="870C0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915400" y="3621024"/>
            <a:ext cx="2727655" cy="1810512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098280" y="3758184"/>
            <a:ext cx="2361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交易约束</a:t>
            </a:r>
            <a:endParaRPr lang="zh-CN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9098280" y="4261104"/>
            <a:ext cx="2361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发生在每一次交易中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④市场监管直接履职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③标准、质量提升协同</a:t>
            </a:r>
            <a:endParaRPr lang="zh-CN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四道门槛是分析框架，不预设哪一道最重要——第三部分用数据逐一检验。</a:t>
            </a:r>
            <a:endParaRPr lang="zh-CN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　消费之镜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看消费先看口径：几种统计量的不是同一件事</a:t>
            </a:r>
            <a:endParaRPr lang="zh-CN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822960"/>
                <a:gridCol w="2880360"/>
                <a:gridCol w="2834640"/>
                <a:gridCol w="17647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主要包括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需要注意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最新读数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社会消费品零售总额（社零）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商品零售＋餐饮收入，含部分单位购买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大部分服务消费（教育、医疗、旅游、交通等）不在内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2026年1—8月</a:t>
                      </a:r>
                      <a:br/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+1.1%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社会消费商品和服务零售总额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社零＋服务零售（2026年起发布）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新指标，可比历史数据较短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2026年1—8月</a:t>
                      </a:r>
                      <a:br/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+2.5%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居民人均消费支出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住户调查中的全部生活消费，含服务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不等于本地商户销售额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2026年上半年</a:t>
                      </a:r>
                      <a:br/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名义+3.7%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GDP最终消费支出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核算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居民消费＋政府消费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含政府消费，不只是家庭购物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上半年拉动GDP</a:t>
                      </a:r>
                      <a:br/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2.1个百分点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257800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5257800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257800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买房、买股票是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资产交易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，不计入消费；但它们通过财富和现金流影响消费——这是第四部分要讲的机制。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资料来源：国家统计局指标解释；国家统计局2026年7月15日、9月15日数据发布。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　外需之变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外部变化怎样传到国内家庭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12分钟 · 第8—20分钟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全球经济“韧性承压”：增长放缓到3.1%，通胀回升到4.7%</a:t>
            </a:r>
            <a:endParaRPr lang="zh-CN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4475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IMF对主要经济体实际GDP增速的预测（%，2026年10月版）</a:t>
            </a:r>
            <a:endParaRPr lang="zh-CN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818120" y="1481328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全球今年3.1%、明年3.4%；中国今年4.5%，较7月预测下调0.1个百分点。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通胀：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全球通胀由2025年的4.1%升至4.7%。中东战事推高油价，IMF假设今年油价均值约96美元/桶，同比上涨约41%。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贸易：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WTO把今年全球货物贸易量增速从3月的1.9%上调到3.9%，主要靠AI相关资本品。</a:t>
            </a:r>
            <a:endParaRPr lang="zh-CN" sz="1800" dirty="0"/>
          </a:p>
        </p:txBody>
      </p:sp>
      <p:sp>
        <p:nvSpPr>
          <p:cNvPr id="10" name="Shape 6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外需没有消失，但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“好做的订单”变少了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：增长更多靠AI设备和能源，油价上涨又挤压各国家庭的购买力。</a:t>
            </a:r>
            <a:endParaRPr lang="zh-CN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资料来源：IMF《世界经济展望》2026年10月（10月13日发布）；WTO《全球贸易展望与统计》（2026年10月8日）。均为预测值；印度为财年口径。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美国消费仍有韧性，但储蓄薄、通胀高、利率转向上行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240280" cy="18745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17190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+0.6%</a:t>
            </a:r>
            <a:endParaRPr lang="zh-CN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实际个人消费支出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8月环比</a:t>
            </a:r>
            <a:endParaRPr lang="zh-CN" sz="1500" dirty="0"/>
          </a:p>
        </p:txBody>
      </p:sp>
      <p:sp>
        <p:nvSpPr>
          <p:cNvPr id="14" name="Shape 11"/>
          <p:cNvSpPr/>
          <p:nvPr/>
        </p:nvSpPr>
        <p:spPr>
          <a:xfrm>
            <a:off x="2898648" y="1554480"/>
            <a:ext cx="2240280" cy="18745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081528" y="17190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0.0%</a:t>
            </a:r>
            <a:endParaRPr lang="zh-CN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3081528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实际可支配收入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8月环比</a:t>
            </a:r>
            <a:endParaRPr lang="zh-CN" sz="1500" dirty="0"/>
          </a:p>
        </p:txBody>
      </p:sp>
      <p:sp>
        <p:nvSpPr>
          <p:cNvPr id="17" name="Shape 14"/>
          <p:cNvSpPr/>
          <p:nvPr/>
        </p:nvSpPr>
        <p:spPr>
          <a:xfrm>
            <a:off x="5248656" y="1554480"/>
            <a:ext cx="2240280" cy="18745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31536" y="17190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4.1%</a:t>
            </a:r>
            <a:endParaRPr lang="zh-CN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5431536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个人储蓄率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</a:t>
            </a:r>
            <a:endParaRPr lang="zh-CN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566160"/>
            <a:ext cx="224028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73075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3.4%</a:t>
            </a:r>
            <a:endParaRPr lang="zh-CN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PCE物价同比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核心3.0%</a:t>
            </a:r>
            <a:endParaRPr lang="zh-CN" sz="1500" dirty="0"/>
          </a:p>
        </p:txBody>
      </p:sp>
      <p:sp>
        <p:nvSpPr>
          <p:cNvPr id="23" name="Shape 20"/>
          <p:cNvSpPr/>
          <p:nvPr/>
        </p:nvSpPr>
        <p:spPr>
          <a:xfrm>
            <a:off x="2898648" y="3566160"/>
            <a:ext cx="224028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081528" y="373075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2.2%</a:t>
            </a:r>
            <a:endParaRPr lang="zh-CN" sz="3600" dirty="0"/>
          </a:p>
        </p:txBody>
      </p:sp>
      <p:sp>
        <p:nvSpPr>
          <p:cNvPr id="25" name="Text 22"/>
          <p:cNvSpPr txBox="1"/>
          <p:nvPr/>
        </p:nvSpPr>
        <p:spPr>
          <a:xfrm>
            <a:off x="3081528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二季度实际GDP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年化环比</a:t>
            </a:r>
            <a:endParaRPr lang="zh-CN" sz="1500" dirty="0"/>
          </a:p>
        </p:txBody>
      </p:sp>
      <p:sp>
        <p:nvSpPr>
          <p:cNvPr id="26" name="Shape 23"/>
          <p:cNvSpPr/>
          <p:nvPr/>
        </p:nvSpPr>
        <p:spPr>
          <a:xfrm>
            <a:off x="5248656" y="3566160"/>
            <a:ext cx="224028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31536" y="373075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3.75%—4.00%</a:t>
            </a:r>
            <a:endParaRPr lang="zh-CN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5431536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联邦基金利率目标区间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9月加息25个基点</a:t>
            </a:r>
            <a:endParaRPr lang="zh-CN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726680" y="1554480"/>
            <a:ext cx="39163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消费跑在收入前面：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主要靠少存钱支撑，储蓄缓冲变薄，持续性要打问号。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通胀重燃、利率转向：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能源推高通胀，美联储9月加息，为2023年7月以来首次。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对我们的含义：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美国需求仍在，但融资更贵、关税更高，订单更看价格和交期。</a:t>
            </a:r>
            <a:endParaRPr lang="zh-CN" sz="1800" dirty="0"/>
          </a:p>
        </p:txBody>
      </p:sp>
      <p:sp>
        <p:nvSpPr>
          <p:cNvPr id="30" name="Shape 27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美国需求仍是外需的“压舱石”，但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储蓄缓冲变薄、利率转向上行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，持续性要打问号。</a:t>
            </a:r>
            <a:endParaRPr lang="zh-CN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资料来源：美国经济分析局（BEA）2026年9月30日发布（含年度修订）；美联储2026年9月16日议息声明。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关税反复改变交易条件：订单、利润和预期同时在变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2048256"/>
            <a:ext cx="11094415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90879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2025.4</a:t>
            </a:r>
            <a:endParaRPr lang="zh-CN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“对等关税”升级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对华加征一度达145%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3239948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397709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2025.5</a:t>
            </a:r>
            <a:endParaRPr lang="zh-CN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443429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日内瓦会谈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降至约30%</a:t>
            </a:r>
            <a:endParaRPr lang="zh-CN" sz="1400" dirty="0"/>
          </a:p>
        </p:txBody>
      </p:sp>
      <p:sp>
        <p:nvSpPr>
          <p:cNvPr id="18" name="Shape 15"/>
          <p:cNvSpPr/>
          <p:nvPr/>
        </p:nvSpPr>
        <p:spPr>
          <a:xfrm>
            <a:off x="5089017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46778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2025.10—11</a:t>
            </a:r>
            <a:endParaRPr lang="zh-CN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292498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釜山会晤后休战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芬太尼关税降至10%</a:t>
            </a:r>
            <a:endParaRPr lang="zh-CN" sz="1400" dirty="0"/>
          </a:p>
        </p:txBody>
      </p:sp>
      <p:sp>
        <p:nvSpPr>
          <p:cNvPr id="21" name="Shape 18"/>
          <p:cNvSpPr/>
          <p:nvPr/>
        </p:nvSpPr>
        <p:spPr>
          <a:xfrm>
            <a:off x="6938086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95848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2026.2</a:t>
            </a:r>
            <a:endParaRPr lang="zh-CN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141568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美最高法院裁定紧急法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关税无效，改征附加税</a:t>
            </a:r>
            <a:endParaRPr lang="zh-CN" sz="1400" dirty="0"/>
          </a:p>
        </p:txBody>
      </p:sp>
      <p:sp>
        <p:nvSpPr>
          <p:cNvPr id="24" name="Shape 21"/>
          <p:cNvSpPr/>
          <p:nvPr/>
        </p:nvSpPr>
        <p:spPr>
          <a:xfrm>
            <a:off x="8787155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44917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2026.7</a:t>
            </a:r>
            <a:endParaRPr lang="zh-CN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990637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附加税到期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改依301条款征税</a:t>
            </a:r>
            <a:endParaRPr lang="zh-CN" sz="1400" dirty="0"/>
          </a:p>
        </p:txBody>
      </p:sp>
      <p:sp>
        <p:nvSpPr>
          <p:cNvPr id="27" name="Shape 24"/>
          <p:cNvSpPr/>
          <p:nvPr/>
        </p:nvSpPr>
        <p:spPr>
          <a:xfrm>
            <a:off x="10636225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793986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2026.9</a:t>
            </a:r>
            <a:endParaRPr lang="zh-CN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839706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休战延至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2027年1月10日</a:t>
            </a:r>
            <a:endParaRPr lang="zh-CN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35808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3251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交易环节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企业可能的反应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怎样传到家庭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报价与成交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重新议价、分摊关税、转向其他市场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订单量和利润率变化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交货与排产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抢出口、提前备货、错峰发运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出口“前高后低”，加班与停工交替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供应链布局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部分产能转移、到第三国组装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本地岗位和配套企业收入变化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7"/>
          <p:cNvSpPr txBox="1"/>
          <p:nvPr/>
        </p:nvSpPr>
        <p:spPr>
          <a:xfrm>
            <a:off x="548640" y="4983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美国对华平均关税仍在约20%—35%区间（不同机构口径不同），远高于贸易摩擦之前。</a:t>
            </a:r>
            <a:endParaRPr lang="zh-CN" sz="1600" dirty="0"/>
          </a:p>
        </p:txBody>
      </p:sp>
      <p:sp>
        <p:nvSpPr>
          <p:cNvPr id="32" name="Shape 28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关税由谁缴，与成本最终由谁承担，是两个问题；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不确定性本身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就会让企业推迟扩产、推迟招工。</a:t>
            </a:r>
            <a:endParaRPr lang="zh-CN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资料来源：美国最高法院Learning Resources v. Trump案（2026年2月20日）；商务部、新华社等公开报道。本页为机制分析。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一张海外订单，怎样走进浙江家庭的预算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43070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1554480"/>
            <a:ext cx="228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海外订单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与交付</a:t>
            </a:r>
            <a:endParaRPr lang="zh-CN" sz="1700" dirty="0"/>
          </a:p>
        </p:txBody>
      </p:sp>
      <p:sp>
        <p:nvSpPr>
          <p:cNvPr id="13" name="Shape 10"/>
          <p:cNvSpPr/>
          <p:nvPr/>
        </p:nvSpPr>
        <p:spPr>
          <a:xfrm>
            <a:off x="3034208" y="1988820"/>
            <a:ext cx="34747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436544" y="1554480"/>
            <a:ext cx="243070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09696" y="1554480"/>
            <a:ext cx="228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排产、加班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与用工</a:t>
            </a:r>
            <a:endParaRPr lang="zh-CN" sz="1700" dirty="0"/>
          </a:p>
        </p:txBody>
      </p:sp>
      <p:sp>
        <p:nvSpPr>
          <p:cNvPr id="16" name="Shape 13"/>
          <p:cNvSpPr/>
          <p:nvPr/>
        </p:nvSpPr>
        <p:spPr>
          <a:xfrm>
            <a:off x="5922112" y="1988820"/>
            <a:ext cx="34747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324448" y="1554480"/>
            <a:ext cx="243070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7600" y="1554480"/>
            <a:ext cx="228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工资、奖金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与经营收入</a:t>
            </a:r>
            <a:endParaRPr lang="zh-CN" sz="1700" dirty="0"/>
          </a:p>
        </p:txBody>
      </p:sp>
      <p:sp>
        <p:nvSpPr>
          <p:cNvPr id="19" name="Shape 16"/>
          <p:cNvSpPr/>
          <p:nvPr/>
        </p:nvSpPr>
        <p:spPr>
          <a:xfrm>
            <a:off x="8810015" y="1988820"/>
            <a:ext cx="34747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212351" y="1554480"/>
            <a:ext cx="243070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5503" y="1554480"/>
            <a:ext cx="228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家庭预算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与本地消费</a:t>
            </a:r>
            <a:endParaRPr lang="zh-CN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2697480"/>
            <a:ext cx="5364328" cy="269748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2834640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浙江外贸：总量仍在增长</a:t>
            </a:r>
            <a:endParaRPr lang="zh-CN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3355848"/>
            <a:ext cx="490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1—8月全省进出口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3.99万亿元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，增长8.3%；出口增长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上半年出口增长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“新三样”出口增长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56%</a:t>
            </a:r>
            <a:endParaRPr lang="zh-CN" sz="1800" dirty="0"/>
          </a:p>
        </p:txBody>
      </p:sp>
      <p:sp>
        <p:nvSpPr>
          <p:cNvPr id="25" name="Shape 22"/>
          <p:cNvSpPr/>
          <p:nvPr/>
        </p:nvSpPr>
        <p:spPr>
          <a:xfrm>
            <a:off x="6278728" y="2697480"/>
            <a:ext cx="5364328" cy="26974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07328" y="2834640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一个案例：绍兴弗迪电池</a:t>
            </a:r>
            <a:endParaRPr lang="zh-CN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6507328" y="3355848"/>
            <a:ext cx="490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已披露：上半年锂电池出口超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1亿元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，巴西、泰国订单增长；连续排产、加急交付，海关预审单证、预约查验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未披露：工资、利润和员工家庭消费的变化——这段链条是机制分析</a:t>
            </a:r>
            <a:endParaRPr lang="zh-CN" sz="1800" dirty="0"/>
          </a:p>
        </p:txBody>
      </p:sp>
      <p:sp>
        <p:nvSpPr>
          <p:cNvPr id="28" name="Shape 25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订单到消费有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时滞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，也有库存和利润的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缓冲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；外需的影响首先落在出口企业、员工和配套商身上。</a:t>
            </a:r>
            <a:endParaRPr lang="zh-CN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资料来源：杭州海关、浙江省政府新闻发布；浙江在线（2026年7月17日）、浙江省经济信息中心（2026年7月20日）；海关总署（2026年10月14日）。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油价、利率与汇率：外部冲击怎样传进家庭账本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布伦特原油现货月均价（美元/桶，2026年；2025年均价69美元）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3093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21031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2月28日中东战事爆发 ↓</a:t>
            </a:r>
            <a:endParaRPr lang="zh-CN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1481328"/>
            <a:ext cx="44650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国内成品油跟涨：5月汽油同比+23.5%，拉动CPI约0.66个百分点；出行、物流成本上升，挤占其他支出。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美联储9月加息至3.75%—4.00%，全球融资成本上行，借美元的外贸企业成本上升。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汇率：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人民币对美元中间价从7.03（2025年末）升至6.72（10月14日），升值约4.5%：进口能源变便宜，出口收入折算变少。</a:t>
            </a:r>
            <a:endParaRPr lang="zh-CN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同一个外部冲击，方向因人而异：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用油多的、出口多的、借美元多的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，受影响最大。</a:t>
            </a:r>
            <a:endParaRPr lang="zh-CN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资料来源：美国能源信息署（EIA）布伦特现货日度价格（作者计算月均值）；美联储；中国外汇交易中心；国家统计局。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外需托底、内需定盘：中国居民消费率仍明显偏低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居民最终消费支出占GDP比重（%，约值，最近可得年份）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0350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949440" y="1481328"/>
            <a:ext cx="46936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外需在托底：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净出口拉动GDP：2025年1.6个百分点，今年上半年0.8个百分点。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内需在定盘：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居民消费率约四成，主要经济体多在五成以上。按2025年GDP约140万亿元粗算，每提高1个百分点约对应1.4万亿元需求。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互补而非替代：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出口提供收入和就业；外部波动时，能稳住增长的只能是本国家庭的消费。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提高居民消费率，关键在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提高居民收入在国民收入中的份额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，而不只是“鼓励多花钱”。</a:t>
            </a:r>
            <a:endParaRPr lang="zh-CN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资料来源：世界银行WDI（约值，取整，讲前复核）；国家统计局。1.4万亿元为作者粗算。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外部变化解释“部分行业、部分家庭”，主因要回到国内找</a:t>
            </a:r>
            <a:endParaRPr lang="zh-CN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40507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外部变化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现在的情况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主要影响谁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全球需求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增长放缓、分化，AI设备和能源强，消费品偏弱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出口企业的订单结构与利润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贸易政策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关税几起几落，规则不确定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对美出口企业、供应链转移地区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金融与能源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油价高、美元利率上行、人民币升值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用油多、出口多、借美元多的企业与家庭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754880"/>
            <a:ext cx="11094415" cy="9144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4754880"/>
            <a:ext cx="73152" cy="9144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4754880"/>
            <a:ext cx="10682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今年外需总体是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“托底”而不是“拖累”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——消费偏弱的主要原因，要到国内的收入、预期、资产负债和交易环境中去找。</a:t>
            </a:r>
            <a:endParaRPr lang="zh-CN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说明：本页仅归纳本部分已展示的证据。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　内需之困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消费弱在哪里，哪些约束有证据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28分钟 · 第20—48分钟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消费仍是增长第一拉动力，但拉动力明显弱于疫情前</a:t>
            </a:r>
            <a:endParaRPr lang="zh-CN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4475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GDP实际增速与最终消费拉动（百分点）</a:t>
            </a:r>
            <a:endParaRPr lang="zh-CN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70408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909560" y="1481328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2026年上半年：GDP增长4.7%</a:t>
            </a:r>
            <a:endParaRPr lang="zh-CN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909560" y="1920240"/>
            <a:ext cx="1244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zh-CN" sz="3800" dirty="0"/>
          </a:p>
        </p:txBody>
      </p:sp>
      <p:sp>
        <p:nvSpPr>
          <p:cNvPr id="11" name="Text 7"/>
          <p:cNvSpPr txBox="1"/>
          <p:nvPr/>
        </p:nvSpPr>
        <p:spPr>
          <a:xfrm>
            <a:off x="7909560" y="2633472"/>
            <a:ext cx="1244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消费拉动</a:t>
            </a:r>
            <a:endParaRPr lang="zh-CN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9154058" y="1920240"/>
            <a:ext cx="1244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</a:t>
            </a:r>
            <a:endParaRPr lang="zh-CN" sz="3800" dirty="0"/>
          </a:p>
        </p:txBody>
      </p:sp>
      <p:sp>
        <p:nvSpPr>
          <p:cNvPr id="13" name="Text 9"/>
          <p:cNvSpPr txBox="1"/>
          <p:nvPr/>
        </p:nvSpPr>
        <p:spPr>
          <a:xfrm>
            <a:off x="9154058" y="2633472"/>
            <a:ext cx="1244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投资拉动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0398557" y="1920240"/>
            <a:ext cx="1244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</a:t>
            </a:r>
            <a:endParaRPr lang="zh-CN" sz="3800" dirty="0"/>
          </a:p>
        </p:txBody>
      </p:sp>
      <p:sp>
        <p:nvSpPr>
          <p:cNvPr id="15" name="Text 11"/>
          <p:cNvSpPr txBox="1"/>
          <p:nvPr/>
        </p:nvSpPr>
        <p:spPr>
          <a:xfrm>
            <a:off x="10398557" y="2633472"/>
            <a:ext cx="1244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净出口拉动</a:t>
            </a:r>
            <a:endParaRPr lang="zh-CN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909560" y="3154680"/>
            <a:ext cx="37334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消费贡献率约45%，去年同期为52%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官方判断：“国内供强需弱矛盾突出”（2025年中央经济工作会议；统计局2026年7月）</a:t>
            </a:r>
            <a:endParaRPr lang="zh-CN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消费拉动不到一半，增长更多靠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投资和净出口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——这正是“供强需弱”的含义。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资料来源：国家统计局。最终消费含居民与政府消费；拉动百分点≠贡献率≠占比；上半年三项拉动相加有舍入尾差。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社零增速从6.4%降到0.4%：高基数、补贴减弱与汽车拖累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社会消费品零售总额月度同比（%）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7223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097280" y="5394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</a:t>
            </a:r>
            <a:endParaRPr lang="zh-CN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074920" y="5394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</a:t>
            </a:r>
            <a:endParaRPr lang="zh-CN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1444752"/>
            <a:ext cx="35506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年度增速（%）</a:t>
            </a:r>
            <a:endParaRPr lang="zh-CN" sz="15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8092440" y="1755648"/>
          <a:ext cx="3550615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8092440" y="3931920"/>
            <a:ext cx="35506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1—8月社零 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+1.1%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；扣除汽车 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+2.7%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 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-13.9%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两年平均：一季度约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3.5%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，7—8月约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2%</a:t>
            </a:r>
            <a:endParaRPr lang="zh-CN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有基数和补贴节奏的因素，也有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耐用品“需求前置”后的回吐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：不全是需求塌陷，但动能确实在减弱。</a:t>
            </a:r>
            <a:endParaRPr lang="zh-CN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资料来源：国家统计局。1—2月合并发布；社零为名义增速。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物价由负转正，但核心CPI仅1.0%：需求端并不热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CPI与PPI同比（%）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72237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097280" y="5376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2025年（月）</a:t>
            </a:r>
            <a:endParaRPr lang="zh-CN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53766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2026年（月）</a:t>
            </a:r>
            <a:endParaRPr lang="zh-CN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146304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2026年9月</a:t>
            </a:r>
            <a:endParaRPr lang="zh-CN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874520"/>
          <a:ext cx="3550615" cy="914400"/>
        </p:xfrm>
        <a:graphic>
          <a:graphicData uri="http://schemas.openxmlformats.org/drawingml/2006/table">
            <a:tbl>
              <a:tblPr/>
              <a:tblGrid>
                <a:gridCol w="2130369"/>
                <a:gridCol w="142024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CPI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核心CPI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-1.7%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　猪肉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-10.0%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　鲜菜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-8.1%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PPI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8092440" y="4709160"/>
            <a:ext cx="3550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PPI上涨主要由石油、煤炭、有色、化工链带动</a:t>
            </a:r>
            <a:endParaRPr lang="zh-CN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上游涨得快、终端涨得慢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：家庭感受到“吃的便宜、开的用的贵”；企业感受到成本上升、售价难提。</a:t>
            </a:r>
            <a:endParaRPr lang="zh-CN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资料来源：国家统计局（2026年10月14日发布9月数据）。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商品消费分化：通讯器材增长，汽车和住房相关品类下降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2026年8月限额以上单位商品零售额同比（%）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818120" y="146304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1—8月累计同比</a:t>
            </a:r>
            <a:endParaRPr lang="zh-CN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874520"/>
          <a:ext cx="3824935" cy="914400"/>
        </p:xfrm>
        <a:graphic>
          <a:graphicData uri="http://schemas.openxmlformats.org/drawingml/2006/table">
            <a:tbl>
              <a:tblPr/>
              <a:tblGrid>
                <a:gridCol w="2371460"/>
                <a:gridCol w="1453475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服务零售额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+4.9%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餐饮收入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+2.4%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商品零售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网上商品零售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+4.3%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7818120" y="402336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网上商品零售额占社零约25.7%</a:t>
            </a:r>
            <a:endParaRPr lang="zh-CN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分化有三个来源：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补贴节奏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（汽车回吐、数码仍受补贴）、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住房调整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（家具、建材）、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收入预期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（大额更谨慎）。</a:t>
            </a:r>
            <a:endParaRPr lang="zh-CN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资料来源：国家统计局、商务部。分类为限额以上单位；服务零售与餐饮口径有交叉，不能相加。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居民收入在增长，花钱的比例却还没回到疫情前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531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平均消费倾向（人均消费支出÷人均可支配收入，%）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5318608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324448" y="1444752"/>
            <a:ext cx="531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服务性消费支出占居民消费支出比重（%）</a:t>
            </a:r>
            <a:endParaRPr lang="zh-CN" sz="15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324448" y="1783080"/>
          <a:ext cx="5318608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548640" y="49560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2026年上半年：收入名义增长5.2%，消费增长3.7%；消费倾向64.6%，低于上年同期的65.5%</a:t>
            </a:r>
            <a:endParaRPr lang="zh-CN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挣得慢了，花得也少了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：按2025年数据粗算，消费倾向每回升1个百分点，约对应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6000亿元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居民消费。</a:t>
            </a:r>
            <a:endParaRPr lang="zh-CN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资料来源：国家统计局住户调查；平均消费倾向与6000亿元为作者计算。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收入中位数只有平均数的83%，上半年收入增速低于GDP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2026年上半年人均可支配收入（元）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4983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名义增长：平均数5.2%，中位数4.7%</a:t>
            </a:r>
            <a:endParaRPr lang="zh-CN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1444752"/>
            <a:ext cx="6613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居民人均可支配收入与GDP实际增速（%）</a:t>
            </a:r>
            <a:endParaRPr lang="zh-CN" sz="15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5029200" y="1783080"/>
          <a:ext cx="6613855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多数家庭的感受取决于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中位数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收入稳不稳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；上半年财产净收入仅增长1.1%，资产端也没有“加分”。</a:t>
            </a:r>
            <a:endParaRPr lang="zh-CN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资料来源：国家统计局住户调查与国民经济核算。2026年上半年居民收入实际增长4.2%，GDP增长4.7%。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总体就业基本稳定，压力集中在青年和新进入者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城镇调查失业率（%）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7223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097280" y="5376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2025年（月）</a:t>
            </a:r>
            <a:endParaRPr lang="zh-CN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023360" y="5376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2026年（月）</a:t>
            </a:r>
            <a:endParaRPr lang="zh-CN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1508760"/>
            <a:ext cx="3550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1270万</a:t>
            </a:r>
            <a:endParaRPr lang="zh-CN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8092440" y="2112264"/>
            <a:ext cx="3550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2026届高校毕业生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比上届多48万</a:t>
            </a:r>
            <a:endParaRPr lang="zh-CN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092440" y="2807208"/>
            <a:ext cx="3550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18.9%</a:t>
            </a:r>
            <a:endParaRPr lang="zh-CN" sz="3400" dirty="0"/>
          </a:p>
        </p:txBody>
      </p:sp>
      <p:sp>
        <p:nvSpPr>
          <p:cNvPr id="18" name="Text 14"/>
          <p:cNvSpPr txBox="1"/>
          <p:nvPr/>
        </p:nvSpPr>
        <p:spPr>
          <a:xfrm>
            <a:off x="8092440" y="3410712"/>
            <a:ext cx="3550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8月16—24岁失业率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与上年同期持平</a:t>
            </a:r>
            <a:endParaRPr lang="zh-CN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092440" y="4105656"/>
            <a:ext cx="3550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+2.3%</a:t>
            </a:r>
            <a:endParaRPr lang="zh-CN" sz="3400" dirty="0"/>
          </a:p>
        </p:txBody>
      </p:sp>
      <p:sp>
        <p:nvSpPr>
          <p:cNvPr id="20" name="Text 16"/>
          <p:cNvSpPr txBox="1"/>
          <p:nvPr/>
        </p:nvSpPr>
        <p:spPr>
          <a:xfrm>
            <a:off x="8092440" y="4709160"/>
            <a:ext cx="3550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2025年农民工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月均收入增速</a:t>
            </a:r>
            <a:endParaRPr lang="zh-CN" sz="1400" dirty="0"/>
          </a:p>
        </p:txBody>
      </p:sp>
      <p:sp>
        <p:nvSpPr>
          <p:cNvPr id="21" name="Shape 17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失业率看“有没有工作”，消费更看“收入稳不稳”：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青年、灵活就业和订单型收入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的波动，会先压缩大额支出。</a:t>
            </a:r>
            <a:endParaRPr lang="zh-CN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资料来源：国家统计局；教育部。青年失业率为不含在校生口径，8月含毕业季因素。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敢不敢花，取决于对长期收入和未来负担的判断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481328"/>
            <a:ext cx="11094415" cy="10972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481328"/>
            <a:ext cx="73152" cy="10972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1481328"/>
            <a:ext cx="1068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2026年诺贝尔经济学奖（10月12日）</a:t>
            </a:r>
            <a:endParaRPr lang="zh-CN" sz="18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授予霍尔（R. Hall）与伍德福德（M. Woodford），表彰其“为宏观经济稳定奠定微观基础”。霍尔的经典发现：消费只对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关于长期收入的新消息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作出反应，临时变化大多被平滑掉。</a:t>
            </a:r>
            <a:endParaRPr lang="zh-CN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788920"/>
            <a:ext cx="531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一次性收入</a:t>
            </a:r>
            <a:endParaRPr lang="zh-CN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227832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奖金、消费券、临时补贴</a:t>
            </a:r>
            <a:endParaRPr lang="zh-CN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630168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宽裕家庭多存，手头紧的家庭多花：发给谁很关键</a:t>
            </a:r>
            <a:endParaRPr lang="zh-CN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324448" y="2788920"/>
            <a:ext cx="531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持续性收入与保障预期</a:t>
            </a:r>
            <a:endParaRPr lang="zh-CN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324448" y="3227832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稳定的工作、可预期的养老医疗保障</a:t>
            </a:r>
            <a:endParaRPr lang="zh-CN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24448" y="3630168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才会改变换房、换车等大额、长期的决策</a:t>
            </a:r>
            <a:endParaRPr lang="zh-CN" sz="1700" dirty="0"/>
          </a:p>
        </p:txBody>
      </p:sp>
      <p:sp>
        <p:nvSpPr>
          <p:cNvPr id="20" name="Shape 17"/>
          <p:cNvSpPr/>
          <p:nvPr/>
        </p:nvSpPr>
        <p:spPr>
          <a:xfrm>
            <a:off x="6095848" y="2834640"/>
            <a:ext cx="0" cy="12344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297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行为证据：消费倾向没有回到疫情前（第18页）；住户贷款净减少（第22页）。</a:t>
            </a:r>
            <a:endParaRPr lang="zh-CN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提振消费，既要让家庭对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未来收入和负担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有底，也要把钱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发给最需要的人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资料来源：诺贝尔奖官网公告（2026年10月12日）；中国人民银行；国家统计局。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居民贷款净减少、存款仍在积累：借钱意愿明显偏弱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住户存款年度增加额（万亿元）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680960" y="146304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2026年住户存贷款</a:t>
            </a:r>
            <a:endParaRPr lang="zh-CN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1920240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+9.39万亿元</a:t>
            </a:r>
            <a:endParaRPr lang="zh-CN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2578608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住户存款增加（1—9月）</a:t>
            </a:r>
            <a:endParaRPr lang="zh-CN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3383280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-1.03万亿元</a:t>
            </a:r>
            <a:endParaRPr lang="zh-CN" sz="32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4041648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住户贷款净减少（1—8月）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上年同期为增加0.71万亿元</a:t>
            </a:r>
            <a:endParaRPr lang="zh-CN" sz="1500" dirty="0"/>
          </a:p>
        </p:txBody>
      </p:sp>
      <p:sp>
        <p:nvSpPr>
          <p:cNvPr id="18" name="Shape 14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存款增加≠有钱不花（也有资产“搬家”）；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贷款净减少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是更清楚的信号：家庭借钱的意愿明显偏弱。</a:t>
            </a:r>
            <a:endParaRPr lang="zh-CN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资料来源：中国人民银行金融统计数据（2026年10月14日发布）。增量不是余额，也不是储蓄率。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房地产仍在调整：新房销售面积不到2021年的一半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全国新建商品房销售面积（亿平方米）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309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178040" y="1463040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2026年1—8月：新房销售面积 -12.1%，二手房网签面积 +10.6%</a:t>
            </a:r>
            <a:endParaRPr lang="zh-CN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2286000"/>
            <a:ext cx="4465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8月住宅价格同比（%）</a:t>
            </a:r>
            <a:endParaRPr lang="zh-CN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651760"/>
          <a:ext cx="4465015" cy="914400"/>
        </p:xfrm>
        <a:graphic>
          <a:graphicData uri="http://schemas.openxmlformats.org/drawingml/2006/table">
            <a:tbl>
              <a:tblPr/>
              <a:tblGrid>
                <a:gridCol w="1518105"/>
                <a:gridCol w="1473455"/>
                <a:gridCol w="1473455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二手房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杭州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-3.5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宁波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-2.7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温州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-3.8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-5.3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7178040" y="4434840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三市为70城样本，不代表全省</a:t>
            </a:r>
            <a:endParaRPr lang="zh-CN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房子是中国家庭最大的资产：价格预期不稳，家庭的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“财富感”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换房链条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都受影响（机制见第34页）。</a:t>
            </a:r>
            <a:endParaRPr lang="zh-CN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资料来源：国家统计局；住房城乡建设部。房价为70个大中城市住宅销售价格指数（上年同月=100）。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股市两年回升后今年回调：财富效应有“门槛”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沪深300指数年度涨跌幅（%）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680960" y="1463040"/>
            <a:ext cx="3962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股市与家庭财富</a:t>
            </a:r>
            <a:endParaRPr lang="zh-CN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1965960"/>
            <a:ext cx="39620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波动大：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2022年下跌21.6%，2024、2025年回升，今年前三季度回调5.9%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覆盖窄：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持股集中在部分家庭，多数家庭的资产以住房和存款为主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怎样影响消费：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通过财富感和资产收入，机制见第35页</a:t>
            </a:r>
            <a:endParaRPr lang="zh-CN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股市的财富效应集中在持股家庭，要“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赚得到、拿得出、靠得住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”才会变成消费（第35页）。</a:t>
            </a:r>
            <a:endParaRPr lang="zh-CN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资料来源：中证指数有限公司（价格指数，不含分红再投资）。2026年为1—9月。本页不构成投资建议。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利率处在低位，居民贷款仍在收缩：约束主要在需求侧</a:t>
            </a:r>
            <a:endParaRPr lang="zh-CN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贷款用途（2026年二季度末）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余额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个人住房贷款（人民币）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36.29万亿元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-3.8%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不含住房的消费贷款（本外币）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20.83万亿元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-1.7%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住户经营性贷款（本外币）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25.79万亿元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507B9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+2.8%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住户贷款合计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82.91万亿元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-1.3%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44348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上半年个人住房贷款减少7163亿元</a:t>
            </a:r>
            <a:endParaRPr lang="zh-CN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1554480"/>
            <a:ext cx="3779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4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约3.1%</a:t>
            </a:r>
            <a:endParaRPr lang="zh-CN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7863840" y="2331720"/>
            <a:ext cx="3779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2026年6月新发放个人住房贷款利率，处于历史低位</a:t>
            </a:r>
            <a:endParaRPr lang="zh-CN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863840" y="3200400"/>
            <a:ext cx="37792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利率低、贷款仍收缩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约束主要不在“借不到”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更多是“不想借、不敢借”</a:t>
            </a:r>
            <a:endParaRPr lang="zh-CN" sz="1700" dirty="0"/>
          </a:p>
        </p:txBody>
      </p:sp>
      <p:sp>
        <p:nvSpPr>
          <p:cNvPr id="16" name="Shape 1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约束主要在需求侧：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收入预期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房价预期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。住户经营贷仍在增长，与浙江的个体户、小微经营密切相关。</a:t>
            </a:r>
            <a:endParaRPr lang="zh-CN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资料来源：中国人民银行金融机构贷款投向统计报告、货币政策执行报告。住房贷款为人民币口径，其余为本外币。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老龄化改变的是“买什么”：服务需求在升，供给要跟上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60岁及以上人口占总人口比重（%）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766560" y="1481328"/>
            <a:ext cx="48764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老年家庭：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照护、康复、助餐、适老化改造；对看病养老的“风险”更敏感，保障越不确定越要多存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有孩家庭：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托育、教育、亲子服务；时间约束和费用约束并存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小家庭、独居：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家政、维修、外卖等“替代家务”的服务需求上升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人口结构提示的是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需求方向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，不是现成的市场规模：关键在服务供给能不能跟上。</a:t>
            </a:r>
            <a:endParaRPr lang="zh-CN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资料来源：国家统计局第七次全国人口普查、历年国民经济和社会发展统计公报。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需求已经存在，交易却卡在“找不到、信不过、退不了”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1790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1463040"/>
            <a:ext cx="515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教学场景：为老人购买上门照护</a:t>
            </a:r>
            <a:endParaRPr lang="zh-CN" sz="1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5318608" cy="914400"/>
        </p:xfrm>
        <a:graphic>
          <a:graphicData uri="http://schemas.openxmlformats.org/drawingml/2006/table">
            <a:tbl>
              <a:tblPr/>
              <a:tblGrid>
                <a:gridCol w="2393373"/>
                <a:gridCol w="2925234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家庭的需要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付款前的顾虑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每周固定上门，时间衔接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附近有没有供给？临时缺人怎么办？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稳定的护理人员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收费含哪些项目？会不会临时加价？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可验证的专业能力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质量怎么核实？预付款能否退？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324448" y="151790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89040" y="1463040"/>
            <a:ext cx="515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真实案例：衢州2025年度消费维权</a:t>
            </a:r>
            <a:endParaRPr lang="zh-CN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6324448" y="1965960"/>
            <a:ext cx="53186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口腔医疗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：种植牙基台品牌与约定不符（开化）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美容服务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：商家承诺的祛痘效果被认定为合同内容，退还1.15万元（柯城）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老年消费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：保健品“会议营销”，为老年人追回10余万元（江山）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家政服务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：平台下单的家政服务纠纷，经调解全额退还600元</a:t>
            </a:r>
            <a:endParaRPr lang="zh-CN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有钱、有需要之后，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可得性与可信度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仍可能挡住交易——这正是市场监管的着力点（第六部分）。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资料来源：衢州市2025年度消费维权典型案例（2026年3月发布）；市场监管总局。左侧为虚拟教学场景。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四道门槛的证据：前两道管总量，后两道管交易</a:t>
            </a:r>
            <a:endParaRPr lang="zh-CN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572000"/>
                <a:gridCol w="1645920"/>
                <a:gridCol w="33192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本部分的证据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证据强度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仍需回答的问题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付得起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收入增速放缓；中位数仅为平均数的83%；青年失业率高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哪些群体的收入稳定性承压最大？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敢花钱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消费倾向未回到疫情前；存款持续增加、贷款净减少；房价调整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是预防性储蓄，还是资产再配置？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买得到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服务快于商品；照护、托育等供给缺口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较弱（间接）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本地哪些服务“有需求、无供给”？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信得过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预付式、价格、质量等投诉高发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较弱（间接）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本地最高频的交易障碍是什么？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120640"/>
            <a:ext cx="11094415" cy="8686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120640"/>
            <a:ext cx="10682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宏观上，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收入与预期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是首要约束；在职责上，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交易信任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是市场监管能直接改善的那一块——信任改善，同样的收入更愿意花出去。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说明：仅归纳P14—P27的证据；“证据强度”指证据的直接程度，不代表各因素的贡献权重。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有房、有存款，为什么还推迟一笔支出？</a:t>
            </a:r>
            <a:endParaRPr lang="zh-CN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120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家庭资产与负债（教学假设）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住房市值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300万元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银行存款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30万元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房贷余额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105万元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净资产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225万元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217920" y="1600200"/>
            <a:ext cx="5425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想换一辆20万元的车，却一直犹豫。</a:t>
            </a:r>
            <a:br/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仅凭“家底”，能判断这个家庭现在敢花多少钱吗？</a:t>
            </a:r>
            <a:endParaRPr lang="zh-CN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2971800"/>
            <a:ext cx="5425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还需要知道：</a:t>
            </a:r>
            <a:endParaRPr lang="zh-CN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3383280"/>
            <a:ext cx="54251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每月收入多少、稳不稳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每月要还多少钱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未来几年有哪些必须花的大钱</a:t>
            </a:r>
            <a:endParaRPr lang="zh-CN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下半场：把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收入、现金和家底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放进同一本账里看。</a:t>
            </a:r>
            <a:endParaRPr lang="zh-CN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说明：虚拟家庭教学假设，不采集学员个人财产信息。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5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休息10分钟</a:t>
            </a:r>
            <a:endParaRPr lang="zh-CN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第58分钟继续</a:t>
            </a:r>
            <a:endParaRPr lang="zh-CN" sz="2400" dirty="0"/>
          </a:p>
        </p:txBody>
      </p:sp>
      <p:sp>
        <p:nvSpPr>
          <p:cNvPr id="5" name="Shape 3"/>
          <p:cNvSpPr/>
          <p:nvPr/>
        </p:nvSpPr>
        <p:spPr>
          <a:xfrm>
            <a:off x="1005840" y="3886200"/>
            <a:ext cx="5943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114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下半场：三本账　·　浙江观察　·　市场监管的着力点</a:t>
            </a:r>
            <a:endParaRPr lang="zh-CN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　三账联读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约束怎样形成，政策怎样起作用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 · 第58—83分钟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三本账，每本都要看三个维度：家底、收支、现金</a:t>
            </a:r>
            <a:endParaRPr lang="zh-CN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834640"/>
                <a:gridCol w="26791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家底｜资产负债（时点）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房产、存款、房贷余额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厂房设备、应收账款、银行借款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国有资产、债务余额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收支｜收入支出（期间）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工资、经营所得、生活支出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营业收入、成本、利润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税收、土地出让收入、各项支出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现金｜钱何时到、何时付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工资到账、月供扣款、备用金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回款、付货款、发工资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库款、到期偿债、资金拨付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937760"/>
            <a:ext cx="11094415" cy="6858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4937760"/>
            <a:ext cx="73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4672" y="4937760"/>
            <a:ext cx="10682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资产减负债是净资产，不是可支配收入：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有家底不等于有现金，有利润也不等于有现金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说明：“三本账”是分析视角，不是要求市场监管部门另行采集家庭或企业财务报表。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一个家庭的月度现金账：18000元是怎么分出去的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640080" y="5257800"/>
            <a:ext cx="62636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057400"/>
            <a:ext cx="960120" cy="320040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16916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18,000</a:t>
            </a:r>
            <a:endParaRPr lang="zh-CN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每月到账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1783080" y="2057400"/>
            <a:ext cx="2743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2057400" y="2057400"/>
            <a:ext cx="960120" cy="15113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874520" y="16916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-8,500</a:t>
            </a:r>
            <a:endParaRPr lang="zh-CN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7452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日常生活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3017520" y="3568700"/>
            <a:ext cx="2743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3291840" y="3568700"/>
            <a:ext cx="960120" cy="8001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108960" y="32029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-4,500</a:t>
            </a:r>
            <a:endParaRPr lang="zh-CN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10896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房贷月供</a:t>
            </a:r>
            <a:endParaRPr lang="zh-CN" sz="1400" dirty="0"/>
          </a:p>
        </p:txBody>
      </p:sp>
      <p:sp>
        <p:nvSpPr>
          <p:cNvPr id="23" name="Shape 20"/>
          <p:cNvSpPr/>
          <p:nvPr/>
        </p:nvSpPr>
        <p:spPr>
          <a:xfrm>
            <a:off x="4251960" y="4368800"/>
            <a:ext cx="2743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4526280" y="4368800"/>
            <a:ext cx="960120" cy="53340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40030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-3,000</a:t>
            </a:r>
            <a:endParaRPr lang="zh-CN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34340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转入备用金</a:t>
            </a:r>
            <a:endParaRPr lang="zh-CN" sz="1400" dirty="0"/>
          </a:p>
        </p:txBody>
      </p:sp>
      <p:sp>
        <p:nvSpPr>
          <p:cNvPr id="27" name="Shape 24"/>
          <p:cNvSpPr/>
          <p:nvPr/>
        </p:nvSpPr>
        <p:spPr>
          <a:xfrm>
            <a:off x="5486400" y="4902200"/>
            <a:ext cx="2743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5760720" y="4902200"/>
            <a:ext cx="960120" cy="35560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77840" y="453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2,000</a:t>
            </a:r>
            <a:endParaRPr lang="zh-CN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57784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可灵活支出</a:t>
            </a:r>
            <a:endParaRPr lang="zh-CN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元/月（教学假设）</a:t>
            </a:r>
            <a:endParaRPr lang="zh-CN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0" y="1508760"/>
            <a:ext cx="43278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到账18000元：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工资14000元＋小店提取4000元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备用金3000元：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为上学、看病、小店周转预留，不是当期消费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可灵活支出2000元：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换车、装修、旅行都从这里出，或动用存款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30万元存款：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早有用途：应急、教育、经营周转</a:t>
            </a:r>
            <a:endParaRPr lang="zh-CN" sz="1800" dirty="0"/>
          </a:p>
        </p:txBody>
      </p:sp>
      <p:sp>
        <p:nvSpPr>
          <p:cNvPr id="33" name="Shape 3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刚性支出先扣，被挤压的是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“可灵活支出”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——大额消费都要从这一小块里出。</a:t>
            </a:r>
            <a:endParaRPr lang="zh-CN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说明：教学假设；到账金额不是统计意义的可支配收入，月结余不是消费能力上限。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收入不变，月供或备用金一变，灵活支出就归零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2880360" y="1536192"/>
            <a:ext cx="201168" cy="20116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5468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日常生活</a:t>
            </a:r>
            <a:endParaRPr lang="zh-CN" sz="1400" dirty="0"/>
          </a:p>
        </p:txBody>
      </p:sp>
      <p:sp>
        <p:nvSpPr>
          <p:cNvPr id="13" name="Shape 10"/>
          <p:cNvSpPr/>
          <p:nvPr/>
        </p:nvSpPr>
        <p:spPr>
          <a:xfrm>
            <a:off x="4572000" y="1536192"/>
            <a:ext cx="201168" cy="20116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债务偿付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6263640" y="1536192"/>
            <a:ext cx="201168" cy="201168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3796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备用金</a:t>
            </a:r>
            <a:endParaRPr lang="zh-CN" sz="1400" dirty="0"/>
          </a:p>
        </p:txBody>
      </p:sp>
      <p:sp>
        <p:nvSpPr>
          <p:cNvPr id="17" name="Shape 14"/>
          <p:cNvSpPr/>
          <p:nvPr/>
        </p:nvSpPr>
        <p:spPr>
          <a:xfrm>
            <a:off x="7955280" y="1536192"/>
            <a:ext cx="201168" cy="201168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可灵活支出</a:t>
            </a:r>
            <a:endParaRPr lang="zh-CN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057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　基准</a:t>
            </a:r>
            <a:endParaRPr lang="zh-CN" sz="1700" dirty="0"/>
          </a:p>
        </p:txBody>
      </p:sp>
      <p:sp>
        <p:nvSpPr>
          <p:cNvPr id="20" name="Shape 17"/>
          <p:cNvSpPr/>
          <p:nvPr/>
        </p:nvSpPr>
        <p:spPr>
          <a:xfrm>
            <a:off x="2880360" y="2057400"/>
            <a:ext cx="3090672" cy="6858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8036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8,500</a:t>
            </a:r>
            <a:endParaRPr lang="zh-CN" sz="1500" dirty="0"/>
          </a:p>
        </p:txBody>
      </p:sp>
      <p:sp>
        <p:nvSpPr>
          <p:cNvPr id="22" name="Shape 19"/>
          <p:cNvSpPr/>
          <p:nvPr/>
        </p:nvSpPr>
        <p:spPr>
          <a:xfrm>
            <a:off x="5989320" y="2057400"/>
            <a:ext cx="162763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89320" y="2057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4,500</a:t>
            </a:r>
            <a:endParaRPr lang="zh-CN" sz="1500" dirty="0"/>
          </a:p>
        </p:txBody>
      </p:sp>
      <p:sp>
        <p:nvSpPr>
          <p:cNvPr id="24" name="Shape 21"/>
          <p:cNvSpPr/>
          <p:nvPr/>
        </p:nvSpPr>
        <p:spPr>
          <a:xfrm>
            <a:off x="7635240" y="2057400"/>
            <a:ext cx="1078992" cy="68580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35240" y="2057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3,000</a:t>
            </a:r>
            <a:endParaRPr lang="zh-CN" sz="1500" dirty="0"/>
          </a:p>
        </p:txBody>
      </p:sp>
      <p:sp>
        <p:nvSpPr>
          <p:cNvPr id="26" name="Shape 23"/>
          <p:cNvSpPr/>
          <p:nvPr/>
        </p:nvSpPr>
        <p:spPr>
          <a:xfrm>
            <a:off x="8732520" y="2057400"/>
            <a:ext cx="713232" cy="68580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32520" y="20574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2,000</a:t>
            </a:r>
            <a:endParaRPr lang="zh-CN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573768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灵活支出 2000</a:t>
            </a:r>
            <a:endParaRPr lang="zh-CN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　月供+2000</a:t>
            </a:r>
            <a:endParaRPr lang="zh-CN" sz="1700" dirty="0"/>
          </a:p>
        </p:txBody>
      </p:sp>
      <p:sp>
        <p:nvSpPr>
          <p:cNvPr id="30" name="Shape 27"/>
          <p:cNvSpPr/>
          <p:nvPr/>
        </p:nvSpPr>
        <p:spPr>
          <a:xfrm>
            <a:off x="2880360" y="3108960"/>
            <a:ext cx="3090672" cy="6858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880360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8,500</a:t>
            </a:r>
            <a:endParaRPr lang="zh-CN" sz="1500" dirty="0"/>
          </a:p>
        </p:txBody>
      </p:sp>
      <p:sp>
        <p:nvSpPr>
          <p:cNvPr id="32" name="Shape 29"/>
          <p:cNvSpPr/>
          <p:nvPr/>
        </p:nvSpPr>
        <p:spPr>
          <a:xfrm>
            <a:off x="5989320" y="3108960"/>
            <a:ext cx="2359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89320" y="3108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6,500</a:t>
            </a:r>
            <a:endParaRPr lang="zh-CN" sz="1500" dirty="0"/>
          </a:p>
        </p:txBody>
      </p:sp>
      <p:sp>
        <p:nvSpPr>
          <p:cNvPr id="34" name="Shape 31"/>
          <p:cNvSpPr/>
          <p:nvPr/>
        </p:nvSpPr>
        <p:spPr>
          <a:xfrm>
            <a:off x="8366760" y="3108960"/>
            <a:ext cx="1078992" cy="68580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66760" y="3108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3,000</a:t>
            </a:r>
            <a:endParaRPr lang="zh-CN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9573768" y="3108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灵活支出 0</a:t>
            </a:r>
            <a:endParaRPr lang="zh-CN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4160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　备用金+2000</a:t>
            </a:r>
            <a:endParaRPr lang="zh-CN" sz="1700" dirty="0"/>
          </a:p>
        </p:txBody>
      </p:sp>
      <p:sp>
        <p:nvSpPr>
          <p:cNvPr id="38" name="Shape 35"/>
          <p:cNvSpPr/>
          <p:nvPr/>
        </p:nvSpPr>
        <p:spPr>
          <a:xfrm>
            <a:off x="2880360" y="4160520"/>
            <a:ext cx="3090672" cy="6858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88036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8,500</a:t>
            </a:r>
            <a:endParaRPr lang="zh-CN" sz="1500" dirty="0"/>
          </a:p>
        </p:txBody>
      </p:sp>
      <p:sp>
        <p:nvSpPr>
          <p:cNvPr id="40" name="Shape 37"/>
          <p:cNvSpPr/>
          <p:nvPr/>
        </p:nvSpPr>
        <p:spPr>
          <a:xfrm>
            <a:off x="5989320" y="4160520"/>
            <a:ext cx="162763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989320" y="4160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4,500</a:t>
            </a:r>
            <a:endParaRPr lang="zh-CN" sz="1500" dirty="0"/>
          </a:p>
        </p:txBody>
      </p:sp>
      <p:sp>
        <p:nvSpPr>
          <p:cNvPr id="42" name="Shape 39"/>
          <p:cNvSpPr/>
          <p:nvPr/>
        </p:nvSpPr>
        <p:spPr>
          <a:xfrm>
            <a:off x="7635240" y="4160520"/>
            <a:ext cx="1810512" cy="68580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635240" y="4160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5,000</a:t>
            </a:r>
            <a:endParaRPr lang="zh-CN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9573768" y="4160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灵活支出 0</a:t>
            </a:r>
            <a:endParaRPr lang="zh-CN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B：新增一笔借款（如装修贷、经营周转贷），月供上升（偿债压力）　　C：担心收入不稳而多存（预防性储蓄）</a:t>
            </a:r>
            <a:endParaRPr lang="zh-CN" sz="1500" dirty="0"/>
          </a:p>
        </p:txBody>
      </p:sp>
      <p:sp>
        <p:nvSpPr>
          <p:cNvPr id="46" name="Shape 4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月供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预防性储蓄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挤占的是同一块钱：收入一分没少，大额消费却先被推迟。</a:t>
            </a:r>
            <a:endParaRPr lang="zh-CN" sz="18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说明：教学反事实算例，一次只改变一个条件；本金偿还属于现金流出，不列为消费支出。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房价变化通过不同渠道影响家庭，方向并不相同</a:t>
            </a:r>
            <a:endParaRPr lang="zh-CN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53309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家庭处境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主要渠道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对消费的可能影响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已有住房、暂不交易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账面财富、“财富感”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没有现金损失，但财富感下降，花钱更谨慎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计划买房或换房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首付、总价、未来月供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门槛下降；但若预期继续跌，选择观望，装修家居链条随之放缓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有按揭、继续居住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每月偿付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与房价无直接关系，取决于利率、期限和收入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个体户、小微经营者（以房抵押）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抵押品价值→经营贷额度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可贷额度下降→经营收缩→家庭收入下降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5257800"/>
            <a:ext cx="73152" cy="7315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257800"/>
            <a:ext cx="10682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房价对消费的影响，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不是一个方向、也不是一个幅度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；在小微经营者多的浙江，“抵押品渠道”值得特别关注。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说明：经济机制分析，账面价值变化不能机械换算为当期消费增减。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股票财富变成消费，要过“持有、可支配、可持续”三关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2743200" cy="6400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第一关　持有</a:t>
            </a:r>
            <a:endParaRPr lang="zh-CN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2240280"/>
            <a:ext cx="2743200" cy="16002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家里有没有股票、持有多少？</a:t>
            </a:r>
            <a:endParaRPr lang="zh-CN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持股集中在部分家庭</a:t>
            </a:r>
            <a:endParaRPr lang="zh-CN" sz="1500" dirty="0"/>
          </a:p>
        </p:txBody>
      </p:sp>
      <p:sp>
        <p:nvSpPr>
          <p:cNvPr id="16" name="Shape 13"/>
          <p:cNvSpPr/>
          <p:nvPr/>
        </p:nvSpPr>
        <p:spPr>
          <a:xfrm>
            <a:off x="3364992" y="2834640"/>
            <a:ext cx="310896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749040" y="1600200"/>
            <a:ext cx="2743200" cy="6400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4904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第二关　可支配</a:t>
            </a:r>
            <a:endParaRPr lang="zh-CN" sz="2000" dirty="0"/>
          </a:p>
        </p:txBody>
      </p:sp>
      <p:sp>
        <p:nvSpPr>
          <p:cNvPr id="19" name="Shape 16"/>
          <p:cNvSpPr/>
          <p:nvPr/>
        </p:nvSpPr>
        <p:spPr>
          <a:xfrm>
            <a:off x="3749040" y="2240280"/>
            <a:ext cx="2743200" cy="16002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3192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账面盈利能不能变成现金？</a:t>
            </a:r>
            <a:endParaRPr lang="zh-CN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账面≠已实现≠可随时动用</a:t>
            </a:r>
            <a:endParaRPr lang="zh-CN" sz="1500" dirty="0"/>
          </a:p>
        </p:txBody>
      </p:sp>
      <p:sp>
        <p:nvSpPr>
          <p:cNvPr id="22" name="Shape 19"/>
          <p:cNvSpPr/>
          <p:nvPr/>
        </p:nvSpPr>
        <p:spPr>
          <a:xfrm>
            <a:off x="6565392" y="2834640"/>
            <a:ext cx="310896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949440" y="1600200"/>
            <a:ext cx="2743200" cy="6400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4944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第三关　可持续</a:t>
            </a:r>
            <a:endParaRPr lang="zh-CN" sz="2000" dirty="0"/>
          </a:p>
        </p:txBody>
      </p:sp>
      <p:sp>
        <p:nvSpPr>
          <p:cNvPr id="25" name="Shape 22"/>
          <p:cNvSpPr/>
          <p:nvPr/>
        </p:nvSpPr>
        <p:spPr>
          <a:xfrm>
            <a:off x="6949440" y="2240280"/>
            <a:ext cx="2743200" cy="16002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3232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家庭是否相信收益能持续？</a:t>
            </a:r>
            <a:endParaRPr lang="zh-CN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大起大落时不会据此增加长期支出</a:t>
            </a:r>
            <a:endParaRPr lang="zh-CN" sz="1500" dirty="0"/>
          </a:p>
        </p:txBody>
      </p:sp>
      <p:sp>
        <p:nvSpPr>
          <p:cNvPr id="28" name="Shape 25"/>
          <p:cNvSpPr/>
          <p:nvPr/>
        </p:nvSpPr>
        <p:spPr>
          <a:xfrm>
            <a:off x="10058400" y="2103120"/>
            <a:ext cx="1584655" cy="9144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131552" y="2103120"/>
            <a:ext cx="14383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</a:t>
            </a:r>
            <a:br/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</a:t>
            </a:r>
            <a:endParaRPr lang="zh-CN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研究普遍发现：股票财富的消费效应小于收入的效应，且集中在中高收入家庭。</a:t>
            </a:r>
            <a:endParaRPr lang="zh-CN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市场回报只是起点，消费反应取决于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谁持有、能否变现、是否持续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说明：机制分析，不预测市场涨跌，不提供投资建议。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同一次降息，对储蓄家庭和负债家庭的影响方向相反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5318608" cy="54864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55448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净储蓄家庭</a:t>
            </a:r>
            <a:endParaRPr lang="zh-CN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利息收入减少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可能转向理财、股市等资产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依靠利息补贴生活的老年家庭，可能更谨慎</a:t>
            </a:r>
            <a:endParaRPr lang="zh-CN" sz="1800" dirty="0"/>
          </a:p>
        </p:txBody>
      </p:sp>
      <p:sp>
        <p:nvSpPr>
          <p:cNvPr id="14" name="Shape 11"/>
          <p:cNvSpPr/>
          <p:nvPr/>
        </p:nvSpPr>
        <p:spPr>
          <a:xfrm>
            <a:off x="6324448" y="1554480"/>
            <a:ext cx="5318608" cy="54864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24448" y="155448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负债家庭</a:t>
            </a:r>
            <a:endParaRPr lang="zh-CN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月供可能减少——前提是贷款重新定价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可以借更多，但要靠未来收入偿还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收入预期不改善，低利率也难让家庭多借</a:t>
            </a:r>
            <a:endParaRPr lang="zh-CN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160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提示：新发放贷款利率（2026年6月新发放房贷约3.1%）不等于存量贷款利率；存量浮动利率房贷一般在重定价日才随LPR调整。</a:t>
            </a:r>
            <a:endParaRPr lang="zh-CN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5029200"/>
            <a:ext cx="11094415" cy="7772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5029200"/>
            <a:ext cx="73152" cy="77724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" y="5029200"/>
            <a:ext cx="10682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降息把利息收入从储蓄者转给借款者：借款者花钱的倾向更高，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总效应取决于两者之差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——不是对所有家庭都一样的“刺激”。</a:t>
            </a:r>
            <a:endParaRPr lang="zh-CN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说明：方向性机制分析，不把新发放贷款利率当作所有存量贷款利率。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企业账：销售、利润、回款是三笔不同的账</a:t>
            </a:r>
            <a:endParaRPr lang="zh-CN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8521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同一家庭的小店（教学假设）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当月已确认销售收入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10万元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当月成本费用（当月付清）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9万元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账面利润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507B9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+1万元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当月实际收到货款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8万元（2万未回款）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经营现金收支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-1万元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812280" y="1554480"/>
            <a:ext cx="48307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有利润，可能没现金：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客户拖欠2万元，当月经营现金少了1万元。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传到家庭账上：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本月提不出那4000元：家庭到账降到14000元，灵活支出变成-2000元，只能停存备用金或动用存款。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清欠跨部门：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2025年修订的《反不正当竞争法》对大型企业滥用优势地位拖欠中小企业账款作了规定；市场监管依职责配合。</a:t>
            </a:r>
            <a:endParaRPr lang="zh-CN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企业的“回款难”，会变成家庭的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“现金紧”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——清理拖欠，也是在稳消费。</a:t>
            </a:r>
            <a:endParaRPr lang="zh-CN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说明：教学假设，与第32页为同一家庭；忽略税费。《反不正当竞争法》2025年6月修订、10月15日施行。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固定成本放大波动：销量降10%，利润降40%</a:t>
            </a:r>
            <a:endParaRPr lang="zh-CN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项目（万元/月）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销量下降10%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销售收入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变动成本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固定成本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0.6（-40%）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492240" y="1508760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今年的另一道“剪刀”：2026年9月同比（%）</a:t>
            </a:r>
            <a:endParaRPr lang="zh-CN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92240" y="1874520"/>
          <a:ext cx="5150815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6492240" y="4206240"/>
            <a:ext cx="5150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上游原材料、能源涨价快，终端价格涨得慢：中下游企业成本压力上升；若再叠加“内卷式”价格战，利润更薄。</a:t>
            </a:r>
            <a:endParaRPr lang="zh-CN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利润的波动，最终传到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工时、奖金和经营所得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上：治理“内卷式”竞争，也是在稳家庭收入。</a:t>
            </a:r>
            <a:endParaRPr lang="zh-CN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资料来源：左表为教学测算；右图为国家统计局2026年9月数据。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政府账：土地收入下降近三成，财政收支紧平衡</a:t>
            </a:r>
            <a:endParaRPr lang="zh-CN" sz="2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00200"/>
                <a:gridCol w="2697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2026年1—8月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一般公共预算收入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15.66万亿元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+5.7%（税收+6.6%）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一般公共预算支出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18.15万亿元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+1.2%（地方+0.3%）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国有土地使用权出让收入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1.38万亿元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-28.6%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政府性基金预算收入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2.14万亿元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-19.0%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818120" y="1554480"/>
            <a:ext cx="382493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土地收入下降：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地方政府性基金的主要来源持续收缩，可用财力被压缩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支出增长放缓：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地方支出仅增长0.3%，先保工资、运转和基本民生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税收回升：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与名义增速回升有关，结构上仍偏紧</a:t>
            </a:r>
            <a:endParaRPr lang="zh-CN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地方财力偏紧，促消费的钱要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花在刀刃上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：优先投向直接到家庭、到服务、到最需要群体的地方。</a:t>
            </a:r>
            <a:endParaRPr lang="zh-CN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资料来源：财政部2026年1—8月财政收支情况（2026年9月18日发布）。两本预算分口径列示，不能混加。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政府举债是跨期安排：关键看钱花在哪里、能否还得上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54480"/>
            <a:ext cx="1109441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跨期筹资：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经济偏弱时多借、经济好时多还，是正常的逆周期工具；但要靠未来的收入和增长偿还。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发债额≠消费增量：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用于基建的钱，经工程、订单、就业间接影响消费，时滞长；用于民生、社保和转移支付的钱，更直接进入家庭预算。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偿付约束：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利息和到期本金占用未来财力；用途决定债务是“包袱”还是“投资”。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不同于家庭：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政府承担公共职能，不能简单类比为“借消费贷的家庭”。</a:t>
            </a:r>
            <a:endParaRPr lang="zh-CN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343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钱花在哪里，决定传到家庭的速度：</a:t>
            </a:r>
            <a:endParaRPr lang="zh-CN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20802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4754880"/>
            <a:ext cx="1933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民生、社保、</a:t>
            </a:r>
            <a:br/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转移支付</a:t>
            </a:r>
            <a:endParaRPr lang="zh-CN" sz="1500" dirty="0"/>
          </a:p>
        </p:txBody>
      </p:sp>
      <p:sp>
        <p:nvSpPr>
          <p:cNvPr id="15" name="Shape 12"/>
          <p:cNvSpPr/>
          <p:nvPr/>
        </p:nvSpPr>
        <p:spPr>
          <a:xfrm>
            <a:off x="2683764" y="5084064"/>
            <a:ext cx="30175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040380" y="4754880"/>
            <a:ext cx="20802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13532" y="4754880"/>
            <a:ext cx="1933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直接进入</a:t>
            </a:r>
            <a:br/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家庭预算</a:t>
            </a:r>
            <a:endParaRPr lang="zh-CN" sz="1500" dirty="0"/>
          </a:p>
        </p:txBody>
      </p:sp>
      <p:sp>
        <p:nvSpPr>
          <p:cNvPr id="18" name="Shape 15"/>
          <p:cNvSpPr/>
          <p:nvPr/>
        </p:nvSpPr>
        <p:spPr>
          <a:xfrm>
            <a:off x="5486400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59552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基建项目</a:t>
            </a:r>
            <a:endParaRPr lang="zh-CN" sz="1500" dirty="0"/>
          </a:p>
        </p:txBody>
      </p:sp>
      <p:sp>
        <p:nvSpPr>
          <p:cNvPr id="20" name="Shape 17"/>
          <p:cNvSpPr/>
          <p:nvPr/>
        </p:nvSpPr>
        <p:spPr>
          <a:xfrm>
            <a:off x="6516563" y="5084064"/>
            <a:ext cx="210312" cy="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781739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4891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zh-CN" sz="1500" dirty="0"/>
          </a:p>
        </p:txBody>
      </p:sp>
      <p:sp>
        <p:nvSpPr>
          <p:cNvPr id="23" name="Shape 20"/>
          <p:cNvSpPr/>
          <p:nvPr/>
        </p:nvSpPr>
        <p:spPr>
          <a:xfrm>
            <a:off x="7811902" y="5084064"/>
            <a:ext cx="210312" cy="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077078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50230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</a:t>
            </a:r>
            <a:endParaRPr lang="zh-CN" sz="1500" dirty="0"/>
          </a:p>
        </p:txBody>
      </p:sp>
      <p:sp>
        <p:nvSpPr>
          <p:cNvPr id="26" name="Shape 23"/>
          <p:cNvSpPr/>
          <p:nvPr/>
        </p:nvSpPr>
        <p:spPr>
          <a:xfrm>
            <a:off x="9107241" y="5084064"/>
            <a:ext cx="210312" cy="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372417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569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</a:t>
            </a:r>
            <a:endParaRPr lang="zh-CN" sz="1500" dirty="0"/>
          </a:p>
        </p:txBody>
      </p:sp>
      <p:sp>
        <p:nvSpPr>
          <p:cNvPr id="29" name="Shape 26"/>
          <p:cNvSpPr/>
          <p:nvPr/>
        </p:nvSpPr>
        <p:spPr>
          <a:xfrm>
            <a:off x="10402580" y="5084064"/>
            <a:ext cx="210312" cy="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667756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740908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</a:t>
            </a:r>
            <a:endParaRPr lang="zh-CN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评价财政促消费，看三点：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钱给了谁、多快到位、能否持续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说明：机制分析，不对任何地方的债务风险作评价。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财政影响家庭消费的三条渠道：现金、服务、回款</a:t>
            </a:r>
            <a:endParaRPr lang="zh-CN" sz="2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4572000"/>
                <a:gridCol w="17647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渠道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首先改变什么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现金支持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家庭可支配收入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育儿补贴（3岁以下每孩每年3600元）；提高城乡居民基础养老金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公共服务与社会保障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当期负担与未来风险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逐步推行免费学前教育；医保、养老服务保障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慢而持久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采购、建设与清欠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企业订单与回款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政府采购；清理拖欠企业账款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经企业间接传导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937760"/>
            <a:ext cx="11094415" cy="6858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4937760"/>
            <a:ext cx="73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4937760"/>
            <a:ext cx="10682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服务和保障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降低的是“未来负担”，对“敢花钱”的作用最持久。</a:t>
            </a:r>
            <a:endParaRPr lang="zh-CN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资料来源：国务院、财政部公开政策文件。转移支付不重复计入最终消费；一般公共预算支出≠GDP中的政府消费。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视频：以旧换新——补贴之外，什么决定买不买？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6583680" cy="37033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68880"/>
            <a:ext cx="1005840" cy="1005840"/>
          </a:xfrm>
          <a:prstGeom prst="ellipse">
            <a:avLst/>
          </a:prstGeom>
          <a:solidFill>
            <a:srgbClr val="870C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3703320" y="2743200"/>
            <a:ext cx="384048" cy="4572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以旧换新 持续激发消费活力</a:t>
            </a:r>
            <a:endParaRPr lang="zh-CN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206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央视《新闻联播》　2026年5月16日　｜　2分12秒</a:t>
            </a:r>
            <a:endParaRPr lang="zh-CN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63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b="1" u="sng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央视网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点击打开央视官方视频（需联网）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7498080" y="160934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62672" y="155448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看片前的问题</a:t>
            </a:r>
            <a:endParaRPr lang="zh-CN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2011680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补贴之外，拆旧、配送、安装、售后，怎样影响一个家庭买不买？</a:t>
            </a:r>
            <a:endParaRPr lang="zh-CN" sz="1700" dirty="0"/>
          </a:p>
        </p:txBody>
      </p:sp>
      <p:sp>
        <p:nvSpPr>
          <p:cNvPr id="20" name="Shape 17"/>
          <p:cNvSpPr/>
          <p:nvPr/>
        </p:nvSpPr>
        <p:spPr>
          <a:xfrm>
            <a:off x="7498080" y="316382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62672" y="310896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看片后的要点</a:t>
            </a:r>
            <a:endParaRPr lang="zh-CN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3566160"/>
            <a:ext cx="41449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补贴降低购置成本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上门拆旧、安装、售后减少交易顾虑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“带动销售额”≠“新增消费”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价格激励和交易便利，共同决定一项促消费政策能不能落地。</a:t>
            </a:r>
            <a:endParaRPr lang="zh-CN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视频来源：央视网（2026年5月16日）。无网络时使用本页静态要点。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政策各管一道门槛：补贴的钱最终落进谁的口袋？</a:t>
            </a:r>
            <a:endParaRPr lang="zh-CN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0866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600200"/>
                <a:gridCol w="960120"/>
                <a:gridCol w="20116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政策工具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主要作用于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评估要看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购买补贴（以旧换新、消费券、有奖发票）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付得起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新增需求，还是提前购买、渠道替代？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收入与就业支持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付得起 ② 敢花钱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是否到达受约束的家庭？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公共服务与社会保障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敢花钱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慢而持久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未来负担是否下降？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交易环境改善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买得到 ④ 信得过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问题是否减少、体验是否改善？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909560" y="1554480"/>
            <a:ext cx="3733495" cy="39319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09560" y="1554480"/>
            <a:ext cx="3733495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92440" y="169164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一台空调补贴600元，谁拿到？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2176272"/>
            <a:ext cx="33677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若商家借机提价300元，消费者实得300元。</a:t>
            </a:r>
            <a:endParaRPr lang="zh-CN" sz="18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补贴归宿</a:t>
            </a: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取决于供求弹性：货紧、产能跟不上时，商家分走得多——这是市场规律，不违法。</a:t>
            </a:r>
            <a:endParaRPr lang="zh-CN" sz="18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zh-CN" sz="18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但虚构原价、先提价后打折，属于</a:t>
            </a: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价格欺诈</a:t>
            </a: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（《明码标价和禁止价格欺诈规定》第十六、十七条，第十九条第三项）。</a:t>
            </a:r>
            <a:endParaRPr lang="zh-CN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评价促消费政策，要分清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“带动销售额”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“净增消费”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：前者包含本来就会买的、提前买的和换渠道买的。</a:t>
            </a:r>
            <a:endParaRPr lang="zh-CN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资料来源：《明码标价和禁止价格欺诈规定》（市场监管总局令第56号）；空调补贴为示意数字。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三本账联动：家庭、企业、政府的钱连在一起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822960" y="1691640"/>
            <a:ext cx="2286000" cy="77724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</a:t>
            </a:r>
            <a:endParaRPr lang="zh-CN" sz="2200" dirty="0"/>
          </a:p>
        </p:txBody>
      </p:sp>
      <p:sp>
        <p:nvSpPr>
          <p:cNvPr id="13" name="Shape 10"/>
          <p:cNvSpPr/>
          <p:nvPr/>
        </p:nvSpPr>
        <p:spPr>
          <a:xfrm>
            <a:off x="5394960" y="1691640"/>
            <a:ext cx="2286000" cy="77724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9496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</a:t>
            </a:r>
            <a:endParaRPr lang="zh-CN" sz="2200" dirty="0"/>
          </a:p>
        </p:txBody>
      </p:sp>
      <p:sp>
        <p:nvSpPr>
          <p:cNvPr id="15" name="Shape 12"/>
          <p:cNvSpPr/>
          <p:nvPr/>
        </p:nvSpPr>
        <p:spPr>
          <a:xfrm>
            <a:off x="3108960" y="4160520"/>
            <a:ext cx="2286000" cy="77724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08960" y="4160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</a:t>
            </a:r>
            <a:endParaRPr lang="zh-CN" sz="2200" dirty="0"/>
          </a:p>
        </p:txBody>
      </p:sp>
      <p:sp>
        <p:nvSpPr>
          <p:cNvPr id="17" name="Shape 14"/>
          <p:cNvSpPr/>
          <p:nvPr/>
        </p:nvSpPr>
        <p:spPr>
          <a:xfrm>
            <a:off x="1828800" y="2514600"/>
            <a:ext cx="1463040" cy="160020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H="1" flipV="1">
            <a:off x="2286000" y="2514600"/>
            <a:ext cx="1371600" cy="160020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6858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工资、经营所得</a:t>
            </a:r>
            <a:endParaRPr lang="zh-CN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06324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消费支出</a:t>
            </a:r>
            <a:endParaRPr lang="zh-CN" sz="1400" dirty="0"/>
          </a:p>
        </p:txBody>
      </p:sp>
      <p:sp>
        <p:nvSpPr>
          <p:cNvPr id="21" name="Shape 18"/>
          <p:cNvSpPr/>
          <p:nvPr/>
        </p:nvSpPr>
        <p:spPr>
          <a:xfrm flipH="1">
            <a:off x="4846320" y="2514600"/>
            <a:ext cx="1463040" cy="1600200"/>
          </a:xfrm>
          <a:prstGeom prst="line">
            <a:avLst/>
          </a:prstGeom>
          <a:noFill/>
          <a:ln w="19050">
            <a:solidFill>
              <a:srgbClr val="A87B1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V="1">
            <a:off x="5212080" y="2514600"/>
            <a:ext cx="1463040" cy="160020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58368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A87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转移支付、</a:t>
            </a:r>
            <a:br/>
            <a:r>
              <a:rPr lang="zh-CN" altLang="en-US" sz="1400" b="1" dirty="0">
                <a:solidFill>
                  <a:srgbClr val="A87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公共服务、社保</a:t>
            </a:r>
            <a:endParaRPr lang="zh-CN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800600" y="2971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税费</a:t>
            </a:r>
            <a:endParaRPr lang="zh-CN" sz="1400" dirty="0"/>
          </a:p>
        </p:txBody>
      </p:sp>
      <p:sp>
        <p:nvSpPr>
          <p:cNvPr id="25" name="Shape 22"/>
          <p:cNvSpPr/>
          <p:nvPr/>
        </p:nvSpPr>
        <p:spPr>
          <a:xfrm>
            <a:off x="3154680" y="1920240"/>
            <a:ext cx="2194560" cy="914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 flipH="1">
            <a:off x="3154680" y="2286000"/>
            <a:ext cx="2194560" cy="914"/>
          </a:xfrm>
          <a:prstGeom prst="line">
            <a:avLst/>
          </a:prstGeom>
          <a:noFill/>
          <a:ln w="19050">
            <a:solidFill>
              <a:srgbClr val="A87B12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3840480" y="1554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税收</a:t>
            </a:r>
            <a:endParaRPr lang="zh-CN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611880" y="2331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A87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采购、清欠</a:t>
            </a:r>
            <a:endParaRPr lang="zh-CN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5074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图外还有：金融机构（存贷款、利率）、外部部门（进出口）</a:t>
            </a:r>
            <a:endParaRPr lang="zh-CN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366760" y="1645920"/>
            <a:ext cx="327629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收入稳不稳、月供重不重、未来负担大不大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订单、利润、回款决定工资和经营所得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财力和支出方向决定能托多少底</a:t>
            </a:r>
            <a:endParaRPr lang="zh-CN" sz="1800" dirty="0"/>
          </a:p>
        </p:txBody>
      </p:sp>
      <p:sp>
        <p:nvSpPr>
          <p:cNvPr id="31" name="Shape 28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消费偏弱不是一句“信心不足”能概括的：它是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家庭现金流、企业利润和政府财力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相互传导的结果。</a:t>
            </a:r>
            <a:endParaRPr lang="zh-CN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说明：局部传导示意，不是封闭的会计恒等式。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　浙江之察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浙江有哪些特点，潜力怎样转化为交易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 · 第83—103分钟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浙江增长和消费都快于全国，收入约为全国1.7倍</a:t>
            </a:r>
            <a:endParaRPr lang="zh-CN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4475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2026年上半年增速：全国与浙江（%）</a:t>
            </a:r>
            <a:endParaRPr lang="zh-CN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554480"/>
          <a:ext cx="4693615" cy="914400"/>
        </p:xfrm>
        <a:graphic>
          <a:graphicData uri="http://schemas.openxmlformats.org/drawingml/2006/table">
            <a:tbl>
              <a:tblPr/>
              <a:tblGrid>
                <a:gridCol w="2346808"/>
                <a:gridCol w="1032595"/>
                <a:gridCol w="13142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2026年上半年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全国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人均可支配收入（元）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22,981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39,807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人均消费支出（元）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14,836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24,533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平均消费倾向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64.6%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61.6%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城乡收入比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社零增速变化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4.0%→3.0%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浙江消费的“底子”厚：收入高、城乡差距小、消费增速快于全国；但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社零增速从4.0%降到3.0%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，动能在放缓。</a:t>
            </a:r>
            <a:endParaRPr lang="zh-CN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资料来源：国家统计局；浙江省统计局、国家统计局浙江调查总队（2026年7月发布）。GDP为实际增速，其余为名义增速；平均消费倾向为作者计算。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城乡对比：农村居民收入低四成，花钱的比例却更高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2026年上半年浙江城乡居民人均收入与消费（元）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217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132320" y="1554480"/>
            <a:ext cx="225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约59%</a:t>
            </a:r>
            <a:endParaRPr lang="zh-CN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2267712"/>
            <a:ext cx="2255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城镇居民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消费支出÷收入</a:t>
            </a:r>
            <a:endParaRPr lang="zh-CN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9387688" y="1554480"/>
            <a:ext cx="225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约70%</a:t>
            </a:r>
            <a:endParaRPr lang="zh-CN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9387688" y="2267712"/>
            <a:ext cx="2255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农村居民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消费支出÷收入</a:t>
            </a:r>
            <a:endParaRPr lang="zh-CN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132320" y="3154680"/>
            <a:ext cx="45107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农村收入增长</a:t>
            </a: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6.0%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，快于城镇的4.7%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农村消费增长</a:t>
            </a: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5.8%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，快于城镇的4.3%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城乡收入比</a:t>
            </a: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1.64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，全国为2.37</a:t>
            </a:r>
            <a:endParaRPr lang="zh-CN" sz="1800" dirty="0"/>
          </a:p>
        </p:txBody>
      </p:sp>
      <p:sp>
        <p:nvSpPr>
          <p:cNvPr id="18" name="Shape 14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研究表明，收入较低、手头较紧的家庭边际消费倾向更高：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钱发给谁，和发多少同样重要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资料来源：国家统计局浙江调查总队。消费支出÷收入为平均消费倾向（作者计算），不是边际消费倾向。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浙江居民收入构成：工资过半，经营与财产收入合计近三成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2026年上半年浙江居民人均可支配收入构成（元）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56692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583680" y="1508760"/>
            <a:ext cx="505937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经营净收入7074元（17.8%）：</a:t>
            </a: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个体户、网店、民宿、特色养殖……家庭收入直接随经营景气波动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冷暖不同：</a:t>
            </a: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省级发布会介绍：一般生猪养殖户有亏损，部分特色养殖户情况较好，蛋禽养殖受价格回升支持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财产净收入4792元（12.0%）：</a:t>
            </a: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房租、利息、分红，受房价和利率影响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浙江家庭收入与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小微经营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资产价格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联系紧密：稳经营主体，就是稳家庭收入。</a:t>
            </a:r>
            <a:endParaRPr lang="zh-CN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资料来源：国家统计局浙江调查总队；浙江省2026年上半年经济运行新闻发布会（2026年7月22日）。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服务消费的潜力，取决于“可负担、可到达、可持续”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36192"/>
            <a:ext cx="5341468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45920"/>
            <a:ext cx="53414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养老照护：金华</a:t>
            </a:r>
            <a:endParaRPr lang="zh-CN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103120"/>
            <a:ext cx="5341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2026年1月报道：符合条件的失能老人，可获居家社区养老服务抵扣支持</a:t>
            </a:r>
            <a:endParaRPr lang="zh-CN" sz="15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5341468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5274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看什么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可负担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补贴抵扣，降低支付压力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可到达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有没有合适的护理人员上门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可持续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服务稳定、不随意加价、预付有保障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301588" y="1536192"/>
            <a:ext cx="5341468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01588" y="1645920"/>
            <a:ext cx="53414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县域休闲：衢州</a:t>
            </a:r>
            <a:endParaRPr lang="zh-CN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301588" y="2103120"/>
            <a:ext cx="5341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2025年办促消费活动136场、发消费券1.4亿元；凭巡演地身份证可免费游衢州14个景区</a:t>
            </a:r>
            <a:endParaRPr lang="zh-CN" sz="1500" dirty="0"/>
          </a:p>
        </p:txBody>
      </p:sp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1588" y="2971800"/>
          <a:ext cx="5341468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5274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看什么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可负担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消费券、门票优惠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可到达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交通、停车、餐饮、住宿是否方便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可持续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价格透明、服务兑现，下次还来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补贴解决“可负担”；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可到达、可持续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要靠供给和信任——后者正是市场监管能出力的地方。</a:t>
            </a:r>
            <a:endParaRPr lang="zh-CN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资料来源：浙江省经济信息中心（2026年1月29日转载金华报道）；衢州市政协公开材料。政策适用有条件。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线上消费增长快，但“新增”和“转移”要分开看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54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4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+18.1%</a:t>
            </a:r>
            <a:endParaRPr lang="zh-CN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浙江上半年限额以上单位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通过公共网络实现的零售额增速</a:t>
            </a:r>
            <a:endParaRPr lang="zh-CN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246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4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约1/4</a:t>
            </a:r>
            <a:endParaRPr lang="zh-CN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069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全国网上商品零售额占社零比重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（1—8月，增长4.3%）</a:t>
            </a:r>
            <a:endParaRPr lang="zh-CN" sz="1500" dirty="0"/>
          </a:p>
        </p:txBody>
      </p:sp>
      <p:sp>
        <p:nvSpPr>
          <p:cNvPr id="15" name="Shape 12"/>
          <p:cNvSpPr/>
          <p:nvPr/>
        </p:nvSpPr>
        <p:spPr>
          <a:xfrm>
            <a:off x="4023360" y="1645920"/>
            <a:ext cx="0" cy="32004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97680" y="1554480"/>
            <a:ext cx="73453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新增还是转移：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一部分是新增需求，一部分是从线下转过来的，后者不增加消费总量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信息能否核实：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参数、评价、直播宣传与实物是否一致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使用总成本：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配送、安装、退换、维修是否兑现；低标价不等于用起来便宜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平台治理：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2026年4月，总局对7家电商平台“幽灵外卖”系列案罚没35.97亿元；据报道查实“幽灵店铺”6.7万余家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线上增长快，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是关键：规则透明、信息真实、售后兑现，线上增量才是真增量。</a:t>
            </a:r>
            <a:endParaRPr lang="zh-CN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资料来源：浙江省统计局（2026年7月）；国家统计局；市场监管总局（2026年4月17日）。限上口径不等于全部网络交易。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视频：杭州文旅——消费者愿意为哪些体验付费？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6583680" cy="37033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68880"/>
            <a:ext cx="1005840" cy="1005840"/>
          </a:xfrm>
          <a:prstGeom prst="ellipse">
            <a:avLst/>
          </a:prstGeom>
          <a:solidFill>
            <a:srgbClr val="870C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3703320" y="2743200"/>
            <a:ext cx="384048" cy="4572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白蛇主题IP赋能 杭州文旅迎新风口</a:t>
            </a:r>
            <a:endParaRPr lang="zh-CN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206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央视《消费主张》　2026年8月18日　｜　1分56秒</a:t>
            </a:r>
            <a:endParaRPr lang="zh-CN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63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b="1" u="sng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央视网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点击打开央视官方视频（需联网）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7498080" y="160934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62672" y="155448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看片前的问题</a:t>
            </a:r>
            <a:endParaRPr lang="zh-CN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2011680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游客愿意为哪些体验掏钱？</a:t>
            </a:r>
            <a:endParaRPr lang="zh-CN" sz="1700" dirty="0"/>
          </a:p>
        </p:txBody>
      </p:sp>
      <p:sp>
        <p:nvSpPr>
          <p:cNvPr id="20" name="Shape 17"/>
          <p:cNvSpPr/>
          <p:nvPr/>
        </p:nvSpPr>
        <p:spPr>
          <a:xfrm>
            <a:off x="7498080" y="279806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62672" y="274320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看片后的要点</a:t>
            </a:r>
            <a:endParaRPr lang="zh-CN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3200400"/>
            <a:ext cx="41449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文化IP提供“来的理由”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餐饮、演艺、文创承接支出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有了客流，不等于有了等量的消费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内容吸引带来客流，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服务承接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才带来消费。</a:t>
            </a:r>
            <a:endParaRPr lang="zh-CN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视频来源：央视网（2026年8月18日）。无网络时使用本页静态要点。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客流不等于消费：从“来过”到“再来”要过四关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691640"/>
            <a:ext cx="2087209" cy="1371600"/>
          </a:xfrm>
          <a:prstGeom prst="rect">
            <a:avLst/>
          </a:prstGeom>
          <a:solidFill>
            <a:srgbClr val="507B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91640"/>
            <a:ext cx="20872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到访</a:t>
            </a:r>
            <a:endParaRPr lang="zh-CN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617561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zh-CN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内容吸引、交通</a:t>
            </a:r>
            <a:endParaRPr lang="zh-CN" sz="1500" dirty="0"/>
          </a:p>
        </p:txBody>
      </p:sp>
      <p:sp>
        <p:nvSpPr>
          <p:cNvPr id="15" name="Shape 12"/>
          <p:cNvSpPr/>
          <p:nvPr/>
        </p:nvSpPr>
        <p:spPr>
          <a:xfrm>
            <a:off x="2800441" y="1773936"/>
            <a:ext cx="2087209" cy="1207008"/>
          </a:xfrm>
          <a:prstGeom prst="rect">
            <a:avLst/>
          </a:prstGeom>
          <a:solidFill>
            <a:srgbClr val="507B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00441" y="1773936"/>
            <a:ext cx="208720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停留</a:t>
            </a:r>
            <a:endParaRPr lang="zh-CN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869363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zh-CN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800441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停车、餐饮、开放时间</a:t>
            </a:r>
            <a:endParaRPr lang="zh-CN" sz="1500" dirty="0"/>
          </a:p>
        </p:txBody>
      </p:sp>
      <p:sp>
        <p:nvSpPr>
          <p:cNvPr id="19" name="Shape 16"/>
          <p:cNvSpPr/>
          <p:nvPr/>
        </p:nvSpPr>
        <p:spPr>
          <a:xfrm>
            <a:off x="5052243" y="1856232"/>
            <a:ext cx="2087209" cy="1042416"/>
          </a:xfrm>
          <a:prstGeom prst="rect">
            <a:avLst/>
          </a:prstGeom>
          <a:solidFill>
            <a:srgbClr val="8A5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52243" y="1856232"/>
            <a:ext cx="2087209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</a:t>
            </a:r>
            <a:endParaRPr lang="zh-CN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121164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zh-CN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052243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服务选择、</a:t>
            </a: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明码标价</a:t>
            </a:r>
            <a:endParaRPr lang="zh-CN" sz="1500" dirty="0"/>
          </a:p>
        </p:txBody>
      </p:sp>
      <p:sp>
        <p:nvSpPr>
          <p:cNvPr id="23" name="Shape 20"/>
          <p:cNvSpPr/>
          <p:nvPr/>
        </p:nvSpPr>
        <p:spPr>
          <a:xfrm>
            <a:off x="7304044" y="1938528"/>
            <a:ext cx="2087209" cy="877824"/>
          </a:xfrm>
          <a:prstGeom prst="rect">
            <a:avLst/>
          </a:prstGeom>
          <a:solidFill>
            <a:srgbClr val="8A5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04044" y="1938528"/>
            <a:ext cx="208720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跨商户消费</a:t>
            </a:r>
            <a:endParaRPr lang="zh-CN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372966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zh-CN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304044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街区运营、联票</a:t>
            </a:r>
            <a:endParaRPr lang="zh-CN" sz="1500" dirty="0"/>
          </a:p>
        </p:txBody>
      </p:sp>
      <p:sp>
        <p:nvSpPr>
          <p:cNvPr id="27" name="Shape 24"/>
          <p:cNvSpPr/>
          <p:nvPr/>
        </p:nvSpPr>
        <p:spPr>
          <a:xfrm>
            <a:off x="9555846" y="2020824"/>
            <a:ext cx="2087209" cy="713232"/>
          </a:xfrm>
          <a:prstGeom prst="rect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555846" y="2020824"/>
            <a:ext cx="208720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再次来访</a:t>
            </a:r>
            <a:endParaRPr lang="zh-CN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9555846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服务兑现</a:t>
            </a: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投诉与退款体验</a:t>
            </a:r>
            <a:endParaRPr lang="zh-CN" sz="1500" dirty="0"/>
          </a:p>
        </p:txBody>
      </p:sp>
      <p:sp>
        <p:nvSpPr>
          <p:cNvPr id="30" name="Shape 27"/>
          <p:cNvSpPr/>
          <p:nvPr/>
        </p:nvSpPr>
        <p:spPr>
          <a:xfrm>
            <a:off x="548640" y="4160520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42976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从“来过”到“花钱”：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到访人数不等于消费人数：停留时间、可选择的服务和看得懂的价格，决定成交。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从“一次”到“再来”：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体验包括履约、投诉处理与退款；热度之外，还要看商户收益和持续服务能力。</a:t>
            </a:r>
            <a:endParaRPr lang="zh-CN" sz="1800" dirty="0"/>
          </a:p>
        </p:txBody>
      </p:sp>
      <p:sp>
        <p:nvSpPr>
          <p:cNvPr id="32" name="Shape 2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热度带来客流，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信任带来复购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：价格透明、服务兑现、投诉好处理，是文旅消费的“留客力”。</a:t>
            </a:r>
            <a:endParaRPr lang="zh-CN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说明：围绕杭州视频案例的机制分析，未测算转化率。红色为市场监管直接相关环节。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十一市比较：同口径看，生产快不等于消费快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2026年上半年GDP与社零增速（%）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680960" y="1463040"/>
            <a:ext cx="3962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比较消费，看四件事</a:t>
            </a:r>
            <a:endParaRPr lang="zh-CN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1874520"/>
            <a:ext cx="39620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居民收入与支出（住户调查）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收入来源：工资、经营、财产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人口流动与外来客群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本地交易环境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3703320"/>
            <a:ext cx="3962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杭州1—8月社零+0.6%，扣除汽车+5.2%：一个品类就能改变一个城市的读数。</a:t>
            </a:r>
            <a:endParaRPr lang="zh-CN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4663440"/>
            <a:ext cx="3962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不编综合排名，不给城市贴标签；缺数留空，其余各市见备查B03。</a:t>
            </a:r>
            <a:endParaRPr lang="zh-CN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生产快不等于消费快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：比较各市消费，要看居民收入、人口流动、消费外流和本地交易环境。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资料来源：各市统计部门发布及媒体报道整理（讲前请与各市核对）；国家统计局；浙江省统计局。GDP为实际增速，社零为名义增速。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浙江消费潜力的实现条件：分清谁来解决哪类问题</a:t>
            </a:r>
            <a:endParaRPr lang="zh-CN" sz="2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520440"/>
                <a:gridCol w="2057400"/>
                <a:gridCol w="1828800"/>
                <a:gridCol w="2221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浙江的表现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证据状态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主要抓手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市场监管的角色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收入与风险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收入高、城乡差距小；社零增速逐季回落，经营收入随景气波动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已确认（统计数据）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增收、社保、稳就业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稳经营主体（间接）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供给适配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养老、托育、县域服务供给不足；文旅热度高、承接能力参差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部分确认（案例），待调查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服务业发展、标准建设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标准、认证、质量提升（协同）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交易信任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预付式消费、价格、计量、网络交易等问题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部分确认（投诉），本地高频问题待调查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市场监管依法履职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直接履职，见效较快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120640"/>
            <a:ext cx="11094415" cy="6858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5120640"/>
            <a:ext cx="73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120640"/>
            <a:ext cx="10682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收入与保障要综合施策；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交易环境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是市场监管可以直接改善、且见效较快的那一块。</a:t>
            </a:r>
            <a:endParaRPr lang="zh-CN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说明：仅归纳本部分证据。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　监管之为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哪些消费障碍能在职责内改善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12分钟 · 第103—115分钟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市场失灵在哪里，监管职能就设在哪里</a:t>
            </a:r>
            <a:endParaRPr lang="zh-CN" sz="2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246120"/>
                <a:gridCol w="28163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市场失灵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典型问题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市场监管职能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主要依据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信息不对称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质量看不清、数量核不准、广告辨不清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标准、计量、认证认可、检验检测、广告监管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《产品质量法》《计量法》《广告法》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市场势力与不正当竞争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垄断协议、平台强制低价、仿冒混淆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反垄断、反不正当竞争、公平竞争审查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《反垄断法》《反不正当竞争法》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交易成本与履约风险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价格欺诈、霸王条款、预付卡跑路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价格监管、合同格式条款、消费维权（12315）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《消费者权益保护法》及实施条例、《价格法》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安全外部性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食品、药品、特种设备安全事故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食品安全、特种设备、工业产品质量安全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《食品安全法》《特种设备安全法》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800600"/>
            <a:ext cx="3606698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4800600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直接履职　</a:t>
            </a: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查处、抽检、调解</a:t>
            </a:r>
            <a:endParaRPr lang="zh-CN" sz="1800" dirty="0"/>
          </a:p>
        </p:txBody>
      </p:sp>
      <p:sp>
        <p:nvSpPr>
          <p:cNvPr id="10" name="Shape 6"/>
          <p:cNvSpPr/>
          <p:nvPr/>
        </p:nvSpPr>
        <p:spPr>
          <a:xfrm>
            <a:off x="4292498" y="4800600"/>
            <a:ext cx="3606698" cy="685800"/>
          </a:xfrm>
          <a:prstGeom prst="rect">
            <a:avLst/>
          </a:prstGeom>
          <a:solidFill>
            <a:srgbClr val="A35252"/>
          </a:solidFill>
          <a:ln w="12700">
            <a:solidFill>
              <a:srgbClr val="A3525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29658" y="4800600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跨部门协同　</a:t>
            </a: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预付式、养老托育、文旅</a:t>
            </a:r>
            <a:endParaRPr lang="zh-CN" sz="1800" dirty="0"/>
          </a:p>
        </p:txBody>
      </p:sp>
      <p:sp>
        <p:nvSpPr>
          <p:cNvPr id="12" name="Shape 8"/>
          <p:cNvSpPr/>
          <p:nvPr/>
        </p:nvSpPr>
        <p:spPr>
          <a:xfrm>
            <a:off x="8036357" y="4800600"/>
            <a:ext cx="3606698" cy="685800"/>
          </a:xfrm>
          <a:prstGeom prst="rect">
            <a:avLst/>
          </a:prstGeom>
          <a:solidFill>
            <a:srgbClr val="C08A8A"/>
          </a:solidFill>
          <a:ln w="12700">
            <a:solidFill>
              <a:srgbClr val="C08A8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173517" y="4800600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信息反馈　</a:t>
            </a: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投诉数据服务研判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559552"/>
            <a:ext cx="11094415" cy="658368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559552"/>
            <a:ext cx="73152" cy="65836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559552"/>
            <a:ext cx="10682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消费正转向服务，服务多是“信任品”、常需预付：</a:t>
            </a: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交易信任越来越重要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。边界：不直接调控收入、社保、房价和资产配置。</a:t>
            </a:r>
            <a:endParaRPr lang="zh-CN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说明：依据现行法律法规和市场监管部门职责整理；具体事项以法定职责和本地分工为准。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一张健身卡：从预付、履约到停业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2396414" cy="548640"/>
          </a:xfrm>
          <a:prstGeom prst="roundRect">
            <a:avLst>
              <a:gd name="adj" fmla="val 10000"/>
            </a:avLst>
          </a:prstGeom>
          <a:solidFill>
            <a:srgbClr val="870C0C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1600200"/>
            <a:ext cx="22501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</a:t>
            </a:r>
            <a:endParaRPr lang="zh-CN" sz="1900" dirty="0"/>
          </a:p>
        </p:txBody>
      </p:sp>
      <p:sp>
        <p:nvSpPr>
          <p:cNvPr id="13" name="Shape 10"/>
          <p:cNvSpPr/>
          <p:nvPr/>
        </p:nvSpPr>
        <p:spPr>
          <a:xfrm>
            <a:off x="2999918" y="1874520"/>
            <a:ext cx="39319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447974" y="1600200"/>
            <a:ext cx="2396414" cy="548640"/>
          </a:xfrm>
          <a:prstGeom prst="roundRect">
            <a:avLst>
              <a:gd name="adj" fmla="val 10000"/>
            </a:avLst>
          </a:prstGeom>
          <a:solidFill>
            <a:srgbClr val="870C0C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21126" y="1600200"/>
            <a:ext cx="22501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</a:t>
            </a:r>
            <a:endParaRPr lang="zh-CN" sz="1900" dirty="0"/>
          </a:p>
        </p:txBody>
      </p:sp>
      <p:sp>
        <p:nvSpPr>
          <p:cNvPr id="16" name="Shape 13"/>
          <p:cNvSpPr/>
          <p:nvPr/>
        </p:nvSpPr>
        <p:spPr>
          <a:xfrm>
            <a:off x="5899252" y="1874520"/>
            <a:ext cx="39319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347308" y="1600200"/>
            <a:ext cx="2396414" cy="548640"/>
          </a:xfrm>
          <a:prstGeom prst="roundRect">
            <a:avLst>
              <a:gd name="adj" fmla="val 10000"/>
            </a:avLst>
          </a:prstGeom>
          <a:solidFill>
            <a:srgbClr val="870C0C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20460" y="1600200"/>
            <a:ext cx="22501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停业</a:t>
            </a:r>
            <a:endParaRPr lang="zh-CN" sz="1900" dirty="0"/>
          </a:p>
        </p:txBody>
      </p:sp>
      <p:sp>
        <p:nvSpPr>
          <p:cNvPr id="19" name="Shape 16"/>
          <p:cNvSpPr/>
          <p:nvPr/>
        </p:nvSpPr>
        <p:spPr>
          <a:xfrm>
            <a:off x="8798585" y="1874520"/>
            <a:ext cx="39319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246641" y="1600200"/>
            <a:ext cx="2396414" cy="548640"/>
          </a:xfrm>
          <a:prstGeom prst="roundRect">
            <a:avLst>
              <a:gd name="adj" fmla="val 10000"/>
            </a:avLst>
          </a:prstGeom>
          <a:solidFill>
            <a:srgbClr val="870C0C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19793" y="1600200"/>
            <a:ext cx="22501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</a:t>
            </a:r>
            <a:endParaRPr lang="zh-CN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2240280"/>
            <a:ext cx="2396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支付2000元</a:t>
            </a:r>
            <a:br/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约定50次＋赠送10次</a:t>
            </a:r>
            <a:endParaRPr lang="zh-CN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447974" y="2240280"/>
            <a:ext cx="2396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实际使用12次</a:t>
            </a:r>
            <a:endParaRPr lang="zh-CN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47308" y="2240280"/>
            <a:ext cx="2396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经营者停止营业</a:t>
            </a:r>
            <a:br/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剩余服务无法提供</a:t>
            </a:r>
            <a:endParaRPr lang="zh-CN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46641" y="2240280"/>
            <a:ext cx="2396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消费者起诉</a:t>
            </a:r>
            <a:br/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要求退还预付款</a:t>
            </a:r>
            <a:endParaRPr lang="zh-CN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3108960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3246120"/>
            <a:ext cx="351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购买时</a:t>
            </a:r>
            <a:endParaRPr lang="zh-CN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3657600"/>
            <a:ext cx="351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买的是“未来的服务”：价格、条款、经营者是否可靠，都要事先判断</a:t>
            </a:r>
            <a:endParaRPr lang="zh-CN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338218" y="3246120"/>
            <a:ext cx="351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履约中</a:t>
            </a:r>
            <a:endParaRPr lang="zh-CN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4338218" y="3657600"/>
            <a:ext cx="351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问题不只在付款时的价格，更在后续能否兑现</a:t>
            </a:r>
            <a:endParaRPr lang="zh-CN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127797" y="3246120"/>
            <a:ext cx="351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停业后</a:t>
            </a:r>
            <a:endParaRPr lang="zh-CN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127797" y="3657600"/>
            <a:ext cx="351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钱怎么退、找谁退：民事争议与行政违法要分开识别</a:t>
            </a:r>
            <a:endParaRPr lang="zh-CN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800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预付式消费的风险在于“先付钱、后履约”：期限越长、金额越大，风险越集中在消费者一侧。</a:t>
            </a:r>
            <a:endParaRPr lang="zh-CN" sz="1600" dirty="0"/>
          </a:p>
        </p:txBody>
      </p:sp>
      <p:sp>
        <p:nvSpPr>
          <p:cNvPr id="34" name="Shape 3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一次预付购买，同时押注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价格、履约能力和退出规则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——任何一环不可信，交易就不会发生。</a:t>
            </a:r>
            <a:endParaRPr lang="zh-CN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资料来源：最高人民法院预付式消费典型案例（2025年3月公布）。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退款怎么算、谁来管：一个案例里的三种处理机制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5544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 × (60 − 12) ÷ 60 = 1600元</a:t>
            </a:r>
            <a:endParaRPr lang="zh-CN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1554480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本案经营者违约停业，赠送的10次按原优惠方案计入；不适用于所有退卡情形。</a:t>
            </a:r>
            <a:endParaRPr lang="zh-CN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3515258" cy="50292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6517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法院｜民事裁判</a:t>
            </a:r>
            <a:endParaRPr lang="zh-CN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2004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合同解除、退款计算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依合同和履约事实判断</a:t>
            </a:r>
            <a:endParaRPr lang="zh-CN" sz="1400" dirty="0"/>
          </a:p>
        </p:txBody>
      </p:sp>
      <p:sp>
        <p:nvSpPr>
          <p:cNvPr id="17" name="Shape 14"/>
          <p:cNvSpPr/>
          <p:nvPr/>
        </p:nvSpPr>
        <p:spPr>
          <a:xfrm>
            <a:off x="4338218" y="2651760"/>
            <a:ext cx="3515258" cy="5029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38218" y="26517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市场监管｜行政</a:t>
            </a:r>
            <a:endParaRPr lang="zh-CN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429658" y="32004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投诉调解（双方自愿）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查处格式条款、虚假宣传、价格违法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督促落实预付式经营者义务</a:t>
            </a:r>
            <a:endParaRPr lang="zh-CN" sz="1400" dirty="0"/>
          </a:p>
        </p:txBody>
      </p:sp>
      <p:sp>
        <p:nvSpPr>
          <p:cNvPr id="20" name="Shape 17"/>
          <p:cNvSpPr/>
          <p:nvPr/>
        </p:nvSpPr>
        <p:spPr>
          <a:xfrm>
            <a:off x="8127797" y="2651760"/>
            <a:ext cx="3515258" cy="50292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27797" y="26517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行业主管与地方｜管理</a:t>
            </a:r>
            <a:endParaRPr lang="zh-CN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219237" y="32004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行业管理、预付资金监管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地方立法与信用约束</a:t>
            </a:r>
            <a:endParaRPr lang="zh-CN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206240"/>
            <a:ext cx="11094415" cy="749808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206240"/>
            <a:ext cx="10774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市场监管的抓手：</a:t>
            </a: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《消费者权益保护法实施条例》（2024年7月1日施行）要求预付式经营者订立书面合同；按约提供，不得降质、任意加价；出现重大经营风险时停止收取预付款；停业或迁址提前告知。</a:t>
            </a:r>
            <a:endParaRPr lang="zh-CN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01091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浙江：预付卡管理条例（草案）2026年3—4月征求意见；“十五五”规划提出资金监管市场化、“信用＋预付式消费”。新《投诉举报处理办法》（总局令第121号）4月15日施行。</a:t>
            </a:r>
            <a:endParaRPr lang="zh-CN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分清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民事争议、行政违法和行业管理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：调解不能代替裁判，一则判决也推不出普遍的行政强制退款权限。</a:t>
            </a:r>
            <a:endParaRPr lang="zh-CN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资料来源：最高人民法院预付式消费典型案例；浙江省市场监管局（2026年3月29日征求意见公告）；市场监管总局令第121号。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一杆秤背后：让质量看得清、数量核得准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4937760" cy="38404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554480"/>
            <a:ext cx="4937760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衢江：黄金回收店的“鬼秤”</a:t>
            </a:r>
            <a:endParaRPr lang="zh-CN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22402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2025年度衢州消费维权典型案例：衢江区查实一家黄金回收店的电子秤被非法改装，属于不合格计量器具。</a:t>
            </a:r>
            <a:br/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消费者凭肉眼无法判断克数，只能依靠准确的计量器具和可用的公平秤。</a:t>
            </a:r>
            <a:endParaRPr lang="zh-CN" sz="17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554480"/>
          <a:ext cx="5790895" cy="914400"/>
        </p:xfrm>
        <a:graphic>
          <a:graphicData uri="http://schemas.openxmlformats.org/drawingml/2006/table">
            <a:tbl>
              <a:tblPr/>
              <a:tblGrid>
                <a:gridCol w="2605903"/>
                <a:gridCol w="31849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让消费者能……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计量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数量可核验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质量可比较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认证、检验检测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质量可识别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召回、追责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承诺可兑现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可信的信息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降低每一次交易的“验货成本”——这是市场监管促消费最基础的功能。</a:t>
            </a:r>
            <a:endParaRPr lang="zh-CN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资料来源：衢州市2025年度消费维权典型案例（2026年3月发布）。认证、检测有适用范围，不是无限担保。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投诉数据是“体温计”，不是“成绩单”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2600多万件</a:t>
            </a:r>
            <a:endParaRPr lang="zh-CN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2025年全国受理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消费投诉举报</a:t>
            </a:r>
            <a:endParaRPr lang="zh-CN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22681件</a:t>
            </a:r>
            <a:endParaRPr lang="zh-CN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206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2025年衢州受理消费投诉举报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同比-9.74%（近五年首降）</a:t>
            </a:r>
            <a:endParaRPr lang="zh-CN" sz="15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554480"/>
          <a:ext cx="7711135" cy="914400"/>
        </p:xfrm>
        <a:graphic>
          <a:graphicData uri="http://schemas.openxmlformats.org/drawingml/2006/table">
            <a:tbl>
              <a:tblPr/>
              <a:tblGrid>
                <a:gridCol w="3624234"/>
                <a:gridCol w="408690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能看什么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不能直接推断什么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问题结构：哪类问题更突出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投诉≠违法认定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重复发生：同一场景是否反复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投诉少≠环境好（也可能不愿投、不会投）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处理过程：解决时长、满意度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办结≠问题消失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交易背景：规模与渠道变化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没有可靠分母，不算“投诉率”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3931920" y="4572000"/>
            <a:ext cx="7711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新办法（总局令第121号，2026年4月15日施行）：不得滥用投诉举报权利牟取不正当利益；平台内经营者投诉按公示地址确定处理部门。</a:t>
            </a:r>
            <a:endParaRPr lang="zh-CN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用好投诉数据：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看结构、看重复、看处理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，同时依法保护个人信息。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资料来源：市场监管总局；衢州市市场监管局（2026年3月发布）；《市场监督管理投诉举报处理办法》（总局令第121号）。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市县可以从一个高频场景做起：找问题、分责任、看改善</a:t>
            </a:r>
            <a:endParaRPr lang="zh-CN" sz="2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035040"/>
                <a:gridCol w="3502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具体做法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观察指标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找问题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用授权汇总的投诉举报数据，选一个高频场景（如预付式消费、补贴商品价格、文旅消费）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问题是否集中、是否反复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分责任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区分消费争议、违法线索、跨部门事项，依法分流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分流是否准确、是否按期办结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看改善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跟踪履约、重复投诉和解决体验，必要时公开典型案例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重复投诉是否下降、和解率、满意度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315968"/>
            <a:ext cx="11094415" cy="96012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4315968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示例：预付式消费风险预警　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按“行业×经营者”汇总投诉；同一经营者投诉激增，或出现“停业”“失联”等字样时，及时约谈、风险提示，必要时公开通报；按月跟踪重复投诉和退款情况。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486400"/>
            <a:ext cx="73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486400"/>
            <a:ext cx="10682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以真实问题选择工作，同时规范涉企检查、“无事不扰”：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问题少一点、体验好一点，消费自然多一点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说明：工作建议；优先次序由本地数据决定。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回到消费：看总量与差异，读三本账，管好每一次交易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1463040" cy="8229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00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看形势</a:t>
            </a:r>
            <a:endParaRPr lang="zh-CN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1600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同时看总量与差异</a:t>
            </a:r>
            <a:endParaRPr lang="zh-CN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160020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消费偏弱是普遍的，大额、长期支出最弱；局部活跃也要找原因（补贴、价格、新品）。</a:t>
            </a:r>
            <a:endParaRPr lang="zh-CN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2624328"/>
            <a:ext cx="1463040" cy="8229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6243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看机制</a:t>
            </a:r>
            <a:endParaRPr lang="zh-CN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2240280" y="26243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联读三本账</a:t>
            </a:r>
            <a:endParaRPr lang="zh-CN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2624328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家庭的收入、现金与家底，企业的利润与回款，政府的财力与支出。</a:t>
            </a:r>
            <a:endParaRPr lang="zh-CN" sz="1700" dirty="0"/>
          </a:p>
        </p:txBody>
      </p:sp>
      <p:sp>
        <p:nvSpPr>
          <p:cNvPr id="19" name="Shape 16"/>
          <p:cNvSpPr/>
          <p:nvPr/>
        </p:nvSpPr>
        <p:spPr>
          <a:xfrm>
            <a:off x="548640" y="3648456"/>
            <a:ext cx="1463040" cy="8229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64845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看履职</a:t>
            </a:r>
            <a:endParaRPr lang="zh-CN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2240280" y="364845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落到可依法改善的交易障碍</a:t>
            </a:r>
            <a:endParaRPr lang="zh-CN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577840" y="3648456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让每一次交易更可信，同样的收入就更愿意花出去。</a:t>
            </a:r>
            <a:endParaRPr lang="zh-CN" sz="1700" dirty="0"/>
          </a:p>
        </p:txBody>
      </p:sp>
      <p:sp>
        <p:nvSpPr>
          <p:cNvPr id="23" name="Shape 20"/>
          <p:cNvSpPr/>
          <p:nvPr/>
        </p:nvSpPr>
        <p:spPr>
          <a:xfrm>
            <a:off x="548640" y="4800600"/>
            <a:ext cx="11094415" cy="7772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8006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带回本地的问题：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在您所在的市县，哪一项高频交易障碍，最值得优先核实和解决？</a:t>
            </a:r>
            <a:endParaRPr lang="zh-CN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谢谢！欢迎交流</a:t>
            </a:r>
            <a:endParaRPr lang="zh-CN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说明：结语不增加新数据和新政策。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B01 容易混淆的统计口径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61695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容易混淆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正确区分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社零、居民消费支出、最终消费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卖方口径 / 买方口径（住户调查）/ 核算口径；最终消费含政府消费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贡献率、拉动百分点、占比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分母不同，不能互换；上半年三项拉动相加有舍入尾差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名义增速、实际增速、平减指数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名义＝实际＋价格变化；据机构测算，GDP平减指数2026年二季度转正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存款增量、储蓄率、净资产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金融账户变化 / 收支关系 / 时点存量，三者不同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平均消费倾向、边际消费倾向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前者是消费÷收入的平均比例，后者是新增一元收入中用于消费的部分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房屋交易与日常消费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买房是资产交易，不计入消费；装修、家具、家电计入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B02 本版数据的时点与来源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278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资料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本版采用时期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发布机构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GDP、居民收支、就业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2026年上半年；就业至8月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国家统计局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社零、房地产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2026年8月或1—8月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国家统计局、住建部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价格（CPI、PPI）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2026年9月（10月14日发布）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国家统计局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住户存贷款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2026年1—9月（10月14日发布）；贷款投向至二季度末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中国人民银行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财政收支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财政部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浙江与各市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2026年上半年；外贸至8月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浙江省统计局、浙江调查总队、各市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IMF 2026年10月、WTO 2026年10月、BEA 8月、EIA至10月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IMF、WTO、BEA、美联储、EIA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前三季度GDP、居民收支预计10月19日10:00发布（以国家统计局官网日程为准），见B08更新清单。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B03 十一市上半年同口径资料（已收集部分与缺项）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1463040"/>
                <a:gridCol w="2743200"/>
                <a:gridCol w="3959352"/>
              </a:tblGrid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GDP实际增速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社零增速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居民人均可支配收入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杭州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5.3%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46703元（+4.5%）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1—8月社零+0.6%，扣除汽车+5.2%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3.6%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嘉兴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6.9%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8.2%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湖州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绍兴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6.4%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45406元（+5.5%）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来源待核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3.9%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衢州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待补；2025年社零+5%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舟山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台州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农村居民收入增速全省第一（+6.6%）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丽水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6.4%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30625元（+5.4%）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资料来源：各市统计部门发布及媒体报道整理（检索截至2026年10月15日），置信度不一，正式引用前请与各市统计部门核对。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B04 教学算例的假设与算术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39593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适用限制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家庭月度现金（P32）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18000 − 8500 − 4500 − 3000 = 2000；月供：105万元×30年×约3.1%等额本息≈4480元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备用金不是当期消费；月结余不是消费能力上限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偿付情景（P33-B）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18000 − 8500 − 6500 − 3000 = 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只改变一个条件，不代表真实利率调整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预防性储蓄情景（P33-C）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18000 − 8500 − 4500 − 5000 = 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只改变一个条件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小店回款与家庭（P37）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10 − 9 = 1；8 − 9 = −1（万元）；家庭：14000 − 16000 = −2000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同一家庭；成本当月全付，忽略税费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经营杠杆（P38）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(9 − 5.4 − 3) ÷ (10 − 6 − 3) − 1 = −40%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售价、单位变动成本不变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健身卡退款（P56）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 × (60 − 12) ÷ 60 = 1600元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最高法公开案情；经营者违约情形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消费倾向的分量（P18）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43377元 × 约14亿人 × 1% ≈ 6000亿元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粗算，仅示量级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B05 视频与无网络时的替代讲法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760720"/>
                <a:gridCol w="42336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官方短片与时长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无网络时的讲法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P42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央视《新闻联播》2026-05-16《以旧换新 持续激发消费活力》，2分12秒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补贴与拆旧、安装、售后共同影响购买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P50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央视《消费主张》2026-08-18《白蛇主题IP赋能 杭州文旅迎新风口》，1分56秒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内容吸引之后，成交与复购依赖服务兑现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央视2025-05-02 预付式消费退卡退费短片，1分58秒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履约、退出和司法救济的区别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https://tv.cctv.com/2026/05/16/VIDE9cPItSCzQ7Cjln6L4yZj260516.shtml</a:t>
            </a:r>
            <a:endParaRPr lang="zh-CN" sz="1800" dirty="0"/>
          </a:p>
          <a:p>
            <a:pPr marL="203200" indent="-203200">
              <a:spcAft>
                <a:spcPts val="4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https://tv.cctv.com/2026/08/18/VIDEPUoUa2rJol0pvLC9NRw6260818.shtml</a:t>
            </a:r>
            <a:endParaRPr lang="zh-CN" sz="1800" dirty="0"/>
          </a:p>
          <a:p>
            <a:pPr marL="203200" indent="-203200">
              <a:spcAft>
                <a:spcPts val="4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https://tv.cctv.com/2025/05/02/VIDEECsvuHtVZWqn9hd8oFJH250502.shtml</a:t>
            </a:r>
            <a:endParaRPr lang="zh-CN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讲前须在现场电脑实测链接、音量和网络。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B06 规则来源与职责边界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66560"/>
                <a:gridCol w="19476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虚构原价、先提价后打折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《明码标价和禁止价格欺诈规定》（总局令第56号）第十六条、第十七条、第十九条第（三）项；网络标价第二十条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行业协会组织垄断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《反垄断法》（2022）第十四条、第二十一条；罚款上限300万元（第五十六条）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已核（罚则条号待核）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平台案件管辖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《市场监督管理行政处罚程序规定》第九条：平台经营者由住所地、平台内经营者由实际经营地管辖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已核（现行本条号待核）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投诉举报处理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总局令第121号，2025-12-30公布，2026-04-15施行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拖欠中小企业账款、平台强制低价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《反不正当竞争法》（2025年修订，2025-10-15施行）相关条款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条号待核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外卖平台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GB/T 46862-2025《外卖平台服务管理基本要求》（推荐性国标）；《外卖平台补贴行为规范十条》2026年6—7月征求意见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正式稿是否出台待核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预付式消费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《消费者权益保护法实施条例》；最高法预付式消费司法解释（2025年）及典型案例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条号待核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案例出处：最高法 court.gov.cn/zixun/xiangqing/459331.html；绍兴弗迪（浙江在线2026-07-17）；金华照护（zjic.zj.gov.cn 2026-01-29）。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B07 答疑预案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432908" cy="10058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56362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　CPI转正了，通缩风险解除了吗？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以成本推动为主，核心CPI仅1.0%，需求端仍弱；PPI上涨挤压中下游利润（P16、P38）。</a:t>
            </a:r>
            <a:endParaRPr lang="zh-CN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432908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266090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　以旧换新还要不要继续？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看净增量和归宿：向服务消费、低收入群体倾斜；补贴期严查先提价后打折（P43）。</a:t>
            </a:r>
            <a:endParaRPr lang="zh-CN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703320"/>
            <a:ext cx="5432908" cy="10058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375818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　反内卷会不会推高物价？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目标是让价格信号真实：治理强制低价、低于成本倾销和虚假低价；效率型降价受保护，防止滑向“限产保价”。</a:t>
            </a:r>
            <a:endParaRPr lang="zh-CN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4800600"/>
            <a:ext cx="5432908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485546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　先提价后打折怎么认定？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被比较价格须真实，未标明的不得高于前七日内最低成交价；不得在折价前临时显著提高标价（第十六、十七条）。</a:t>
            </a:r>
            <a:endParaRPr lang="zh-CN" sz="1800" dirty="0"/>
          </a:p>
        </p:txBody>
      </p:sp>
      <p:sp>
        <p:nvSpPr>
          <p:cNvPr id="13" name="Shape 10"/>
          <p:cNvSpPr/>
          <p:nvPr/>
        </p:nvSpPr>
        <p:spPr>
          <a:xfrm>
            <a:off x="6210148" y="1508760"/>
            <a:ext cx="5432908" cy="10058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4740" y="156362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　外地平台的纠纷归谁管？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处罚：平台经营者由住所地管辖，平台内经营者由实际经营地；投诉：平台内经营者按公示地址确定处理部门（121号令）。</a:t>
            </a:r>
            <a:endParaRPr lang="zh-CN" sz="1800" dirty="0"/>
          </a:p>
        </p:txBody>
      </p:sp>
      <p:sp>
        <p:nvSpPr>
          <p:cNvPr id="15" name="Shape 12"/>
          <p:cNvSpPr/>
          <p:nvPr/>
        </p:nvSpPr>
        <p:spPr>
          <a:xfrm>
            <a:off x="6210148" y="2606040"/>
            <a:ext cx="5432908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74740" y="266090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Q6　投诉量上升，考核怎么办？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看结构而非总量：重复投诉率、按期办结率、和解率、满意度。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6210148" y="3703320"/>
            <a:ext cx="5432908" cy="10058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74740" y="375818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Q7　中国会不会走日本的老路？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见B09。相同：资产负债表调整、老龄化；不同：城镇化空间、政策空间，物价已转正。关键在增收和保障。</a:t>
            </a: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B08 讲前更新清单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4864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涉及页面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10月19日（周一）10:00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国家统计局前三季度GDP、1—9月社零与投资、前三季度居民收支、9月就业（以官网日程为准）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P6、P14、P15、P17、P18、P19、P20、P21、P23、P28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10月20日 9:00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当月LPR报价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P25、P36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10月下旬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浙江及各市前三季度数据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P45、P46、P47、P52、B03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《外卖平台补贴行为规范十条》是否正式出台；B06“待核”条号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P49、B06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两段视频现场试播；字体与投影测试；前三季度数据公布后同步更新相关页标题中的数字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P42、P50、P14、P18、P19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国际居民消费率（WDI）复核；各市数据与各市核对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P12、P52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B09 国际镜鉴：日本1990—2015年的物价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447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日本CPI与GDP平减指数同比（%）</a:t>
            </a:r>
            <a:endParaRPr lang="zh-CN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74980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321040" y="1554480"/>
            <a:ext cx="33220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相同之处：</a:t>
            </a: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资产价格调整后家庭和企业修复资产负债表；人口老龄化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不同之处：</a:t>
            </a: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城镇化和收入增长空间更大；政策工具更多；2026年物价已转正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</a:t>
            </a: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防止“低物价—低利润—低工资—低消费”的循环，关键在增收和保障</a:t>
            </a:r>
            <a:endParaRPr lang="zh-CN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资料来源：世界银行WDI（FP.CPI.TOTL.ZG、NY.GDP.DEFL.KD.ZG）。1997、2014年跳升与消费税上调有关。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mption Lens">
  <a:themeElements>
    <a:clrScheme name="Consumption Lens">
      <a:dk1>
        <a:srgbClr val="171717"/>
      </a:dk1>
      <a:lt1>
        <a:srgbClr val="FFFFFF"/>
      </a:lt1>
      <a:dk2>
        <a:srgbClr val="870C0C"/>
      </a:dk2>
      <a:lt2>
        <a:srgbClr val="F7F1F0"/>
      </a:lt2>
      <a:accent1>
        <a:srgbClr val="870C0C"/>
      </a:accent1>
      <a:accent2>
        <a:srgbClr val="507B9B"/>
      </a:accent2>
      <a:accent3>
        <a:srgbClr val="A87B12"/>
      </a:accent3>
      <a:accent4>
        <a:srgbClr val="6B7B8C"/>
      </a:accent4>
      <a:accent5>
        <a:srgbClr val="8C8C8C"/>
      </a:accent5>
      <a:accent6>
        <a:srgbClr val="D9A3A3"/>
      </a:accent6>
      <a:hlink>
        <a:srgbClr val="507B9B"/>
      </a:hlink>
      <a:folHlink>
        <a:srgbClr val="666666"/>
      </a:folHlink>
    </a:clrScheme>
    <a:fontScheme name="Consumption Lens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浙江财经大学经济学院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消费提振视角下的中国宏观经济形势分析</dc:title>
  <dc:subject>浙江省市场监管系统干部专题培训</dc:subject>
  <dc:creator>王泽荣</dc:creator>
  <cp:lastModifiedBy>王泽荣</cp:lastModifiedBy>
  <cp:revision>1</cp:revision>
  <dcterms:created xsi:type="dcterms:W3CDTF">2026-10-15T03:05:48Z</dcterms:created>
  <dcterms:modified xsi:type="dcterms:W3CDTF">2026-10-15T03:05:48Z</dcterms:modified>
</cp:coreProperties>
</file>