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6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9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20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篇" id="{9268e461-1543-d336-376e-bd51ca1c6d32}">
          <p14:sldIdLst>
            <p14:sldId id="256"/>
            <p14:sldId id="257"/>
            <p14:sldId id="258"/>
            <p14:sldId id="259"/>
          </p14:sldIdLst>
        </p14:section>
        <p14:section name="一、观势" id="{0de9135c-6659-c517-bce2-83b70671d3a7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二、析因" id="{ddf4af4b-340a-b526-7183-6ee261b5ff80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三、镜鉴" id="{e2854d0c-3d36-9cea-b697-2065fe971f28}">
          <p14:sldIdLst>
            <p14:sldId id="280"/>
            <p14:sldId id="281"/>
            <p14:sldId id="282"/>
            <p14:sldId id="283"/>
          </p14:sldIdLst>
        </p14:section>
        <p14:section name="四、谋策" id="{34b53912-119b-b556-a1ba-7b98f66b0bb1}">
          <p14:sldIdLst>
            <p14:sldId id="284"/>
            <p14:sldId id="285"/>
            <p14:sldId id="286"/>
            <p14:sldId id="287"/>
          </p14:sldIdLst>
        </p14:section>
        <p14:section name="五、作为" id="{225f0cbe-581c-eada-38f0-9f8304885be1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结语" id="{ebd0dfc1-1fff-d261-3d13-7a7d4a77d257}">
          <p14:sldIdLst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GDP增速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2024</c:v>
                  </c:pt>
                  <c:pt idx="13">
                    <c:v>2025</c:v>
                  </c:pt>
                  <c:pt idx="14">
                    <c:v>2026上半年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7.9</c:v>
                </c:pt>
                <c:pt idx="1">
                  <c:v>7.8</c:v>
                </c:pt>
                <c:pt idx="2">
                  <c:v>7.4</c:v>
                </c:pt>
                <c:pt idx="3">
                  <c:v>7</c:v>
                </c:pt>
                <c:pt idx="4">
                  <c:v>6.8</c:v>
                </c:pt>
                <c:pt idx="5">
                  <c:v>6.9</c:v>
                </c:pt>
                <c:pt idx="6">
                  <c:v>6.7</c:v>
                </c:pt>
                <c:pt idx="7">
                  <c:v>6</c:v>
                </c:pt>
                <c:pt idx="8">
                  <c:v>2.2</c:v>
                </c:pt>
                <c:pt idx="9">
                  <c:v>8.4</c:v>
                </c:pt>
                <c:pt idx="10">
                  <c:v>3.1</c:v>
                </c:pt>
                <c:pt idx="11">
                  <c:v>5.2</c:v>
                </c:pt>
                <c:pt idx="12">
                  <c:v>5</c:v>
                </c:pt>
                <c:pt idx="13">
                  <c:v>5</c:v>
                </c:pt>
                <c:pt idx="14">
                  <c:v>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名义增速</c:v>
                </c:pt>
              </c:strCache>
            </c:strRef>
          </c:tx>
          <c:spPr>
            <a:solidFill>
              <a:srgbClr val="4A63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7.3</c:v>
                </c:pt>
                <c:pt idx="1">
                  <c:v>2.7</c:v>
                </c:pt>
                <c:pt idx="2">
                  <c:v>13.4</c:v>
                </c:pt>
                <c:pt idx="3">
                  <c:v>4.8</c:v>
                </c:pt>
                <c:pt idx="4">
                  <c:v>4.6</c:v>
                </c:pt>
                <c:pt idx="5">
                  <c:v>4.2</c:v>
                </c:pt>
                <c:pt idx="6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实际增速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2.2</c:v>
                </c:pt>
                <c:pt idx="2">
                  <c:v>8.4</c:v>
                </c:pt>
                <c:pt idx="3">
                  <c:v>3.1</c:v>
                </c:pt>
                <c:pt idx="4">
                  <c:v>5.2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最终消费支出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3.5</c:v>
                </c:pt>
                <c:pt idx="1">
                  <c:v>-0.5</c:v>
                </c:pt>
                <c:pt idx="2">
                  <c:v>5.3</c:v>
                </c:pt>
                <c:pt idx="3">
                  <c:v>1</c:v>
                </c:pt>
                <c:pt idx="4">
                  <c:v>4.3</c:v>
                </c:pt>
                <c:pt idx="5">
                  <c:v>2.2</c:v>
                </c:pt>
                <c:pt idx="6">
                  <c:v>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资本形成总额</c:v>
                </c:pt>
              </c:strCache>
            </c:strRef>
          </c:tx>
          <c:spPr>
            <a:solidFill>
              <a:srgbClr val="B07D0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1.7</c:v>
                </c:pt>
                <c:pt idx="1">
                  <c:v>2.2</c:v>
                </c:pt>
                <c:pt idx="2">
                  <c:v>1.1</c:v>
                </c:pt>
                <c:pt idx="3">
                  <c:v>1.5</c:v>
                </c:pt>
                <c:pt idx="4">
                  <c:v>1.5</c:v>
                </c:pt>
                <c:pt idx="5">
                  <c:v>1.3</c:v>
                </c:pt>
                <c:pt idx="6">
                  <c:v>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货物和服务净出口</c:v>
                </c:pt>
              </c:strCache>
            </c:strRef>
          </c:tx>
          <c:spPr>
            <a:solidFill>
              <a:srgbClr val="4A63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0.6</c:v>
                </c:pt>
                <c:pt idx="2">
                  <c:v>1.7</c:v>
                </c:pt>
                <c:pt idx="3">
                  <c:v>0.5</c:v>
                </c:pt>
                <c:pt idx="4">
                  <c:v>-0.6</c:v>
                </c:pt>
                <c:pt idx="5">
                  <c:v>1.5</c:v>
                </c:pt>
                <c:pt idx="6">
                  <c:v>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2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社零增速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cat>
            <c:multiLvlStrRef>
              <c:f>Sheet1!$A$2:$A$19</c:f>
              <c:multiLvlStrCache>
                <c:ptCount val="18"/>
                <c:lvl>
                  <c:pt idx="0">
                    <c:v>25年1-2月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26年1-2月</c:v>
                  </c:pt>
                  <c:pt idx="12">
                    <c:v>3</c:v>
                  </c:pt>
                  <c:pt idx="13">
                    <c:v>4</c:v>
                  </c:pt>
                  <c:pt idx="14">
                    <c:v>5</c:v>
                  </c:pt>
                  <c:pt idx="15">
                    <c:v>6</c:v>
                  </c:pt>
                  <c:pt idx="16">
                    <c:v>7</c:v>
                  </c:pt>
                  <c:pt idx="17">
                    <c:v>8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</c:v>
                </c:pt>
                <c:pt idx="1">
                  <c:v>5.9</c:v>
                </c:pt>
                <c:pt idx="2">
                  <c:v>5.1</c:v>
                </c:pt>
                <c:pt idx="3">
                  <c:v>6.4</c:v>
                </c:pt>
                <c:pt idx="4">
                  <c:v>4.8</c:v>
                </c:pt>
                <c:pt idx="5">
                  <c:v>3.7</c:v>
                </c:pt>
                <c:pt idx="6">
                  <c:v>3.4</c:v>
                </c:pt>
                <c:pt idx="7">
                  <c:v>3</c:v>
                </c:pt>
                <c:pt idx="8">
                  <c:v>2.9</c:v>
                </c:pt>
                <c:pt idx="9">
                  <c:v>1.3</c:v>
                </c:pt>
                <c:pt idx="10">
                  <c:v>0.9</c:v>
                </c:pt>
                <c:pt idx="11">
                  <c:v>2.8</c:v>
                </c:pt>
                <c:pt idx="12">
                  <c:v>1.7</c:v>
                </c:pt>
                <c:pt idx="13">
                  <c:v>0.2</c:v>
                </c:pt>
                <c:pt idx="14">
                  <c:v>-0.6</c:v>
                </c:pt>
                <c:pt idx="15">
                  <c:v>1</c:v>
                </c:pt>
                <c:pt idx="16">
                  <c:v>0.6</c:v>
                </c:pt>
                <c:pt idx="17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-2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PPI（工业生产者出厂价格）</c:v>
                </c:pt>
              </c:strCache>
            </c:strRef>
          </c:tx>
          <c:spPr>
            <a:solidFill>
              <a:srgbClr val="C8442D"/>
            </a:solidFill>
            <a:ln w="28575" cap="flat">
              <a:solidFill>
                <a:srgbClr val="C844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42D"/>
              </a:solidFill>
              <a:ln w="9525" cap="flat">
                <a:solidFill>
                  <a:srgbClr val="C844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25年1月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26年1月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-2.3</c:v>
                </c:pt>
                <c:pt idx="1">
                  <c:v>-2.2</c:v>
                </c:pt>
                <c:pt idx="2">
                  <c:v>-2.5</c:v>
                </c:pt>
                <c:pt idx="3">
                  <c:v>-2.7</c:v>
                </c:pt>
                <c:pt idx="4">
                  <c:v>-3.3</c:v>
                </c:pt>
                <c:pt idx="5">
                  <c:v>-3.6</c:v>
                </c:pt>
                <c:pt idx="6">
                  <c:v>-3.6</c:v>
                </c:pt>
                <c:pt idx="7">
                  <c:v>-2.9</c:v>
                </c:pt>
                <c:pt idx="8">
                  <c:v>-2.3</c:v>
                </c:pt>
                <c:pt idx="9">
                  <c:v>-2.1</c:v>
                </c:pt>
                <c:pt idx="10">
                  <c:v>-2.2</c:v>
                </c:pt>
                <c:pt idx="11">
                  <c:v>-1.9</c:v>
                </c:pt>
                <c:pt idx="12">
                  <c:v>-1.4</c:v>
                </c:pt>
                <c:pt idx="13">
                  <c:v>-0.9</c:v>
                </c:pt>
                <c:pt idx="14">
                  <c:v>0.5</c:v>
                </c:pt>
                <c:pt idx="15">
                  <c:v>2.8</c:v>
                </c:pt>
                <c:pt idx="16">
                  <c:v>3.9</c:v>
                </c:pt>
                <c:pt idx="17">
                  <c:v>4.1</c:v>
                </c:pt>
                <c:pt idx="18">
                  <c:v>3.5</c:v>
                </c:pt>
                <c:pt idx="19">
                  <c:v>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CPI（居民消费价格）</c:v>
                </c:pt>
              </c:strCache>
            </c:strRef>
          </c:tx>
          <c:spPr>
            <a:solidFill>
              <a:srgbClr val="00897B"/>
            </a:solidFill>
            <a:ln w="28575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25年1月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26年1月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0.5</c:v>
                </c:pt>
                <c:pt idx="1">
                  <c:v>-0.7</c:v>
                </c:pt>
                <c:pt idx="2">
                  <c:v>-0.1</c:v>
                </c:pt>
                <c:pt idx="3">
                  <c:v>-0.1</c:v>
                </c:pt>
                <c:pt idx="4">
                  <c:v>-0.1</c:v>
                </c:pt>
                <c:pt idx="5">
                  <c:v>0.1</c:v>
                </c:pt>
                <c:pt idx="6">
                  <c:v>0</c:v>
                </c:pt>
                <c:pt idx="7">
                  <c:v>-0.4</c:v>
                </c:pt>
                <c:pt idx="8">
                  <c:v>-0.3</c:v>
                </c:pt>
                <c:pt idx="9">
                  <c:v>0.2</c:v>
                </c:pt>
                <c:pt idx="10">
                  <c:v>0.7</c:v>
                </c:pt>
                <c:pt idx="11">
                  <c:v>0.8</c:v>
                </c:pt>
                <c:pt idx="12">
                  <c:v>0.2</c:v>
                </c:pt>
                <c:pt idx="13">
                  <c:v>1.3</c:v>
                </c:pt>
                <c:pt idx="14">
                  <c:v>1</c:v>
                </c:pt>
                <c:pt idx="15">
                  <c:v>1.2</c:v>
                </c:pt>
                <c:pt idx="16">
                  <c:v>1.2</c:v>
                </c:pt>
                <c:pt idx="17">
                  <c:v>1</c:v>
                </c:pt>
                <c:pt idx="18">
                  <c:v>0.5</c:v>
                </c:pt>
                <c:pt idx="19">
                  <c:v>0.8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-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居民消费率</c:v>
                </c:pt>
              </c:strCache>
            </c:strRef>
          </c:tx>
          <c:spPr>
            <a:solidFill>
              <a:srgbClr val="C8442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中国</c:v>
                  </c:pt>
                  <c:pt idx="1">
                    <c:v>韩国</c:v>
                  </c:pt>
                  <c:pt idx="2">
                    <c:v>德国</c:v>
                  </c:pt>
                  <c:pt idx="3">
                    <c:v>法国</c:v>
                  </c:pt>
                  <c:pt idx="4">
                    <c:v>日本</c:v>
                  </c:pt>
                  <c:pt idx="5">
                    <c:v>印度</c:v>
                  </c:pt>
                  <c:pt idx="6">
                    <c:v>英国</c:v>
                  </c:pt>
                  <c:pt idx="7">
                    <c:v>美国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</c:v>
                </c:pt>
                <c:pt idx="1">
                  <c:v>48</c:v>
                </c:pt>
                <c:pt idx="2">
                  <c:v>52</c:v>
                </c:pt>
                <c:pt idx="3">
                  <c:v>53</c:v>
                </c:pt>
                <c:pt idx="4">
                  <c:v>55</c:v>
                </c:pt>
                <c:pt idx="5">
                  <c:v>60</c:v>
                </c:pt>
                <c:pt idx="6">
                  <c:v>61</c:v>
                </c:pt>
                <c:pt idx="7">
                  <c:v>68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97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A63A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B07D0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8442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工资性收入</c:v>
                </c:pt>
                <c:pt idx="1">
                  <c:v>经营净收入</c:v>
                </c:pt>
                <c:pt idx="2">
                  <c:v>转移净收入</c:v>
                </c:pt>
                <c:pt idx="3">
                  <c:v>财产净收入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56.6</c:v>
                </c:pt>
                <c:pt idx="1">
                  <c:v>16.7</c:v>
                </c:pt>
                <c:pt idx="2">
                  <c:v>18.6</c:v>
                </c:pt>
                <c:pt idx="3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4A63A6"/>
            </a:solidFill>
            <a:ln w="28575" cap="flat">
              <a:solidFill>
                <a:srgbClr val="4A63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63A6"/>
              </a:solidFill>
              <a:ln w="9525" cap="flat">
                <a:solidFill>
                  <a:srgbClr val="4A63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2026上半年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6.8</c:v>
                </c:pt>
                <c:pt idx="1">
                  <c:v>6.9</c:v>
                </c:pt>
                <c:pt idx="2">
                  <c:v>6.7</c:v>
                </c:pt>
                <c:pt idx="3">
                  <c:v>6</c:v>
                </c:pt>
                <c:pt idx="4">
                  <c:v>2.2</c:v>
                </c:pt>
                <c:pt idx="5">
                  <c:v>8.4</c:v>
                </c:pt>
                <c:pt idx="6">
                  <c:v>3.1</c:v>
                </c:pt>
                <c:pt idx="7">
                  <c:v>5.2</c:v>
                </c:pt>
                <c:pt idx="8">
                  <c:v>5</c:v>
                </c:pt>
                <c:pt idx="9">
                  <c:v>5</c:v>
                </c:pt>
                <c:pt idx="10">
                  <c:v>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人均可支配收入</c:v>
                </c:pt>
              </c:strCache>
            </c:strRef>
          </c:tx>
          <c:spPr>
            <a:solidFill>
              <a:srgbClr val="00897B"/>
            </a:solidFill>
            <a:ln w="28575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2026上半年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6.3</c:v>
                </c:pt>
                <c:pt idx="1">
                  <c:v>7.3</c:v>
                </c:pt>
                <c:pt idx="2">
                  <c:v>6.5</c:v>
                </c:pt>
                <c:pt idx="3">
                  <c:v>5.8</c:v>
                </c:pt>
                <c:pt idx="4">
                  <c:v>2.1</c:v>
                </c:pt>
                <c:pt idx="5">
                  <c:v>8.1</c:v>
                </c:pt>
                <c:pt idx="6">
                  <c:v>2.9</c:v>
                </c:pt>
                <c:pt idx="7">
                  <c:v>6.1</c:v>
                </c:pt>
                <c:pt idx="8">
                  <c:v>5.1</c:v>
                </c:pt>
                <c:pt idx="9">
                  <c:v>5</c:v>
                </c:pt>
                <c:pt idx="10">
                  <c:v>4.2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人均消费支出</c:v>
                </c:pt>
              </c:strCache>
            </c:strRef>
          </c:tx>
          <c:spPr>
            <a:solidFill>
              <a:srgbClr val="C8442D"/>
            </a:solidFill>
            <a:ln w="28575" cap="flat">
              <a:solidFill>
                <a:srgbClr val="C844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42D"/>
              </a:solidFill>
              <a:ln w="9525" cap="flat">
                <a:solidFill>
                  <a:srgbClr val="C844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2026上半年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6.8</c:v>
                </c:pt>
                <c:pt idx="1">
                  <c:v>5.4</c:v>
                </c:pt>
                <c:pt idx="2">
                  <c:v>6.2</c:v>
                </c:pt>
                <c:pt idx="3">
                  <c:v>5.5</c:v>
                </c:pt>
                <c:pt idx="4">
                  <c:v>-4</c:v>
                </c:pt>
                <c:pt idx="5">
                  <c:v>12.6</c:v>
                </c:pt>
                <c:pt idx="6">
                  <c:v>-0.2</c:v>
                </c:pt>
                <c:pt idx="7">
                  <c:v>9</c:v>
                </c:pt>
                <c:pt idx="8">
                  <c:v>5.1</c:v>
                </c:pt>
                <c:pt idx="9">
                  <c:v>4.4</c:v>
                </c:pt>
                <c:pt idx="10">
                  <c:v>2.7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-6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平均消费倾向</c:v>
                </c:pt>
              </c:strCache>
            </c:strRef>
          </c:tx>
          <c:spPr>
            <a:solidFill>
              <a:srgbClr val="00897B"/>
            </a:solidFill>
            <a:ln w="28575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70.5</c:v>
                </c:pt>
                <c:pt idx="1">
                  <c:v>70.3</c:v>
                </c:pt>
                <c:pt idx="2">
                  <c:v>70.1</c:v>
                </c:pt>
                <c:pt idx="3">
                  <c:v>65.9</c:v>
                </c:pt>
                <c:pt idx="4">
                  <c:v>68.6</c:v>
                </c:pt>
                <c:pt idx="5">
                  <c:v>66.5</c:v>
                </c:pt>
                <c:pt idx="6">
                  <c:v>68.3</c:v>
                </c:pt>
                <c:pt idx="7">
                  <c:v>68.3</c:v>
                </c:pt>
                <c:pt idx="8">
                  <c:v>68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62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住户存款新增</c:v>
                </c:pt>
              </c:strCache>
            </c:strRef>
          </c:tx>
          <c:spPr>
            <a:solidFill>
              <a:srgbClr val="A9B4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9.7</c:v>
                </c:pt>
                <c:pt idx="1">
                  <c:v>11.3</c:v>
                </c:pt>
                <c:pt idx="2">
                  <c:v>9.9</c:v>
                </c:pt>
                <c:pt idx="3">
                  <c:v>17.8</c:v>
                </c:pt>
                <c:pt idx="4">
                  <c:v>16.7</c:v>
                </c:pt>
                <c:pt idx="5">
                  <c:v>14.3</c:v>
                </c:pt>
                <c:pt idx="6">
                  <c:v>14.6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销售面积</c:v>
                </c:pt>
              </c:strCache>
            </c:strRef>
          </c:tx>
          <c:spPr>
            <a:solidFill>
              <a:srgbClr val="A9B4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17.16</c:v>
                </c:pt>
                <c:pt idx="1">
                  <c:v>17.61</c:v>
                </c:pt>
                <c:pt idx="2">
                  <c:v>17.94</c:v>
                </c:pt>
                <c:pt idx="3">
                  <c:v>13.58</c:v>
                </c:pt>
                <c:pt idx="4">
                  <c:v>11.17</c:v>
                </c:pt>
                <c:pt idx="5">
                  <c:v>9.74</c:v>
                </c:pt>
                <c:pt idx="6">
                  <c:v>8.81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服务消费占比</c:v>
                </c:pt>
              </c:strCache>
            </c:strRef>
          </c:tx>
          <c:spPr>
            <a:solidFill>
              <a:srgbClr val="A9B4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2013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39.7</c:v>
                </c:pt>
                <c:pt idx="1">
                  <c:v>45.9</c:v>
                </c:pt>
                <c:pt idx="2">
                  <c:v>42.6</c:v>
                </c:pt>
                <c:pt idx="3">
                  <c:v>44.2</c:v>
                </c:pt>
                <c:pt idx="4">
                  <c:v>43.2</c:v>
                </c:pt>
                <c:pt idx="5">
                  <c:v>45.2</c:v>
                </c:pt>
                <c:pt idx="6">
                  <c:v>46.1</c:v>
                </c:pt>
                <c:pt idx="7">
                  <c:v>46.1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其他用品及服务</c:v>
                  </c:pt>
                  <c:pt idx="1">
                    <c:v>衣着</c:v>
                  </c:pt>
                  <c:pt idx="2">
                    <c:v>生活用品及服务</c:v>
                  </c:pt>
                  <c:pt idx="3">
                    <c:v>医疗保健</c:v>
                  </c:pt>
                  <c:pt idx="4">
                    <c:v>教育文化娱乐</c:v>
                  </c:pt>
                  <c:pt idx="5">
                    <c:v>交通通信</c:v>
                  </c:pt>
                  <c:pt idx="6">
                    <c:v>居住</c:v>
                  </c:pt>
                  <c:pt idx="7">
                    <c:v>食品烟酒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2.9</c:v>
                </c:pt>
                <c:pt idx="1">
                  <c:v>5.3</c:v>
                </c:pt>
                <c:pt idx="2">
                  <c:v>5.7</c:v>
                </c:pt>
                <c:pt idx="3">
                  <c:v>8.7</c:v>
                </c:pt>
                <c:pt idx="4">
                  <c:v>11.8</c:v>
                </c:pt>
                <c:pt idx="5">
                  <c:v>14.6</c:v>
                </c:pt>
                <c:pt idx="6">
                  <c:v>21.7</c:v>
                </c:pt>
                <c:pt idx="7">
                  <c:v>29.3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增速</c:v>
                </c:pt>
              </c:strCache>
            </c:strRef>
          </c:tx>
          <c:spPr>
            <a:solidFill>
              <a:srgbClr val="A9B4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医疗保健</c:v>
                  </c:pt>
                  <c:pt idx="1">
                    <c:v>居住</c:v>
                  </c:pt>
                  <c:pt idx="2">
                    <c:v>衣着</c:v>
                  </c:pt>
                  <c:pt idx="3">
                    <c:v>食品烟酒</c:v>
                  </c:pt>
                  <c:pt idx="4">
                    <c:v>生活用品及服务</c:v>
                  </c:pt>
                  <c:pt idx="5">
                    <c:v>交通通信</c:v>
                  </c:pt>
                  <c:pt idx="6">
                    <c:v>教育文化娱乐</c:v>
                  </c:pt>
                  <c:pt idx="7">
                    <c:v>其他用品及服务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2.1</c:v>
                </c:pt>
                <c:pt idx="2">
                  <c:v>2.2</c:v>
                </c:pt>
                <c:pt idx="3">
                  <c:v>2.6</c:v>
                </c:pt>
                <c:pt idx="4">
                  <c:v>7.7</c:v>
                </c:pt>
                <c:pt idx="5">
                  <c:v>8.3</c:v>
                </c:pt>
                <c:pt idx="6">
                  <c:v>9.4</c:v>
                </c:pt>
                <c:pt idx="7">
                  <c:v>11.2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受理构成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442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0897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4A63A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投诉</c:v>
                </c:pt>
                <c:pt idx="1">
                  <c:v>咨询</c:v>
                </c:pt>
                <c:pt idx="2">
                  <c:v>举报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2036.6</c:v>
                </c:pt>
                <c:pt idx="1">
                  <c:v>1740.6</c:v>
                </c:pt>
                <c:pt idx="2">
                  <c:v>609.4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日本CPI</c:v>
                </c:pt>
              </c:strCache>
            </c:strRef>
          </c:tx>
          <c:spPr>
            <a:solidFill>
              <a:srgbClr val="A9B4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A9B4BE"/>
              </a:solidFill>
              <a:effectLst/>
            </c:spPr>
          </c:dPt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3.1</c:v>
                </c:pt>
                <c:pt idx="1">
                  <c:v>3.3</c:v>
                </c:pt>
                <c:pt idx="2">
                  <c:v>1.6</c:v>
                </c:pt>
                <c:pt idx="3">
                  <c:v>1.3</c:v>
                </c:pt>
                <c:pt idx="4">
                  <c:v>0.7</c:v>
                </c:pt>
                <c:pt idx="5">
                  <c:v>-0.1</c:v>
                </c:pt>
                <c:pt idx="6">
                  <c:v>0.1</c:v>
                </c:pt>
                <c:pt idx="7">
                  <c:v>1.8</c:v>
                </c:pt>
                <c:pt idx="8">
                  <c:v>0.6</c:v>
                </c:pt>
                <c:pt idx="9">
                  <c:v>-0.3</c:v>
                </c:pt>
                <c:pt idx="10">
                  <c:v>-0.7</c:v>
                </c:pt>
                <c:pt idx="11">
                  <c:v>-0.7</c:v>
                </c:pt>
                <c:pt idx="12">
                  <c:v>-0.9</c:v>
                </c:pt>
                <c:pt idx="13">
                  <c:v>-0.3</c:v>
                </c:pt>
                <c:pt idx="14">
                  <c:v>0</c:v>
                </c:pt>
                <c:pt idx="15">
                  <c:v>-0.3</c:v>
                </c:pt>
                <c:pt idx="16">
                  <c:v>0.2</c:v>
                </c:pt>
                <c:pt idx="17">
                  <c:v>0.1</c:v>
                </c:pt>
                <c:pt idx="18">
                  <c:v>1.4</c:v>
                </c:pt>
                <c:pt idx="19">
                  <c:v>-1.4</c:v>
                </c:pt>
                <c:pt idx="20">
                  <c:v>-0.7</c:v>
                </c:pt>
                <c:pt idx="21">
                  <c:v>-0.3</c:v>
                </c:pt>
                <c:pt idx="22">
                  <c:v>0</c:v>
                </c:pt>
                <c:pt idx="23">
                  <c:v>0.4</c:v>
                </c:pt>
                <c:pt idx="24">
                  <c:v>2.7</c:v>
                </c:pt>
                <c:pt idx="25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4"/>
          <c:min val="-2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资金</c:v>
                </c:pt>
              </c:strCache>
            </c:strRef>
          </c:tx>
          <c:spPr>
            <a:solidFill>
              <a:srgbClr val="B07D0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</c:v>
                </c:pt>
                <c:pt idx="1">
                  <c:v>3000</c:v>
                </c:pt>
                <c:pt idx="2">
                  <c:v>2500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442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2026年1—8月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2.6</c:v>
                </c:pt>
                <c:pt idx="2">
                  <c:v>1.55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全国</c:v>
                </c:pt>
              </c:strCache>
            </c:strRef>
          </c:tx>
          <c:spPr>
            <a:solidFill>
              <a:srgbClr val="A9B4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GDP</c:v>
                  </c:pt>
                  <c:pt idx="1">
                    <c:v>社零总额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4.7</c:v>
                </c:pt>
                <c:pt idx="1">
                  <c:v>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浙江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72E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GDP</c:v>
                  </c:pt>
                  <c:pt idx="1">
                    <c:v>社零总额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5.7</c:v>
                </c:pt>
                <c:pt idx="1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72E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B556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新设经营主体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97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A63A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个体工商户</c:v>
                </c:pt>
                <c:pt idx="1">
                  <c:v>企业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1619.4</c:v>
                </c:pt>
                <c:pt idx="1">
                  <c:v>950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，约1分钟】各位领导、各位同事，大家好。今天这堂课的题目叫“信心与信任”。为什么取这四个字？因为我想用两个小时回答一个问题：中国经济增长不慢，为什么消费总是提不起来？而在这个问题里，市场监管部门到底处在什么位置。我的基本观点先亮出来：宏观政策解决的是“信心”问题，市场监管解决的是“信任”问题——两者缺一不可。
【时间分配】开篇5分钟｜观势18分钟｜析因32分钟｜休息10分钟｜镜鉴12分钟｜谋策13分钟｜作为25分钟｜结语5分钟。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2分钟】先看三个数字。4.7%——今年上半年GDP增速，在全球主要经济体里不算低；1.1%——今年1到8月社会消费品零售总额只增长了1.1%，比GDP慢了一大截；39.9%——居民消费占GDP的比重，大约四成，而主要经济体大多在五成上下到近七成之间。注意：社零是名义增速、GDP是实际增速，口径不同，但扣除约1%的物价涨幅后，消费偏弱的结论只会更明显。三个数字放在一起，就是今天要讨论的“温差”：有增长、缺消费。
【提问互动】大家可以先想一想：如果让你给消费不足找一个原因，你会说什么？（收入？房子？不敢花？没东西买？）——今天我们把这些原因一层层拆开。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2分钟】这页是全课的“主线图”。消费可以粗略写成“信心×信任”。信心，回答的是“愿不愿意花、敢不敢花”：取决于收入、就业、资产、社保和对未来的预期——这主要是宏观政策和民生政策的主场。信任，回答的是“放不放心在这里花”：取决于产品质量、价格是否公道、出了问题能不能维权、平台规则是否公平——这恰恰是市场监管的主场。
为什么用乘号不用加号？因为任何一项趋近于零，消费都起不来：老百姓再有钱，买到的东西不放心，也不会花；市场再规范，收入预期不好，也花不动。所以市场监管不是旁观者，而是消费“乘数”里的另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【约1分钟】五个部分按照“是什么—为什么—别人怎么做—中央怎么部署—我们怎么干”的逻辑展开。前两部分偏宏观，后三部分落到市场监管。中间休息10分钟。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【过渡，约30秒】第一部分“观势”。我们经常听到一种说法：数据挺好，体感不好。这个“温差”是真实存在的，而且有明确的经济学解释。我们用五张图把它讲清楚。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这张图是2012年以来的GDP实际增速。三个看点：第一，从7%—8%逐步换挡到5%左右，这是人口结构、资本边际回报和技术追赶空间变化的结果，是规律，不是失误。第二，2020—2022年疫情扰动大，2021年的8.4%是低基数反弹，不能看作趋势。第三，今年上半年4.7%，一季度5.0%、二季度4.3%，二季度放缓主要来自内需，尤其是消费和投资。
【提示】国家统计局通常在10月中下旬发布前三季度数据，讲课前请把最新一期数字补上。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这是理解“体感温差”最重要的一张图。蓝色是名义增速，绿色是实际增速。正常年份名义高于实际，因为有温和通胀。但2023—2025年连续三年名义低于实际，也就是GDP平减指数为负，物价总水平在下降。
为什么这很重要？因为企业的营业收入、利润，政府的税收，职工的工资，全都是按名义值计算的。实际增长5%，名义只有4%，意味着“量在增、价在跌”——企业卖得更多却赚得更少，这就是“体感温差”的第一个来源。
今年情况开始变化：PPI转正，平减指数降幅收窄。但要注意，这次价格回升更多来自上游成本推动，而不是需求拉动，我们后面会讲到。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这张图把每年GDP增长拆成三块：消费、投资、净出口，单位是“拉动了几个百分点”。看2024、2025年：净出口分别拉动1.5和1.6个百分点，2025年对增长的贡献率接近三分之一，是近年高位。也就是说，最近两年外需在给内需“补位”。
问题是外需补位不可持续：一是外部关税和地缘不确定性在上升；二是长期靠外需，会加剧贸易摩擦。所以中央反复强调“坚持内需主导”。消费2025年拉动2.6个百分点，贡献率52%；“十四五”时期平均贡献率58.8%——但相对于我们的经济体量和发展阶段，消费这台“发动机”还不够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【约4分钟】这是社会消费品零售总额的月度增速。绿色是2025年，红色是2026年。2025年5月达到6.4%的阶段高点，此后几乎逐月回落；今年5月一度负增长，8月只有0.4%。
为什么？最主要的原因是以旧换新等耐用品补贴的“需求前置”：本来明年后年才换的车、换的家电，提前到2025年买了。经济学上叫“跨期替代”。补贴力度边际减弱后，就出现“回吐”，今年8月汽车零售下降18.5%，是最大拖累。
但也有亮点：通讯器材增长27.3%（数码产品补贴），1—8月服务零售增长4.9%，明显快于商品零售的1.0%。
【监管提示】补贴退坡期往往是价格乱象高发期，先涨后降、虚假促销要重点盯防。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看价格。红线是PPI（工业生产者出厂价格），绿线是CPI（居民消费价格）。PPI在今年3月由负转正，结束了连续41个月的下降，6月涨到4.1%，8月3.8%。原因主要是国际大宗商品、资源品供给偏紧、电子产业链涨价，以及“反内卷”带来的部分行业价格企稳。
但CPI只有1%左右，核心CPI也是1%左右。上游涨、下游涨不动——这说明终端需求仍然偏弱，成本传导不下去。谁最难受？夹在中间的中下游制造企业、批发零售、个体工商户：进价涨了，售价不敢涨，利润被挤压。
这对监管意味着“两线作战”：上游要防囤积居奇、哄抬价格、串通涨价；下游仍要防低价倾销和价格欺诈。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【约3分钟，承上启下】把前面五张图归纳成四句话：总量稳、结构弱、价格转、预期弱。
这和中央的判断是一致的：2024年中央经济工作会议明确指出“国内需求不足”；2025年中央经济工作会议把“坚持内需主导，建设强大国内市场”放在重点任务的第一位。
所以，当前经济的主要矛盾是有效需求不足，而需求里最弱的一环，是居民消费。下面第二部分，我们就专门拆解：消费为什么提不起来。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【过渡，约30秒】第二部分是今天的重点。常有人说中国人天生爱存钱，这个解释既不科学也没有政策含义。我们用一个框架把消费拆成四道门槛，逐一看数据。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【约3分钟】经济学里的消费函数，最简单的版本只有收入一个变量。但现实中，一个家庭从“有钱”到“把钱花出去”，至少要跨过四道门槛：
第一道，能消费——有没有钱，取决于收入份额、收入增速和收入分配；
第二道，敢消费——敢不敢花，取决于资产（尤其是房子）、就业稳定性和社会保障，也就是预防性储蓄动机；
第三道，愿消费——想不想买，取决于有没有好产品、好服务、好场景，甚至有没有时间；
第四道，放心消费——放不放心，取决于质量、价格、维权和信用。
前两道是“信心”问题，主要靠宏观和民生政策；后两道是“供给与信任”问题，恰恰是市场监管的主场。后面的数据，就按这四道门槛展开。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【约3分钟】这是居民消费占GDP比重的国际比较。中国大约40%，美国68%，英国、印度六成左右，日本、德国、法国在五成以上，韩国接近五成。
这里要讲两点严谨性：第一，中国的统计口径存在一定低估，比如自有住房的虚拟房租、政府提供给居民的实物社会转移。2023年国家统计局已经改革了自有住房服务核算方法，部分修正了这个低估。第二，即便学界做了各种调整，中国居民消费率仍比主要经济体低10个百分点以上，这个结构性短板是真实存在的。
一个直观换算：居民消费率每提高1个百分点，按140万亿元GDP算，就是约1.4万亿元的消费。“十五五”规划要求“居民消费率明显提高”，空间在这里。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【约3分钟】第一道门槛：收入。左边是2025年全国居民人均可支配收入的结构：工资性收入占56.6%，经营净收入16.7%，转移净收入18.6%，财产净收入只有8%。
三个要点。第一，把人均可支配收入乘以人口，大约61万亿元，只占GDP的43%左右；即便按资金流量表口径也只有六成上下，明显低于发达经济体。国民收入的“蛋糕”分给居民的那一块偏小。第二，财产净收入占比只有8%，而且2025年只增长1.6%，房租、存款利息、分红都在走弱。第三，中位数只有平均数的83.5%，城乡收入比2.31，说明收入分配还不均衡——而低收入群体恰恰是边际消费倾向最高的群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【约3分钟】这张图有三条线：GDP实际增速、居民人均可支配收入实际增速、人均消费支出实际增速。
疫情三年波动很大，2021年、2023年消费的高增长是低基数反弹，不必过度解读。关键看最右边：今年上半年，GDP增长4.7%，收入增长4.2%，消费只增长2.7%——形成了“两级落差”：收入跑输GDP，消费又跑输收入。
这告诉我们：问题不只在“钱”，还在“心”。即使收入在增长，如果家庭对未来没有把握，增加的收入也会更多地变成储蓄。这就自然引出第二道门槛——敢不敢消费。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左图是平均消费倾向，也就是每100元可支配收入里花掉多少。2019年是70.1元，疫情后一直没有回去，2025年是68.0元。差两个百分点看似不多，但做个换算：如果消费倾向回到2019年水平，2025年居民消费可以多出约1.3万亿元，相当于GDP的0.9%。
右图是住户存款每年新增额。2019—2021年平均每年新增约10万亿元，2022年以后跳到每年15万亿元左右。这背后有预防性储蓄的增加，也有资产配置从房产、理财转向存款的“存款搬家”——要实事求是，不能把多存的钱全都看作“不敢花”。但方向是清楚的：家庭在“加固资产负债表”。
经济学上，这叫预防性储蓄：未来越不确定，家庭越倾向存钱防身。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【约3分钟】第二道门槛里最重要的变量是房子。全国新建商品房销售面积从2021年的17.9亿平方米，降到2025年的8.8亿平方米，几乎腰斩；今年1—8月又下降了12.1%。房地产开发投资2025年下降17.2%。
为什么房地产会影响消费？两个渠道。一是财富效应：城镇家庭资产约六成在住房上，房价预期转弱，家庭会觉得自己“变穷了”，于是增加储蓄、减少消费。二是关联消费：装修、家电、家具、建材都跟着走弱——今年建材家具类零售持续下降就是例证。
对监管来说，房地产调整期，中介、装修、物业、预售等领域的消费纠纷也会增多，需要提前关注。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【约3分钟】第二道门槛的另外两个变量：就业和保障。
青年就业压力比较突出：2025年8月，16—24岁（不含在校生）城镇失业率18.9%，是新口径发布以来的最高值；今年3月25—29岁失业率7.7%，也是该指标发布以来的最高。今年高校毕业生1270万人，再创新高。
保障方面，城乡居民基础养老金最低标准2025年是每月143元，与职工养老金差距很大。农村老人、灵活就业人员的保障不足，自然要多存钱。
这些不是市场监管能直接解决的，但要看到：中央已经在转向“投资于人”——今年政府工作报告首次提出制定实施城乡居民增收计划，并新增失能老年人养老服务消费补贴。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【约3分钟】第三道门槛：供给。随着收入提高，消费会从“买东西”转向“买服务”——养老、托育、教育、医疗、文旅、体育。这是规律。
我国居民服务性消费占比从2013年的39.7%升到2019年的45.9%，疫情中回落，2024、2025年都是46.1%，基本停滞。美国个人消费支出里服务占三分之二以上，国内一线城市也已接近六成。
为什么停滞？很大程度上不是没有需求，而是供给跟不上：好的养老院排不上队，托育机构不放心，景区体验不好。服务消费有一个特点——它是“经验品”甚至“信任品”，买之前看不见质量，买之后也难判断。这就决定了：服务消费越要放开，标准、认证和信用评价就越重要。这正是市场监管的用武之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2分钟】左图是2025年人均消费支出的结构：食品烟酒和居住两项合计占51%，仍是“半壁江山”。右图是各项的增速：增长最快的是其他用品及服务、教育文化娱乐、交通通信、生活用品及服务，都在7%以上；而医疗保健只增长1%，居住只增长2.1%。
这个结构告诉我们，消费升级的方向是“发展型、享受型、服务型”。这些领域恰恰是新业态最多、标准最不完善、投诉增长最快的领域。监管跟不上，升级就会卡壳。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【约4分钟】第四道门槛：信任。这是我们自己的数据。2025年全国市场监管部门受理投诉、举报、咨询4386.6万件，其中投诉举报2646万件，同比增长9.8%，为消费者挽回经济损失43.5亿元。
几个结构性特点：网购投诉举报1506.7万件，占56.9%；售后服务投诉连续三年居首；合同类投诉增长40.3%，集中在退款难、霸王条款；智能设备投诉增长26.6%。
讲一个经济学的经典理论：阿克洛夫的“柠檬市场”。当买方无法辨别质量时，他只愿意按平均质量出价，好产品卖不上价就退出了，最后市场上只剩次品，整个市场萎缩。所以，信任缺失相当于对消费征收了一笔“隐性税”——这笔税，市场监管可以帮老百姓“减免”。
【强调】投诉量上升不一定是坏事，可能是维权渠道更畅通了；关键看重复投诉和同类投诉是否减少。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，第二部分总结】把四道门槛、主要症结、政策工具和主责部门放在一张表里。前两道门槛——收入和预期——是消费不足的主因，主要靠收入分配、社保、房地产、就业等宏观和民生政策，市场监管不是主角，我们要有这个清醒认识，不能“包打天下”，更不能夸大自己的作用。
但后两道门槛——供给和信任——市场监管是主责部门。我用中医的“药引子”来比喻：药引子本身不是主药，但它决定药效能不能到达病灶。补贴发下去了，如果商家先涨价后打折，补贴就被吃掉了；收入增加了，如果买东西不放心、维权太难，钱就还是存在银行里。监管守住信任，其他政策才能转化为真实的消费。
【过渡】上半场到这里。休息10分钟，下半场我们看国际经验，再落到市场监管怎么干。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【休息10分钟】可在休息时收集问题，下半场开头先回应1—2个。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【过渡，约30秒】下半场先看国际经验。我选两个参照：一个是反面教材——日本泡沫破裂后的通缩；一个是正面经验——美欧的消费者保护制度。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【约5分钟】这是日本1990—2015年的CPI涨幅，红色柱是负增长的年份。1990年前后资产泡沫破裂，股价、地价持续下跌，企业和家庭都转向“还债优先”，这就是辜朝明所说的“资产负债表衰退”。
之后近二十年，日本物价基本零增长甚至负增长。企业为了保份额，降价、压工资、减少正式雇佣；家庭收入不涨，只能买更便宜的东西；企业又进一步降价——形成“低价—低薪—低需求”的自我强化循环。日本人把这叫“通缩心态”。2013年以后安倍经济学才逐步扭转，代价极高。
对我们的三点启示：第一，通缩预期一旦形成，扭转成本极高，要早干预；第二，价格战不等于消费者福利，长期看会损害质量、创新和工资；第三，政策最终要落到居民收入上。
【注意分寸】中日国情差异很大：我们城镇化还有空间、政策工具更多、产业升级更快。讲日本是为了“防”，不是说我们会“成为”日本。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美国家庭消费占GDP近七成，常被解释为“美国人爱花钱”。但如果看制度史，你会发现，高消费率背后是一百多年逐步建立的“信任基础设施”：1906年食品药品立法，1914年成立联邦贸易委员会，1962年肯尼迪提出消费者四项权利——安全、知情、选择、表达，1972年设立消费品安全委员会。欧洲则有1985年产品责任指令、1993年统一大市场、2011年的14天无理由撤回权、2022年针对大平台“守门人”的数字市场法。
我们的制度建设起步晚、进步快：1993年消保法，2013年修订引入网购七日无理由退货，2018年组建市场监管总局，2025年新修订的反不正当竞争法施行，同年出台优化消费环境三年行动方案。
核心逻辑：消费者保护把“试错成本”从消费者转移给了经营者，人们才敢于尝试新产品、新服务。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【约3分钟】三条规律。第一，消费率是“慢变量”。它取决于收入分配、社会保障、城镇化这些结构性因素，短期补贴只能熨平波动，改变不了结构。所以对以旧换新这类政策，要有合理预期。
第二，信任是“基础设施”。成熟消费社会都建立在一整套消费者保护和信用体系之上。它像公路一样，平时感觉不到，缺了就寸步难行。
第三，竞争政策保护的是“竞争”，不是“竞争者”，更不是“价格”。这句话是反垄断经济学的经典表述。治理内卷，要打的是掠夺性定价、虚假低价，但绝不能滑向“限价保价”“协同涨价”——那就从反内卷变成了卡特尔。这一条，我们在第五部分还会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【过渡，约30秒】第四部分，看中央部署，并用经济学的眼光审视以旧换新这项最主要的促消费政策。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【约4分钟】这是近两年扩内需政策的时间轴。可以看出三个转变：
第一，从“物”到“人”。早期政策更多是补商品，现在越来越强调“投资于人”：育儿补贴、提高基础养老金、城乡居民增收计划。
第二，从“商品”到“服务”。服务消费提质惠民行动、清理服务消费领域不合理限制。
第三，从“补贴刺激”到“制度建设”。优化消费环境三年行动、整治内卷式竞争、修订反不正当竞争法和价格法——这些都是长效制度，也恰恰是市场监管牵头或深度参与的。
特别提一下：《优化消费环境三年行动方案（2025—2027年）》是市场监管总局牵头，统筹30个部门、149项细化措施。也就是说，在提振消费这件大事里，市场监管是有“专属任务”的。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以旧换新是这两年力度最大的促消费政策。左图是中央安排的超长期特别国债资金：2024年1500亿元，2025年3000亿元，2026年2500亿元。右图是带动的相关商品销售额：2025年约2.6万亿元，今年1—8月1.55万亿元。
政策是有效的：2025年汽车以旧换新超过1150万辆，家电超过1.29亿件。但要看到边际效应在递减：今年1—8月汽车以旧换新535万辆，明显少于去年同期；8月汽车零售额下降18.5%。
这里我要强调一个概念上的区别：“带动销售额”不等于“新增消费”。2.6万亿元里，有一部分是消费者本来就会买的，有一部分是把明年的需求提前到今年，还有一部分可能挤出了其他消费。经济学研究补贴政策，最关心的是“净效应”。这就引出下一页——补贴的归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【约5分钟，本部分核心】这是我自己的研究领域——消费刺激政策的经济学。我们问一个问题：政府花一元钱补贴消费，最终买到了什么？要剥四层：
第一层，带动销售额，这是政策统计的口径；
第二层，净新增支出——要扣掉三块：本来就会买的（经济学叫“无谓补贴”）、把明年的购买提前到今年的（跨期替代）、因为买了补贴品而少买其他东西的（挤出效应）；
第三层，消费者实得——如果商家在补贴期先涨价再打折，或者虚标能效等级套取补贴，补贴就被商家拿走了。这在经济学上叫补贴的“市场归宿”，或者“税负归宿”的反面；
第四层，社会福利——再考虑财政成本、公平和节能减排等外部性。
关键在第三层：补贴能不能真正落到消费者口袋，市场监管是“守门人”。价格监测、能效标识核查、旧机回收真实性核查、售后投诉处置——每一项都直接决定补贴的效率。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【过渡，约30秒】最后一部分，回到我们自己。我把市场监管促消费的工作归纳为五个抓手，每个抓手对应消费的一道门槛。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2分钟】五个抓手：放心消费、公平竞争、质量标准、经营主体、新业态。注意每个抓手都对应前面讲的一道门槛：放心消费和公平竞争对应“放心消费”；质量标准和新业态对应“愿消费”；经营主体对应“能消费”——这是市场监管影响居民收入最直接的渠道。下面逐一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【约4分钟】放心消费。左边三个数：2025年受理4386.6万件，挽回损失43.5亿元；到2030年，全国放心消费集聚区要达到5000个以上，打造“放心消费在中国”品牌。
右边是四项具体工作。我想强调经济学逻辑：消费者买的不只是商品本身，还买了一份“出了问题能解决”的保障。无理由退货降低了“买错的成本”，预付式消费资金监管降低了“跑路的风险”，在线纠纷解决降低了“维权的时间成本”，信息公示激活了“用脚投票”的声誉机制。每降低一分维权成本，就提高一分消费意愿。
为什么说信任是成本最低的刺激政策？发补贴要真金白银，而建立信任，主要靠规则和执法，财政成本很低，效果却是持久的。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【约3分钟】讲讲我们浙江。左图是今年上半年浙江和全国的对比：GDP浙江5.7%，全国4.7%；社零浙江3.0%，全国1.3%，是全国的两倍多。消费表现好，背后有市场活力的原因，也有消费环境的原因。
浙江从2017年开始实施“放心消费在浙江”行动，首批1.3万家企业承诺无理由退货，这一理念后来上升为全国的“放心消费在中国”品牌。近期的亮点包括：“放心贷”覆盖147个放心消费商圈、4.16万户商户，放贷超过1800亿元，入选全国优化消费环境五大典型案例；7个项目入选总局优化消费环境试点，数量全国第一；温州依托“浙食链”的食用农产品全链条数字化监管入选全国首批全链条监管创新案例。
【建议】这里可以请在座各地市补充本地的鲜活案例，现场互动效果会更好。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【约5分钟，本部分要讲透】“反内卷”是当前的热点，也最容易讲偏。我讲三层意思。
第一，价格监管要“两线作战”。上游PPI涨了3.8%，要防囤积居奇、哄抬价格、串通涨价；下游CPI只有0.8%，要继续治理低价倾销、价格欺诈、虚假折扣、大数据杀熟。今年上半年总局部署了16项专项行动，全国查办不正当竞争案件11465件，正在推动价格法修改，完善低价倾销的认定规则和行业成本调查。
第二，要划清边界。该治理的是：低于成本倾销排挤对手、平台强制商家“最低价”、滥用“仅退款”、靠偷工减料实现的“劣质低价”。不该做的是：行政定价、设“保护价”、为行业协会的“协同涨价”背书——后者本身就涉嫌违反反垄断法的垄断协议条款。也不能把正常的、靠效率实现的降价当作内卷。
第三，判断标准只有一个：是否损害消费者的长期福利和市场的动态效率。监管的目标是让价格重新“说真话”，而不是让价格“往上走”。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【约4分钟】质量标准。经济学上，标准是“质量的语言”：它把消费者看不见的质量，变成看得见的标识，大幅降低搜寻成本。链条上有四环：标准定义好、认证证明好、检测抽查核验好、召回追责兜住底。
两个现实信号：第一，以旧换新的规模——今年1—8月6类家电以旧换新9146万台、数码和智能产品购新1.08亿件，补贴聚焦一级能效，能效标识和认证的真实性就直接关系到财政资金的效率；第二，智能设备投诉增长26.6%，说明新产品的标准跟不上市场——智能手表、智能眼镜、AI玩具这些品类，标准缺位就是监管盲区。
第三点是服务标准：养老、托育、家政、文旅这些服务消费，最缺的是“看得见的质量”。服务标准化和服务质量评价，是释放服务消费的前提。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经营主体。这是市场监管影响“能消费”这道门槛最直接的渠道。2025年全国新设经营主体2574.5万户，其中个体工商户1619.4万户，占六成以上；在营活跃企业数量增长9.8%。浙江经营主体1163.65万户，平均不到6个常住人口就有一个经营主体。
个体工商户有两个身份：它是就业的“蓄水池”——吸纳了大量青年、灵活就业人员和农民工；它也是消费的“毛细血管”——街边小店、夜市、社区服务，构成了消费最基层的场景。小店兴，则烟火旺。
所以，登记便利化、涉企检查“无事不扰”、信用修复、个体工商户分型分类帮扶，这些看起来是“营商环境”工作，实质上是在打通“活力—就业—收入—消费”这条传导链。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【约4分钟】新业态。两个数：今年一季度网上商品零售额占社零的24.8%，四分之一的消费在网上；2025年网购投诉举报占全部投诉举报的56.9%，一半以上的纠纷在网上。
四类重点新业态：直播电商、即时零售和外卖、智能与AI消费、银发与健康消费。每一类都有其典型风险和对应的监管工具。比如即时零售和外卖，补贴大战带来的低价倾销和食品安全风险；银发消费，保健品虚假宣传和养老预付费风险。
原则是“包容审慎”，但包容审慎不等于放任不管：规则先行、底线监管、科技赋能、平台共治。平台既是市场参与者，也是规则制定者，要压实它作为“守门人”的责任。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最后给一份基层清单。这十件事有一个共同特点：不需要新增大量财政资金，主要靠规则、执法和服务，而且市县局有权限、能落地。大家可以对照本地情况，挑三五件先干起来，一年后回头看投诉数据、商圈客流和经营主体活跃度的变化。
【互动建议】可以请1—2位地市局同志分享本地做法。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分钟】最后用三个转变收尾。第一，从“守底线”到“促发展”：监管不只是成本，好的监管本身就是生产力，因为它降低了全社会的交易成本。第二，从“事后罚”到“事前防”：信用监管、智慧监管，让守法者无事不扰，让违法者无处可藏。第三，从“保护消费者”到“建设消费社会”：放心消费不只是一项民生工作，它是扩大内需的制度基础设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【结束语】宏观政策提振信心，市场监管守护信任。信心决定人们愿不愿意花钱，信任决定人们敢不敢在这里花钱。谢谢大家！
【答疑预案】①“反内卷会不会推高物价？”——看第37页“反内卷的边界”；②“监管收紧会不会抑制新业态？”——包容审慎不等于放任，规则清楚反而降低合规不确定性；③“以旧换新退坡怎么办？”——从补商品转向补人、补服务，同时守住补贴归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【不讲，供备课使用】讲课前请按右侧清单更新最新数据。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信心与信任 ｜ 从消费看中国经济形势与市场监管的作为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全省市场监管系统干部专题讲座</a:t>
            </a:r>
            <a:endParaRPr lang="zh-CN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7373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信心与信任</a:t>
            </a:r>
            <a:endParaRPr lang="zh-CN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从消费看中国经济形势与市场监管的作为</a:t>
            </a:r>
            <a:endParaRPr lang="zh-CN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4069080"/>
            <a:ext cx="5669280" cy="0"/>
          </a:xfrm>
          <a:prstGeom prst="line">
            <a:avLst/>
          </a:prstGeom>
          <a:noFill/>
          <a:ln w="9525">
            <a:solidFill>
              <a:srgbClr val="2E5F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浙江财经大学经济学院 ｜ 挂职浙江省市场监督管理局经济发展处</a:t>
            </a:r>
            <a:endParaRPr lang="zh-CN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2026年10月</a:t>
            </a:r>
            <a:endParaRPr lang="zh-CN" sz="1500" dirty="0"/>
          </a:p>
        </p:txBody>
      </p:sp>
      <p:sp>
        <p:nvSpPr>
          <p:cNvPr id="8" name="Shape 6"/>
          <p:cNvSpPr/>
          <p:nvPr/>
        </p:nvSpPr>
        <p:spPr>
          <a:xfrm>
            <a:off x="9006840" y="1600200"/>
            <a:ext cx="2103120" cy="2103120"/>
          </a:xfrm>
          <a:prstGeom prst="roundRect">
            <a:avLst>
              <a:gd name="adj" fmla="val 65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06840" y="16002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</a:t>
            </a:r>
            <a:endParaRPr lang="zh-CN" sz="110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 · 信任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三个数字：经济在增长，消费在放缓，份额在低位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04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7830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6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4.7%</a:t>
            </a:r>
            <a:endParaRPr lang="zh-CN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2026年上半年GDP实际增速</a:t>
            </a:r>
            <a:endParaRPr lang="zh-CN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一季度5.0%、二季度4.3%；</a:t>
            </a:r>
            <a:endParaRPr lang="zh-CN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全年目标4.5%—5%</a:t>
            </a:r>
            <a:endParaRPr lang="zh-CN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17830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6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1.1%</a:t>
            </a:r>
            <a:endParaRPr lang="zh-CN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2026年1—8月社零总额增速</a:t>
            </a:r>
            <a:endParaRPr lang="zh-CN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8月当月仅增长0.4%（名义）；</a:t>
            </a:r>
            <a:endParaRPr lang="zh-CN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扣除物价后实际增长更低</a:t>
            </a:r>
            <a:endParaRPr lang="zh-CN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1600200"/>
            <a:ext cx="35204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17830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60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39.9%</a:t>
            </a:r>
            <a:endParaRPr lang="zh-CN" sz="60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居民消费率（2024年）</a:t>
            </a:r>
            <a:endParaRPr lang="zh-CN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3383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主要经济体多在48%—68%；</a:t>
            </a:r>
            <a:endParaRPr lang="zh-CN" sz="13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“十五五”要求明显提高</a:t>
            </a:r>
            <a:endParaRPr lang="zh-CN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709160"/>
            <a:ext cx="11094415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4709160"/>
            <a:ext cx="103628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今天的核心问题  </a:t>
            </a:r>
            <a:r>
              <a:rPr lang="zh-CN" altLang="en-US" sz="17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为什么“有增长、缺消费”？哪些堵点是市场监管够得着、管得了、管得好的？</a:t>
            </a:r>
            <a:endParaRPr lang="zh-CN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资料来源：国家统计局；世界银行WDI。居民消费率为支出法口径，2024年。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一条主线：宏观政策管“信心”，市场监管管“信任”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475488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830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</a:t>
            </a:r>
            <a:endParaRPr lang="zh-CN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愿不愿意花、敢不敢花</a:t>
            </a:r>
            <a:endParaRPr lang="zh-CN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收入与就业</a:t>
            </a: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有没有钱、稳不稳</a:t>
            </a:r>
            <a:endParaRPr lang="zh-CN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资产与财富</a:t>
            </a: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房子、存款、股票</a:t>
            </a:r>
            <a:endParaRPr lang="zh-CN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37398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社会保障</a:t>
            </a: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养老、医疗、教育</a:t>
            </a:r>
            <a:endParaRPr lang="zh-CN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2153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未来预期</a:t>
            </a: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对明天的判断</a:t>
            </a:r>
            <a:endParaRPr lang="zh-CN" sz="1400" dirty="0"/>
          </a:p>
        </p:txBody>
      </p:sp>
      <p:sp>
        <p:nvSpPr>
          <p:cNvPr id="14" name="Shape 11"/>
          <p:cNvSpPr/>
          <p:nvPr/>
        </p:nvSpPr>
        <p:spPr>
          <a:xfrm>
            <a:off x="6885432" y="1508760"/>
            <a:ext cx="4754880" cy="3337560"/>
          </a:xfrm>
          <a:prstGeom prst="roundRect">
            <a:avLst>
              <a:gd name="adj" fmla="val 2192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19872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zh-CN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119872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放不放心在这里花</a:t>
            </a:r>
            <a:endParaRPr lang="zh-CN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296912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质量与标准</a:t>
            </a: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买到的是不是好东西</a:t>
            </a:r>
            <a:endParaRPr lang="zh-CN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296912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价格与竞争</a:t>
            </a: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价格公不公道</a:t>
            </a:r>
            <a:endParaRPr lang="zh-CN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96912" y="37398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维权与信用</a:t>
            </a: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出了问题能不能解决</a:t>
            </a:r>
            <a:endParaRPr lang="zh-CN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296912" y="42153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平台与新业态</a:t>
            </a: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规则公不公平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889150"/>
            <a:ext cx="336499" cy="336499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205472" y="1691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982" y="1889150"/>
            <a:ext cx="336499" cy="336499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596128" y="2743200"/>
            <a:ext cx="1005840" cy="10058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596128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zh-CN" sz="40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 ≈ 信心 × 信任</a:t>
            </a:r>
            <a:r>
              <a:rPr lang="zh-CN" altLang="en-US" sz="15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宏观与民生政策的主场  ←  →  市场监管的主场</a:t>
            </a:r>
            <a:endParaRPr lang="zh-CN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任何一项趋近于零，消费都起不来——市场监管不是消费问题的旁观者，而是“乘数”的另一半。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内容安排：五个部分，一条逻辑链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713232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463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</a:t>
            </a:r>
            <a:endParaRPr lang="zh-CN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63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一、观势 ｜ </a:t>
            </a:r>
            <a:r>
              <a:rPr lang="zh-CN" alt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增长的“温差”从何而来</a:t>
            </a:r>
            <a:endParaRPr lang="zh-CN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1874520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GDP、价格、三大需求、社零走势</a:t>
            </a:r>
            <a:endParaRPr lang="zh-CN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1463040"/>
            <a:ext cx="1673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约18分钟</a:t>
            </a:r>
            <a:endParaRPr lang="zh-CN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359152"/>
            <a:ext cx="713232" cy="713232"/>
          </a:xfrm>
          <a:prstGeom prst="roundRect">
            <a:avLst>
              <a:gd name="adj" fmla="val 10256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3591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23591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二、析因 ｜ </a:t>
            </a:r>
            <a:r>
              <a:rPr lang="zh-CN" alt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消费为什么“提不起来”</a:t>
            </a:r>
            <a:endParaRPr lang="zh-CN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2770632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收入、财富、预期、供给、信任</a:t>
            </a:r>
            <a:endParaRPr lang="zh-CN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2359152"/>
            <a:ext cx="1673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约32分钟</a:t>
            </a:r>
            <a:endParaRPr lang="zh-CN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255264"/>
            <a:ext cx="713232" cy="713232"/>
          </a:xfrm>
          <a:prstGeom prst="roundRect">
            <a:avLst>
              <a:gd name="adj" fmla="val 10256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2552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</a:t>
            </a:r>
            <a:endParaRPr lang="zh-CN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25526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三、镜鉴 ｜ </a:t>
            </a:r>
            <a:r>
              <a:rPr lang="zh-CN" alt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消费社会是怎样炼成的</a:t>
            </a:r>
            <a:endParaRPr lang="zh-CN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3666744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日本通缩、美欧消费者保护</a:t>
            </a:r>
            <a:endParaRPr lang="zh-CN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966960" y="3255264"/>
            <a:ext cx="1673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约12分钟</a:t>
            </a:r>
            <a:endParaRPr lang="zh-CN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151376"/>
            <a:ext cx="713232" cy="713232"/>
          </a:xfrm>
          <a:prstGeom prst="roundRect">
            <a:avLst>
              <a:gd name="adj" fmla="val 10256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1513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</a:t>
            </a:r>
            <a:endParaRPr lang="zh-CN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1508760" y="415137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四、谋策 ｜ </a:t>
            </a:r>
            <a:r>
              <a:rPr lang="zh-CN" alt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从“补商品”到“投资于人”</a:t>
            </a:r>
            <a:endParaRPr lang="zh-CN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4562856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政策脉络、以旧换新、补贴归宿</a:t>
            </a:r>
            <a:endParaRPr lang="zh-CN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966960" y="4151376"/>
            <a:ext cx="1673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约13分钟</a:t>
            </a:r>
            <a:endParaRPr lang="zh-CN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5047488"/>
            <a:ext cx="713232" cy="713232"/>
          </a:xfrm>
          <a:prstGeom prst="roundRect">
            <a:avLst>
              <a:gd name="adj" fmla="val 10256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50474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1508760" y="50474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五、作为 ｜ </a:t>
            </a:r>
            <a:r>
              <a:rPr lang="zh-CN" alt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市场监管如何为消费“增信任”</a:t>
            </a:r>
            <a:endParaRPr lang="zh-CN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5458968"/>
            <a:ext cx="6583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五个抓手、浙江实践、基层清单</a:t>
            </a:r>
            <a:endParaRPr lang="zh-CN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966960" y="5047488"/>
            <a:ext cx="1673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5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约25分钟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74520"/>
            <a:ext cx="146304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874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</a:t>
            </a:r>
            <a:endParaRPr lang="zh-CN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观势</a:t>
            </a:r>
            <a:endParaRPr lang="zh-CN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22860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增长的“温差”从何而来</a:t>
            </a:r>
            <a:endParaRPr lang="zh-CN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32918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i="1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GDP增长5%左右，为什么不少企业和家庭“体感偏冷”？</a:t>
            </a:r>
            <a:endParaRPr lang="zh-CN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观势</a:t>
            </a:r>
            <a:endParaRPr lang="zh-CN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析因</a:t>
            </a:r>
            <a:endParaRPr lang="zh-CN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镜鉴</a:t>
            </a:r>
            <a:endParaRPr lang="zh-CN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谋策</a:t>
            </a:r>
            <a:endParaRPr lang="zh-CN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作为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5303520"/>
            <a:ext cx="10360152" cy="0"/>
          </a:xfrm>
          <a:prstGeom prst="line">
            <a:avLst/>
          </a:prstGeom>
          <a:noFill/>
          <a:ln w="9525">
            <a:solidFill>
              <a:srgbClr val="2E5F5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观势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增速换挡：中国经济进入“5%左右”的中速增长阶段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  GDP实际增速（%）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增速从“8%时代”换挡到“5%左右”，是潜在增长率下行的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规律性变化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2026年目标为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4.5%—5%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；上半年4.7%，其中二季度4.3%，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内需走弱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是主因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看增速更要看结构：同样5%，靠外需和投资撑起来的增长，与靠消费撑起来的增长，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质量不同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709160"/>
            <a:ext cx="3273552" cy="1143000"/>
          </a:xfrm>
          <a:prstGeom prst="roundRect">
            <a:avLst>
              <a:gd name="adj" fmla="val 6400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818888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换挡期增长更依赖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内需与效率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：降低制度性交易成本，本身就是稳增长政策。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资料来源：国家统计局。2022年及以前、2024年为最终核实数，2023年为初步核算数，2026年为上半年同比。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观势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体感温差之一：名义增速连续三年低于实际增速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图2  名义与实际GDP增速（%）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营收、利润、税收、工资都按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名义值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计价——名义增速才是“体感增速”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2023—2025年名义增速约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4.6%、4.2%、4.0%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，均低于实际增速：量增价跌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2026年PPI转正，名义增速有望回到实际之上，但这轮回升主要是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成本推动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48056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590288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价格总水平是监管的“温度计”：通缩期重在治理低价无序竞争，回升期还要防成本推动型涨价。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资料来源：国家统计局，作者据现价GDP计算名义增速（2024年用最终核实数，2023年基数含第五次经济普查修订）。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观势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增长靠谁拉动：外需“补位”明显，消费拉动仍不够强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图3  三大需求对GDP增长的拉动（百分点）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2025年：消费拉动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、投资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、净出口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个百分点；净出口贡献率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32.7%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外需“补位”不可持续：关税与地缘不确定性上升，必须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坚持内需主导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“十四五”消费平均贡献率58.8%，比“十三五”提高10个百分点，但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消费率仍低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48056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590288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外需不确定时，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国内大市场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是最大底气：破除地方保护、建设统一大市场是监管的直接贡献。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资料来源：国家统计局（各年初步核算口径）。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观势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消费“脉冲”在退坡：社零增速从6.4%回落到0.4%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图4  社会消费品零售总额当月同比（%）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120640" y="1417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2025年   </a:t>
            </a:r>
            <a:endParaRPr lang="zh-CN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1417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2026年</a:t>
            </a:r>
            <a:endParaRPr lang="zh-CN" sz="1200" dirty="0"/>
          </a:p>
        </p:txBody>
      </p:sp>
      <p:sp>
        <p:nvSpPr>
          <p:cNvPr id="11" name="Shape 7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2057400"/>
            <a:ext cx="3090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2026年5月一度转负，8月仅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；阶段高点是2025年5月的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结构分化：8月通讯器材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+27.3%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，汽车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-18.5%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；1—8月服务零售+4.9%，商品零售仅+1.0%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耐用品补贴存在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需求前置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：今天的补贴，部分借用了明天的需求</a:t>
            </a:r>
            <a:endParaRPr lang="zh-CN" sz="1400" dirty="0"/>
          </a:p>
        </p:txBody>
      </p:sp>
      <p:sp>
        <p:nvSpPr>
          <p:cNvPr id="14" name="Shape 10"/>
          <p:cNvSpPr/>
          <p:nvPr/>
        </p:nvSpPr>
        <p:spPr>
          <a:xfrm>
            <a:off x="8229600" y="4572000"/>
            <a:ext cx="3273552" cy="1280160"/>
          </a:xfrm>
          <a:prstGeom prst="roundRect">
            <a:avLst>
              <a:gd name="adj" fmla="val 5714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66760" y="4681728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补贴退坡期是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价格乱象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高发期：先涨后降、虚假折扣、以旧充新需重点盯防。</a:t>
            </a:r>
            <a:endParaRPr lang="zh-CN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资料来源：国家统计局。2025年起按第五次经济普查修订后的可比口径计算增速。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观势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价格信号在反转：上游转涨，终端仍弱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图5  CPI与PPI当月同比（%）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PPI于2026年3月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由负转正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，结束连续41个月下降；6月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、8月3.8%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 1—8月大多在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0.5%—1.3%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，核心CPI约1%：成本向终端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传导受阻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中下游企业与个体户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两头受挤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：进价涨、售价难涨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48056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590288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价格监管“两线作战”：上游防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囤积哄抬、串通涨价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；下游防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低价倾销、价格欺诈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资料来源：国家统计局月度价格数据（2026年1月起CPI以2025年为基期）。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· 观势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形势判断：主要矛盾是有效需求不足，最弱一环在居民消费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73736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1915119"/>
            <a:ext cx="302849" cy="3028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总量稳</a:t>
            </a:r>
            <a:endParaRPr lang="zh-CN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GDP增长4.7%</a:t>
            </a:r>
            <a:endParaRPr lang="zh-CN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增速处于目标区间，就业、物价总体可控</a:t>
            </a:r>
            <a:endParaRPr lang="zh-CN" sz="1400" dirty="0"/>
          </a:p>
        </p:txBody>
      </p:sp>
      <p:sp>
        <p:nvSpPr>
          <p:cNvPr id="13" name="Shape 9"/>
          <p:cNvSpPr/>
          <p:nvPr/>
        </p:nvSpPr>
        <p:spPr>
          <a:xfrm>
            <a:off x="3364992" y="150876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39312" y="173736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071" y="1915119"/>
            <a:ext cx="302849" cy="30284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16552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结构弱</a:t>
            </a:r>
            <a:endParaRPr lang="zh-CN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3639312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社零增长1.1%</a:t>
            </a:r>
            <a:endParaRPr lang="zh-CN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639312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消费、房地产偏弱，增长较多依靠外需与政策</a:t>
            </a:r>
            <a:endParaRPr lang="zh-CN" sz="1400" dirty="0"/>
          </a:p>
        </p:txBody>
      </p:sp>
      <p:sp>
        <p:nvSpPr>
          <p:cNvPr id="19" name="Shape 14"/>
          <p:cNvSpPr/>
          <p:nvPr/>
        </p:nvSpPr>
        <p:spPr>
          <a:xfrm>
            <a:off x="6181344" y="150876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55664" y="1737360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423" y="191511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2904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价格转</a:t>
            </a:r>
            <a:endParaRPr lang="zh-CN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6455664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PPI由负转正</a:t>
            </a:r>
            <a:endParaRPr lang="zh-CN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455664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上游转涨、终端偏弱，传导不畅挤压中下游</a:t>
            </a:r>
            <a:endParaRPr lang="zh-CN" sz="1400" dirty="0"/>
          </a:p>
        </p:txBody>
      </p:sp>
      <p:sp>
        <p:nvSpPr>
          <p:cNvPr id="25" name="Shape 19"/>
          <p:cNvSpPr/>
          <p:nvPr/>
        </p:nvSpPr>
        <p:spPr>
          <a:xfrm>
            <a:off x="8997696" y="150876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272016" y="173736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775" y="1915119"/>
            <a:ext cx="302849" cy="30284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049256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预期弱</a:t>
            </a:r>
            <a:endParaRPr lang="zh-CN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9272016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储蓄意愿上升</a:t>
            </a:r>
            <a:endParaRPr lang="zh-CN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9272016" y="31089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居民“多存少花”，企业“多看少投”</a:t>
            </a:r>
            <a:endParaRPr lang="zh-CN" sz="1400" dirty="0"/>
          </a:p>
        </p:txBody>
      </p:sp>
      <p:sp>
        <p:nvSpPr>
          <p:cNvPr id="31" name="Shape 24"/>
          <p:cNvSpPr/>
          <p:nvPr/>
        </p:nvSpPr>
        <p:spPr>
          <a:xfrm>
            <a:off x="548640" y="475488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68680" y="480060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中央判断  </a:t>
            </a: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2024年中央经济工作会议：“国内需求不足”；2025年中央经济工作会议：“坚持内需主导，建设强大国内市场”。</a:t>
            </a:r>
            <a:endParaRPr lang="zh-CN" sz="1400" dirty="0"/>
          </a:p>
          <a:p>
            <a:pPr indent="0" marL="0">
              <a:lnSpc>
                <a:spcPct val="125000"/>
              </a:lnSpc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本讲判断  </a:t>
            </a: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主要矛盾是有效需求不足，最弱一环在居民消费——消费既是“果”（收入与预期），也是“因”（决定增长质量）。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74520"/>
            <a:ext cx="146304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874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析因</a:t>
            </a:r>
            <a:endParaRPr lang="zh-CN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22860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消费为什么“提不起来”</a:t>
            </a:r>
            <a:endParaRPr lang="zh-CN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32918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i="1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中国人天生爱储蓄、不爱花钱吗？——高储蓄是制度与预期的结果，而非“国民性”。</a:t>
            </a:r>
            <a:endParaRPr lang="zh-CN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观势</a:t>
            </a:r>
            <a:endParaRPr lang="zh-CN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析因</a:t>
            </a:r>
            <a:endParaRPr lang="zh-CN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镜鉴</a:t>
            </a:r>
            <a:endParaRPr lang="zh-CN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谋策</a:t>
            </a:r>
            <a:endParaRPr lang="zh-CN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作为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5303520"/>
            <a:ext cx="10360152" cy="0"/>
          </a:xfrm>
          <a:prstGeom prst="line">
            <a:avLst/>
          </a:prstGeom>
          <a:noFill/>
          <a:ln w="9525">
            <a:solidFill>
              <a:srgbClr val="2E5F5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分析框架：消费要跨过“四道门槛”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3017520"/>
            <a:ext cx="621792" cy="6217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24" y="3185404"/>
            <a:ext cx="286024" cy="286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30449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能消费</a:t>
            </a:r>
            <a:endParaRPr lang="zh-CN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794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收入：有没有钱</a:t>
            </a:r>
            <a:endParaRPr lang="zh-CN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1605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收入份额 · 增速 · 分配</a:t>
            </a:r>
            <a:endParaRPr lang="zh-CN" sz="1400" dirty="0"/>
          </a:p>
        </p:txBody>
      </p:sp>
      <p:sp>
        <p:nvSpPr>
          <p:cNvPr id="13" name="Shape 9"/>
          <p:cNvSpPr/>
          <p:nvPr/>
        </p:nvSpPr>
        <p:spPr>
          <a:xfrm>
            <a:off x="777240" y="4681728"/>
            <a:ext cx="2148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7240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收入实际增速 4.2%</a:t>
            </a:r>
            <a:endParaRPr lang="zh-CN" sz="1300" dirty="0"/>
          </a:p>
        </p:txBody>
      </p:sp>
      <p:sp>
        <p:nvSpPr>
          <p:cNvPr id="15" name="Shape 11"/>
          <p:cNvSpPr/>
          <p:nvPr/>
        </p:nvSpPr>
        <p:spPr>
          <a:xfrm>
            <a:off x="3364992" y="2514600"/>
            <a:ext cx="2606040" cy="27889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93592" y="2743200"/>
            <a:ext cx="621792" cy="6217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476" y="2911084"/>
            <a:ext cx="286024" cy="2860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25112" y="27706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敢消费</a:t>
            </a:r>
            <a:endParaRPr lang="zh-CN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3593592" y="35204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预期：敢不敢花</a:t>
            </a:r>
            <a:endParaRPr lang="zh-CN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3593592" y="38862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 · 就业 · 保障</a:t>
            </a:r>
            <a:endParaRPr lang="zh-CN" sz="1400" dirty="0"/>
          </a:p>
        </p:txBody>
      </p:sp>
      <p:sp>
        <p:nvSpPr>
          <p:cNvPr id="21" name="Shape 16"/>
          <p:cNvSpPr/>
          <p:nvPr/>
        </p:nvSpPr>
        <p:spPr>
          <a:xfrm>
            <a:off x="3593592" y="4681728"/>
            <a:ext cx="2148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593592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平均消费倾向 68.0%</a:t>
            </a:r>
            <a:endParaRPr lang="zh-CN" sz="1300" dirty="0"/>
          </a:p>
        </p:txBody>
      </p:sp>
      <p:sp>
        <p:nvSpPr>
          <p:cNvPr id="23" name="Shape 18"/>
          <p:cNvSpPr/>
          <p:nvPr/>
        </p:nvSpPr>
        <p:spPr>
          <a:xfrm>
            <a:off x="6181344" y="22402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9944" y="2468880"/>
            <a:ext cx="621792" cy="6217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828" y="2636764"/>
            <a:ext cx="286024" cy="286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41464" y="24963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愿消费</a:t>
            </a:r>
            <a:endParaRPr lang="zh-CN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409944" y="3246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供给：想不想买</a:t>
            </a:r>
            <a:endParaRPr lang="zh-CN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409944" y="3611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· 服务 · 场景 · 时间</a:t>
            </a:r>
            <a:endParaRPr lang="zh-CN" sz="1400" dirty="0"/>
          </a:p>
        </p:txBody>
      </p:sp>
      <p:sp>
        <p:nvSpPr>
          <p:cNvPr id="29" name="Shape 23"/>
          <p:cNvSpPr/>
          <p:nvPr/>
        </p:nvSpPr>
        <p:spPr>
          <a:xfrm>
            <a:off x="6409944" y="4681728"/>
            <a:ext cx="2148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409944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服务消费占比 46.1%</a:t>
            </a:r>
            <a:endParaRPr lang="zh-CN" sz="1300" dirty="0"/>
          </a:p>
        </p:txBody>
      </p:sp>
      <p:sp>
        <p:nvSpPr>
          <p:cNvPr id="31" name="Shape 25"/>
          <p:cNvSpPr/>
          <p:nvPr/>
        </p:nvSpPr>
        <p:spPr>
          <a:xfrm>
            <a:off x="8997696" y="196596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226296" y="219456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180" y="2362444"/>
            <a:ext cx="286024" cy="2860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957816" y="22219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放心消费</a:t>
            </a:r>
            <a:endParaRPr lang="zh-CN" sz="2000" dirty="0"/>
          </a:p>
        </p:txBody>
      </p:sp>
      <p:sp>
        <p:nvSpPr>
          <p:cNvPr id="35" name="Text 28"/>
          <p:cNvSpPr txBox="1"/>
          <p:nvPr/>
        </p:nvSpPr>
        <p:spPr>
          <a:xfrm>
            <a:off x="9226296" y="2971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信任：放不放心</a:t>
            </a:r>
            <a:endParaRPr lang="zh-CN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9226296" y="33375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· 价格 · 维权 · 信用</a:t>
            </a:r>
            <a:endParaRPr lang="zh-CN" sz="1400" dirty="0"/>
          </a:p>
        </p:txBody>
      </p:sp>
      <p:sp>
        <p:nvSpPr>
          <p:cNvPr id="37" name="Shape 30"/>
          <p:cNvSpPr/>
          <p:nvPr/>
        </p:nvSpPr>
        <p:spPr>
          <a:xfrm>
            <a:off x="9226296" y="4681728"/>
            <a:ext cx="2148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226296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投诉举报 2646万件</a:t>
            </a:r>
            <a:endParaRPr lang="zh-CN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 —— 宏观与民生政策的主场</a:t>
            </a:r>
            <a:endParaRPr lang="zh-CN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6181344" y="1371600"/>
            <a:ext cx="5458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 —— 市场监管的主场</a:t>
            </a:r>
            <a:endParaRPr lang="zh-CN" sz="1500" dirty="0"/>
          </a:p>
        </p:txBody>
      </p:sp>
      <p:sp>
        <p:nvSpPr>
          <p:cNvPr id="41" name="Shape 34"/>
          <p:cNvSpPr/>
          <p:nvPr/>
        </p:nvSpPr>
        <p:spPr>
          <a:xfrm>
            <a:off x="731520" y="1783080"/>
            <a:ext cx="5029200" cy="0"/>
          </a:xfrm>
          <a:prstGeom prst="line">
            <a:avLst/>
          </a:prstGeom>
          <a:noFill/>
          <a:ln w="15875">
            <a:solidFill>
              <a:srgbClr val="00897B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364224" y="1783080"/>
            <a:ext cx="5093208" cy="0"/>
          </a:xfrm>
          <a:prstGeom prst="line">
            <a:avLst/>
          </a:prstGeom>
          <a:noFill/>
          <a:ln w="15875">
            <a:solidFill>
              <a:srgbClr val="C8442D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48640" y="5532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消费函数：C = f（收入Y，财富W，预期E，保障S；供给质量Q，信任环境T）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结构性短板：居民消费率比主要经济体低10—28个百分点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图6  居民消费支出占GDP比重：国际比较（%）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中国约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，主要经济体多在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48%—68%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口径有低估（虚拟房租等），2023年起已部分修正，但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差距仍超10个百分点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居民消费率每提高1个百分点 ≈ 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1.4万亿元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“十五五”：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居民消费率明显提高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48056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590288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消费率主要靠收入分配与社保；监管的贡献在于减少“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不敢买、买不好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”造成的消费流失。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资料来源：世界银行WDI（家庭及为家庭服务的非营利机构最终消费支出/GDP，2023年或最近可得年份，取整）；中国为国家统计局2024年数据。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能不能消费（一）：居民收入“蛋糕”偏小，财产性收入偏薄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图7  2025年全国居民人均可支配收入构成（%）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49377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6928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43,377元</a:t>
            </a:r>
            <a:endParaRPr lang="zh-CN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2221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人均可支配收入</a:t>
            </a:r>
            <a:endParaRPr lang="zh-CN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名义增长5.0%</a:t>
            </a:r>
            <a:endParaRPr lang="zh-CN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3063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36,231元</a:t>
            </a:r>
            <a:endParaRPr lang="zh-CN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3685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中位数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3977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仅为平均数的83.5%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0" y="4526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2.31</a:t>
            </a:r>
            <a:endParaRPr lang="zh-CN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5148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城乡收入比</a:t>
            </a:r>
            <a:endParaRPr lang="zh-CN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5440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比上年缩小0.03</a:t>
            </a:r>
            <a:endParaRPr lang="zh-CN" sz="1200" dirty="0"/>
          </a:p>
        </p:txBody>
      </p:sp>
      <p:sp>
        <p:nvSpPr>
          <p:cNvPr id="18" name="Shape 14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321040" y="2057400"/>
            <a:ext cx="30906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人均可支配收入×人口≈61万亿元，约占GDP的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（资金流量表口径约六成）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财产净收入仅占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8.0%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，2025年仅增长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：房租、利息、分红同步走弱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收入差距压低整体消费倾向：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低收入群体边际消费倾向最高</a:t>
            </a:r>
            <a:endParaRPr lang="zh-CN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资料来源：国家统计局《2025年居民收入和消费支出情况》；住户调查口径，作者计算占GDP比重。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能不能消费（二）：收入增长慢于经济增长，消费增长又慢于收入增长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图8  GDP、居民收入与消费的实际增速（%）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2026年上半年：GDP 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＞ 收入 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＞ 消费 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，形成“两级落差”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收入名义增长5.2%，消费名义增长仅3.7%：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多出来的收入变成了储蓄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2021、2023年消费高增长是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低基数反弹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，不代表趋势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48056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590288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收入转化为消费时，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服务消费、预付式消费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最依赖信任——这是监管可减少“传导损耗”的环节。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资料来源：国家统计局。2026年为上半年同比；人均指标为全国居民口径。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敢不敢消费（一）：消费倾向下降，预防性储蓄上升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图9  平均消费倾向（%）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36118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25196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图10  住户存款年度新增（万亿元）</a:t>
            </a:r>
            <a:endParaRPr lang="zh-CN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251960" y="1737360"/>
          <a:ext cx="36118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321040" y="2057400"/>
            <a:ext cx="30906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若消费倾向回到2019年的70.1%，2025年可多出约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1.3万亿元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消费（≈GDP的0.9%）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2022—2025年住户存款年均新增约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15.9万亿元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，比2019—2021年均多约5.5万亿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多增存款中也有“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存款搬家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”（从房产、理财转入），需实事求是看待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国际经验：储蓄率对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收入不确定性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社保覆盖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最敏感——这是宏观政策的主场</a:t>
            </a:r>
            <a:endParaRPr lang="zh-CN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资料来源：国家统计局（人均消费支出/人均可支配收入，作者计算）；中国人民银行金融统计数据。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敢不敢消费（二）：房地产调整带来“负财富效应”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图11  全国新建商品房销售面积（亿平方米）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销售面积较2021年峰值下降约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；2026年1—8月再降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2025年房地产开发投资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8.28万亿元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，下降17.2%；2026年1—8月降19.9%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城镇家庭资产约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六成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在住房：房价预期转弱→“感觉变穷”→多存少花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709160"/>
            <a:ext cx="3273552" cy="1143000"/>
          </a:xfrm>
          <a:prstGeom prst="roundRect">
            <a:avLst>
              <a:gd name="adj" fmla="val 6400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818888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调整期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中介、装修、物业、预售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等领域消费纠纷易增多，需提前研判。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资料来源：国家统计局；家庭资产结构参见中国人民银行《2019年中国城镇居民家庭资产负债情况调查》（住房占59.1%）。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敢不敢消费（三）：就业与保障决定“安全感”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18.9%</a:t>
            </a:r>
            <a:endParaRPr lang="zh-CN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16—24岁青年失业率</a:t>
            </a:r>
            <a:endParaRPr lang="zh-CN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54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2025年8月，不含在校生口径发布以来最高</a:t>
            </a:r>
            <a:endParaRPr lang="zh-CN" sz="1200" dirty="0"/>
          </a:p>
        </p:txBody>
      </p:sp>
      <p:sp>
        <p:nvSpPr>
          <p:cNvPr id="11" name="Shape 8"/>
          <p:cNvSpPr/>
          <p:nvPr/>
        </p:nvSpPr>
        <p:spPr>
          <a:xfrm>
            <a:off x="3364992" y="150876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93592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7.7%</a:t>
            </a:r>
            <a:endParaRPr lang="zh-CN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3593592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25—29岁失业率</a:t>
            </a:r>
            <a:endParaRPr lang="zh-CN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93592" y="3154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2026年3月，该指标发布以来最高</a:t>
            </a:r>
            <a:endParaRPr lang="zh-CN" sz="1200" dirty="0"/>
          </a:p>
        </p:txBody>
      </p:sp>
      <p:sp>
        <p:nvSpPr>
          <p:cNvPr id="15" name="Shape 12"/>
          <p:cNvSpPr/>
          <p:nvPr/>
        </p:nvSpPr>
        <p:spPr>
          <a:xfrm>
            <a:off x="6181344" y="150876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9944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1270万</a:t>
            </a:r>
            <a:endParaRPr lang="zh-CN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6409944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2026届高校毕业生</a:t>
            </a:r>
            <a:endParaRPr lang="zh-CN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9944" y="3154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规模再创新高，同比增加48万</a:t>
            </a:r>
            <a:endParaRPr lang="zh-CN" sz="1200" dirty="0"/>
          </a:p>
        </p:txBody>
      </p:sp>
      <p:sp>
        <p:nvSpPr>
          <p:cNvPr id="19" name="Shape 16"/>
          <p:cNvSpPr/>
          <p:nvPr/>
        </p:nvSpPr>
        <p:spPr>
          <a:xfrm>
            <a:off x="8997696" y="150876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26296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143元</a:t>
            </a:r>
            <a:endParaRPr lang="zh-CN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9226296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城乡居民基础养老金</a:t>
            </a:r>
            <a:endParaRPr lang="zh-CN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226296" y="3154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每月最低标准（2025年）；2026年继续提高</a:t>
            </a:r>
            <a:endParaRPr lang="zh-CN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25196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3891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预防性储蓄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：未来收入越不确定、保障越薄弱，家庭越倾向“存钱防身”——这是理性选择，而非“不爱花钱”</a:t>
            </a:r>
            <a:endParaRPr lang="zh-CN" sz="14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政策转向“投资于人”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：2026年政府工作报告首提制定实施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城乡居民增收计划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，新增失能老年人养老服务消费补贴</a:t>
            </a:r>
            <a:endParaRPr lang="zh-CN" sz="14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与监管的连接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：经营主体活跃是吸纳就业的主渠道——个体工商户兴旺，青年和灵活就业才有“饭碗”（见第五部分）</a:t>
            </a:r>
            <a:endParaRPr lang="zh-CN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资料来源：国家统计局；教育部；人力资源社会保障部；2026年政府工作报告。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愿不愿消费（一）：服务消费占比停在46%，“有需求、缺供给”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图12  居民人均服务性消费支出占人均消费支出比重（%）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2025年人均服务性消费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13,602元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，占比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46.1%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，与上年持平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美国服务消费占个人消费支出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三分之二以上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；国内一线城市已接近六成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痛点在供给：养老、托育、文旅——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有需求、缺供给、缺放心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48056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590288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服务多为“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信任品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”，质量事前难观察：标准、认证、信用评价越健全，服务消费越能放开。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资料来源：国家统计局（2013年起城乡一体化住户调查口径）；美国经济分析局（BEA）。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愿不愿消费（二）：钱花在哪里——发展享受型消费增长最快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图13  2025年人均消费支出构成（%）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53949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图14  2025年各类消费支出名义增速（%）</a:t>
            </a:r>
            <a:endParaRPr lang="zh-CN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1737360"/>
          <a:ext cx="5376672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资料来源：国家统计局《2025年居民收入和消费支出情况》。人均消费支出29,476元。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放不放心消费：一年2646万件投诉举报，是“信任赤字”的晴雨表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图15  2025年12315受理构成（万件）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4206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920240" y="3063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4386.6</a:t>
            </a:r>
            <a:endParaRPr lang="zh-CN" sz="14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万件</a:t>
            </a:r>
            <a:endParaRPr lang="zh-CN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98348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2646万件</a:t>
            </a:r>
            <a:endParaRPr lang="zh-CN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4983480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投诉举报，同比+9.8%</a:t>
            </a:r>
            <a:endParaRPr lang="zh-CN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633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56.9%</a:t>
            </a:r>
            <a:endParaRPr lang="zh-CN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网购投诉举报占比</a:t>
            </a:r>
            <a:endParaRPr lang="zh-CN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37124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+40.3%</a:t>
            </a:r>
            <a:endParaRPr lang="zh-CN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合同类投诉（退款难、霸王条款）</a:t>
            </a:r>
            <a:endParaRPr lang="zh-CN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47914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43.5亿元</a:t>
            </a:r>
            <a:endParaRPr lang="zh-CN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4983480" y="5358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为消费者挽回经济损失</a:t>
            </a:r>
            <a:endParaRPr lang="zh-CN" sz="1300" dirty="0"/>
          </a:p>
        </p:txBody>
      </p:sp>
      <p:sp>
        <p:nvSpPr>
          <p:cNvPr id="18" name="Shape 14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 · 经济学</a:t>
            </a:r>
            <a:endParaRPr lang="zh-CN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321040" y="2057400"/>
            <a:ext cx="30906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售后服务投诉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连续三年居首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；智能设备投诉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+26.6%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柠檬市场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（阿克洛夫）：质量信息不对称会让好产品退出、市场萎缩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信任缺失＝对消费征收的“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隐性税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”；降低维权成本＝给消费“减税”</a:t>
            </a:r>
            <a:endParaRPr lang="zh-CN" sz="1400" dirty="0"/>
          </a:p>
        </p:txBody>
      </p:sp>
      <p:sp>
        <p:nvSpPr>
          <p:cNvPr id="21" name="Shape 17"/>
          <p:cNvSpPr/>
          <p:nvPr/>
        </p:nvSpPr>
        <p:spPr>
          <a:xfrm>
            <a:off x="8229600" y="4709160"/>
            <a:ext cx="3273552" cy="1143000"/>
          </a:xfrm>
          <a:prstGeom prst="roundRect">
            <a:avLst>
              <a:gd name="adj" fmla="val 6400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366760" y="4818888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看投诉不能只看总量，更要看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重复投诉、同类投诉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是否下降。</a:t>
            </a:r>
            <a:endParaRPr lang="zh-CN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资料来源：国家市场监督管理总局2025年全国消费者投诉举报数据（2026年3月15日发布）。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· 析因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小结：市场监管不是提振消费的“主药”，却是让政策见效的“药引子”</a:t>
            </a:r>
            <a:endParaRPr lang="zh-CN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749040"/>
                <a:gridCol w="3776472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主要症结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主责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能消费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居民收入份额偏低、增速放缓、分配不均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增收计划、提低扩中、财产性收入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宏观·财政·人社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敢消费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房地产负财富效应、就业与保障不确定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稳楼市、稳就业、提高养老金与医保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宏观·住建·人社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愿消费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服务供给不足、标准缺位、准入限制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放宽准入、标准引领、清理不合理限制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发改·商务·市场监管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放心消费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质量隐患、价格乱象、维权难、内卷式竞争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质量监管、公平竞争、消费维权、信用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8442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市场监管（主责）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512064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“药引子”  </a:t>
            </a: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本身不是主药，却决定药效能否到达病灶——监管守住信任，补贴、增收等政策才能转化为真实消费。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5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中场休息</a:t>
            </a:r>
            <a:endParaRPr lang="zh-CN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6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</a:t>
            </a:r>
            <a:endParaRPr lang="zh-CN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下半场：别的国家走过什么路？中央怎么部署？市场监管怎么干？</a:t>
            </a: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74520"/>
            <a:ext cx="146304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874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</a:t>
            </a:r>
            <a:endParaRPr lang="zh-CN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镜鉴</a:t>
            </a:r>
            <a:endParaRPr lang="zh-CN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22860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消费社会是怎样炼成的</a:t>
            </a:r>
            <a:endParaRPr lang="zh-CN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32918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i="1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高消费率是“国民性”，还是制度与政策的结果？</a:t>
            </a:r>
            <a:endParaRPr lang="zh-CN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观势</a:t>
            </a:r>
            <a:endParaRPr lang="zh-CN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析因</a:t>
            </a:r>
            <a:endParaRPr lang="zh-CN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镜鉴</a:t>
            </a:r>
            <a:endParaRPr lang="zh-CN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谋策</a:t>
            </a:r>
            <a:endParaRPr lang="zh-CN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作为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5303520"/>
            <a:ext cx="10360152" cy="0"/>
          </a:xfrm>
          <a:prstGeom prst="line">
            <a:avLst/>
          </a:prstGeom>
          <a:noFill/>
          <a:ln w="9525">
            <a:solidFill>
              <a:srgbClr val="2E5F5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· 镜鉴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日本镜鉴：泡沫破裂后，“通缩心态”持续了二十年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图16  日本CPI同比涨幅（%），1990—2015年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72694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057400"/>
            <a:ext cx="30906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1990年泡沫破裂→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资产负债表衰退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：企业与家庭“还债优先”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企业以降价、压薪保份额：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低价→低薪→低需求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自我强化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启示：通缩心态扭转代价极高；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价格战≠消费者福利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；政策要落到居民收入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8229600" y="4709160"/>
            <a:ext cx="3273552" cy="1143000"/>
          </a:xfrm>
          <a:prstGeom prst="roundRect">
            <a:avLst>
              <a:gd name="adj" fmla="val 6400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818888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监管视角  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警惕“内卷式”价格战演变为全行业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降质、降薪、降创新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资料来源：日本总务省统计局（全国CPI综合指数，年度同比，取一位小数）。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· 镜鉴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美欧镜鉴：高消费率背后是一整套“信任基础设施”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960120" cy="173736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960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美欧</a:t>
            </a:r>
            <a:endParaRPr lang="zh-CN" sz="2000" dirty="0"/>
          </a:p>
        </p:txBody>
      </p:sp>
      <p:sp>
        <p:nvSpPr>
          <p:cNvPr id="9" name="Shape 6"/>
          <p:cNvSpPr/>
          <p:nvPr/>
        </p:nvSpPr>
        <p:spPr>
          <a:xfrm>
            <a:off x="1691640" y="2423160"/>
            <a:ext cx="9951415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31307" y="234086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28216" y="1920240"/>
            <a:ext cx="117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1906</a:t>
            </a:r>
            <a:endParaRPr lang="zh-CN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728216" y="2587752"/>
            <a:ext cx="117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美国《纯净食品药品法》</a:t>
            </a:r>
            <a:endParaRPr lang="zh-CN" sz="1200" dirty="0"/>
          </a:p>
        </p:txBody>
      </p:sp>
      <p:sp>
        <p:nvSpPr>
          <p:cNvPr id="13" name="Shape 10"/>
          <p:cNvSpPr/>
          <p:nvPr/>
        </p:nvSpPr>
        <p:spPr>
          <a:xfrm>
            <a:off x="3475234" y="234086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72143" y="1920240"/>
            <a:ext cx="117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1914</a:t>
            </a:r>
            <a:endParaRPr lang="zh-CN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972143" y="2587752"/>
            <a:ext cx="117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美国联邦贸易委员会成立</a:t>
            </a:r>
            <a:endParaRPr lang="zh-CN" sz="1200" dirty="0"/>
          </a:p>
        </p:txBody>
      </p:sp>
      <p:sp>
        <p:nvSpPr>
          <p:cNvPr id="16" name="Shape 13"/>
          <p:cNvSpPr/>
          <p:nvPr/>
        </p:nvSpPr>
        <p:spPr>
          <a:xfrm>
            <a:off x="4719161" y="234086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16070" y="1920240"/>
            <a:ext cx="117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1962</a:t>
            </a:r>
            <a:endParaRPr lang="zh-CN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216070" y="2587752"/>
            <a:ext cx="117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肯尼迪提出消费者“四项权利”</a:t>
            </a:r>
            <a:endParaRPr lang="zh-CN" sz="1200" dirty="0"/>
          </a:p>
        </p:txBody>
      </p:sp>
      <p:sp>
        <p:nvSpPr>
          <p:cNvPr id="19" name="Shape 16"/>
          <p:cNvSpPr/>
          <p:nvPr/>
        </p:nvSpPr>
        <p:spPr>
          <a:xfrm>
            <a:off x="5963088" y="234086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59997" y="1920240"/>
            <a:ext cx="117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1972</a:t>
            </a:r>
            <a:endParaRPr lang="zh-CN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59997" y="2587752"/>
            <a:ext cx="117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美国消费品安全委员会设立</a:t>
            </a:r>
            <a:endParaRPr lang="zh-CN" sz="1200" dirty="0"/>
          </a:p>
        </p:txBody>
      </p:sp>
      <p:sp>
        <p:nvSpPr>
          <p:cNvPr id="22" name="Shape 19"/>
          <p:cNvSpPr/>
          <p:nvPr/>
        </p:nvSpPr>
        <p:spPr>
          <a:xfrm>
            <a:off x="7207015" y="234086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03924" y="1920240"/>
            <a:ext cx="117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1985</a:t>
            </a:r>
            <a:endParaRPr lang="zh-CN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703924" y="2587752"/>
            <a:ext cx="117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欧共体《产品责任指令》</a:t>
            </a:r>
            <a:endParaRPr lang="zh-CN" sz="1200" dirty="0"/>
          </a:p>
        </p:txBody>
      </p:sp>
      <p:sp>
        <p:nvSpPr>
          <p:cNvPr id="25" name="Shape 22"/>
          <p:cNvSpPr/>
          <p:nvPr/>
        </p:nvSpPr>
        <p:spPr>
          <a:xfrm>
            <a:off x="8450942" y="234086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47851" y="1920240"/>
            <a:ext cx="117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1993</a:t>
            </a:r>
            <a:endParaRPr lang="zh-CN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947851" y="2587752"/>
            <a:ext cx="117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欧盟统一大市场启动</a:t>
            </a:r>
            <a:endParaRPr lang="zh-CN" sz="1200" dirty="0"/>
          </a:p>
        </p:txBody>
      </p:sp>
      <p:sp>
        <p:nvSpPr>
          <p:cNvPr id="28" name="Shape 25"/>
          <p:cNvSpPr/>
          <p:nvPr/>
        </p:nvSpPr>
        <p:spPr>
          <a:xfrm>
            <a:off x="9694869" y="234086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91777" y="1920240"/>
            <a:ext cx="117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2011</a:t>
            </a:r>
            <a:endParaRPr lang="zh-CN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191777" y="2587752"/>
            <a:ext cx="117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欧盟14天无理由撤回权</a:t>
            </a:r>
            <a:endParaRPr lang="zh-CN" sz="1200" dirty="0"/>
          </a:p>
        </p:txBody>
      </p:sp>
      <p:sp>
        <p:nvSpPr>
          <p:cNvPr id="31" name="Shape 28"/>
          <p:cNvSpPr/>
          <p:nvPr/>
        </p:nvSpPr>
        <p:spPr>
          <a:xfrm>
            <a:off x="10938796" y="2340864"/>
            <a:ext cx="164592" cy="164592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435704" y="1920240"/>
            <a:ext cx="117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zh-CN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435704" y="2587752"/>
            <a:ext cx="117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欧盟《数字市场法》：平台“守门人”义务</a:t>
            </a:r>
            <a:endParaRPr lang="zh-CN" sz="1200" dirty="0"/>
          </a:p>
        </p:txBody>
      </p:sp>
      <p:sp>
        <p:nvSpPr>
          <p:cNvPr id="34" name="Shape 31"/>
          <p:cNvSpPr/>
          <p:nvPr/>
        </p:nvSpPr>
        <p:spPr>
          <a:xfrm>
            <a:off x="548640" y="3474720"/>
            <a:ext cx="960120" cy="173736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8640" y="3474720"/>
            <a:ext cx="960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zh-CN" sz="2000" dirty="0"/>
          </a:p>
        </p:txBody>
      </p:sp>
      <p:sp>
        <p:nvSpPr>
          <p:cNvPr id="36" name="Shape 33"/>
          <p:cNvSpPr/>
          <p:nvPr/>
        </p:nvSpPr>
        <p:spPr>
          <a:xfrm>
            <a:off x="1691640" y="4343400"/>
            <a:ext cx="9951415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438629" y="4261104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728216" y="3840480"/>
            <a:ext cx="15854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1993</a:t>
            </a:r>
            <a:endParaRPr lang="zh-CN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728216" y="4507992"/>
            <a:ext cx="15854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《消费者权益保护法》</a:t>
            </a:r>
            <a:endParaRPr lang="zh-CN" sz="1200" dirty="0"/>
          </a:p>
        </p:txBody>
      </p:sp>
      <p:sp>
        <p:nvSpPr>
          <p:cNvPr id="40" name="Shape 37"/>
          <p:cNvSpPr/>
          <p:nvPr/>
        </p:nvSpPr>
        <p:spPr>
          <a:xfrm>
            <a:off x="4097198" y="4261104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86785" y="3840480"/>
            <a:ext cx="15854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</a:t>
            </a:r>
            <a:endParaRPr lang="zh-CN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3386785" y="4507992"/>
            <a:ext cx="15854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消保法修订：网购七日无理由退货</a:t>
            </a:r>
            <a:endParaRPr lang="zh-CN" sz="1200" dirty="0"/>
          </a:p>
        </p:txBody>
      </p:sp>
      <p:sp>
        <p:nvSpPr>
          <p:cNvPr id="43" name="Shape 40"/>
          <p:cNvSpPr/>
          <p:nvPr/>
        </p:nvSpPr>
        <p:spPr>
          <a:xfrm>
            <a:off x="5755767" y="4261104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045354" y="3840480"/>
            <a:ext cx="15854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</a:t>
            </a:r>
            <a:endParaRPr lang="zh-CN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5045354" y="4507992"/>
            <a:ext cx="15854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组建国家市场监督管理总局</a:t>
            </a:r>
            <a:endParaRPr lang="zh-CN" sz="1200" dirty="0"/>
          </a:p>
        </p:txBody>
      </p:sp>
      <p:sp>
        <p:nvSpPr>
          <p:cNvPr id="46" name="Shape 43"/>
          <p:cNvSpPr/>
          <p:nvPr/>
        </p:nvSpPr>
        <p:spPr>
          <a:xfrm>
            <a:off x="7414336" y="4261104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703924" y="3840480"/>
            <a:ext cx="15854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zh-CN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6703924" y="4507992"/>
            <a:ext cx="15854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《反垄断法》修订</a:t>
            </a:r>
            <a:endParaRPr lang="zh-CN" sz="1200" dirty="0"/>
          </a:p>
        </p:txBody>
      </p:sp>
      <p:sp>
        <p:nvSpPr>
          <p:cNvPr id="49" name="Shape 46"/>
          <p:cNvSpPr/>
          <p:nvPr/>
        </p:nvSpPr>
        <p:spPr>
          <a:xfrm>
            <a:off x="9072905" y="4261104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362493" y="3840480"/>
            <a:ext cx="15854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zh-CN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8362493" y="4507992"/>
            <a:ext cx="15854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新修订《反不正当竞争法》施行</a:t>
            </a:r>
            <a:endParaRPr lang="zh-CN" sz="1200" dirty="0"/>
          </a:p>
        </p:txBody>
      </p:sp>
      <p:sp>
        <p:nvSpPr>
          <p:cNvPr id="52" name="Shape 49"/>
          <p:cNvSpPr/>
          <p:nvPr/>
        </p:nvSpPr>
        <p:spPr>
          <a:xfrm>
            <a:off x="10731475" y="4261104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021062" y="3840480"/>
            <a:ext cx="15854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zh-CN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10021062" y="4507992"/>
            <a:ext cx="15854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《优化消费环境三年行动方案》</a:t>
            </a:r>
            <a:endParaRPr lang="zh-CN" sz="1200" dirty="0"/>
          </a:p>
        </p:txBody>
      </p:sp>
      <p:sp>
        <p:nvSpPr>
          <p:cNvPr id="55" name="Shape 52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2960" y="544068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  </a:t>
            </a: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消费者保护把“试错成本”从消费者转给经营者——人们才敢尝试新产品、新服务。</a:t>
            </a:r>
            <a:endParaRPr lang="zh-CN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资料来源：各国立法与机构公开资料，作者整理。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· 镜鉴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镜鉴小结：三条规律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204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1959559"/>
            <a:ext cx="378562" cy="3785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7452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规律一</a:t>
            </a:r>
            <a:endParaRPr lang="zh-CN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87452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消费率是“慢变量”</a:t>
            </a:r>
            <a:endParaRPr lang="zh-CN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8803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取决于收入分配、社会保障和城镇化。短期刺激只能“熨平波动”，不能“改变结构”——对补贴政策要有合理预期。</a:t>
            </a:r>
            <a:endParaRPr lang="zh-CN" sz="1500" dirty="0"/>
          </a:p>
        </p:txBody>
      </p:sp>
      <p:sp>
        <p:nvSpPr>
          <p:cNvPr id="13" name="Shape 9"/>
          <p:cNvSpPr/>
          <p:nvPr/>
        </p:nvSpPr>
        <p:spPr>
          <a:xfrm>
            <a:off x="4297680" y="1508760"/>
            <a:ext cx="35204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17720" y="173736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19" y="1959559"/>
            <a:ext cx="378562" cy="3785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2356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规律二</a:t>
            </a:r>
            <a:endParaRPr lang="zh-CN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62356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信任是“基础设施”</a:t>
            </a:r>
            <a:endParaRPr lang="zh-CN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28803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成熟消费社会都建在消费者保护与信用体系之上：平时感觉不到，缺了寸步难行。</a:t>
            </a:r>
            <a:endParaRPr lang="zh-CN" sz="1500" dirty="0"/>
          </a:p>
        </p:txBody>
      </p:sp>
      <p:sp>
        <p:nvSpPr>
          <p:cNvPr id="19" name="Shape 14"/>
          <p:cNvSpPr/>
          <p:nvPr/>
        </p:nvSpPr>
        <p:spPr>
          <a:xfrm>
            <a:off x="8046720" y="15087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66760" y="17373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59" y="1959559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7260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规律三</a:t>
            </a:r>
            <a:endParaRPr lang="zh-CN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保护竞争而非竞争者</a:t>
            </a:r>
            <a:endParaRPr lang="zh-CN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366760" y="288036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既反垄断高价，也治理掠夺性低价；但绝不能滑向“限价保价”“协同涨价”。</a:t>
            </a:r>
            <a:endParaRPr lang="zh-CN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68680" y="498348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对我们的含义  </a:t>
            </a:r>
            <a:r>
              <a:rPr lang="zh-CN" altLang="en-US" sz="16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对补贴政策保持合理预期 ｜ 把“信任”当作基础设施来建设 ｜ 治理内卷守住竞争政策底线</a:t>
            </a:r>
            <a:endParaRPr lang="zh-CN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74520"/>
            <a:ext cx="146304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874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</a:t>
            </a:r>
            <a:endParaRPr lang="zh-CN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谋策</a:t>
            </a:r>
            <a:endParaRPr lang="zh-CN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22860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从“补商品”到“投资于人”</a:t>
            </a:r>
            <a:endParaRPr lang="zh-CN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32918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i="1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中央在怎么部署？市场监管在政策体系中的“坐标”在哪里？</a:t>
            </a:r>
            <a:endParaRPr lang="zh-CN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观势</a:t>
            </a:r>
            <a:endParaRPr lang="zh-CN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析因</a:t>
            </a:r>
            <a:endParaRPr lang="zh-CN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镜鉴</a:t>
            </a:r>
            <a:endParaRPr lang="zh-CN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谋策</a:t>
            </a:r>
            <a:endParaRPr lang="zh-CN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作为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5303520"/>
            <a:ext cx="10360152" cy="0"/>
          </a:xfrm>
          <a:prstGeom prst="line">
            <a:avLst/>
          </a:prstGeom>
          <a:noFill/>
          <a:ln w="9525">
            <a:solidFill>
              <a:srgbClr val="2E5F5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· 谋策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政策脉络：扩内需从“逆周期调节”上升为“战略基点”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11094415" cy="0"/>
          </a:xfrm>
          <a:prstGeom prst="line">
            <a:avLst/>
          </a:prstGeom>
          <a:noFill/>
          <a:ln w="25400">
            <a:solidFill>
              <a:srgbClr val="0B3B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1457" y="33284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0521" y="29718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2024.12</a:t>
            </a:r>
            <a:endParaRPr lang="zh-CN" sz="1400" dirty="0"/>
          </a:p>
        </p:txBody>
      </p:sp>
      <p:sp>
        <p:nvSpPr>
          <p:cNvPr id="10" name="Shape 7"/>
          <p:cNvSpPr/>
          <p:nvPr/>
        </p:nvSpPr>
        <p:spPr>
          <a:xfrm>
            <a:off x="1242041" y="2651760"/>
            <a:ext cx="0" cy="3200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146304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572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中央经济工作会议</a:t>
            </a:r>
            <a:endParaRPr lang="zh-CN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011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“大力提振消费”列为首要任务</a:t>
            </a:r>
            <a:endParaRPr lang="zh-CN" sz="1300" dirty="0"/>
          </a:p>
        </p:txBody>
      </p:sp>
      <p:sp>
        <p:nvSpPr>
          <p:cNvPr id="14" name="Shape 11"/>
          <p:cNvSpPr/>
          <p:nvPr/>
        </p:nvSpPr>
        <p:spPr>
          <a:xfrm>
            <a:off x="2528259" y="332841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97323" y="35844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2025.02</a:t>
            </a:r>
            <a:endParaRPr lang="zh-CN" sz="1400" dirty="0"/>
          </a:p>
        </p:txBody>
      </p:sp>
      <p:sp>
        <p:nvSpPr>
          <p:cNvPr id="16" name="Shape 13"/>
          <p:cNvSpPr/>
          <p:nvPr/>
        </p:nvSpPr>
        <p:spPr>
          <a:xfrm>
            <a:off x="2628843" y="3886200"/>
            <a:ext cx="0" cy="1371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77283" y="402336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668723" y="4133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五部门三年行动方案</a:t>
            </a:r>
            <a:endParaRPr lang="zh-CN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687011" y="45720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优化消费环境（总局牵头）</a:t>
            </a:r>
            <a:endParaRPr lang="zh-CN" sz="1300" dirty="0"/>
          </a:p>
        </p:txBody>
      </p:sp>
      <p:sp>
        <p:nvSpPr>
          <p:cNvPr id="20" name="Shape 17"/>
          <p:cNvSpPr/>
          <p:nvPr/>
        </p:nvSpPr>
        <p:spPr>
          <a:xfrm>
            <a:off x="3915061" y="33284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84125" y="29718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2025.03</a:t>
            </a:r>
            <a:endParaRPr lang="zh-CN" sz="1400" dirty="0"/>
          </a:p>
        </p:txBody>
      </p:sp>
      <p:sp>
        <p:nvSpPr>
          <p:cNvPr id="22" name="Shape 19"/>
          <p:cNvSpPr/>
          <p:nvPr/>
        </p:nvSpPr>
        <p:spPr>
          <a:xfrm>
            <a:off x="4015645" y="2651760"/>
            <a:ext cx="0" cy="3200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64085" y="146304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055525" y="1572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提振消费专项行动方案</a:t>
            </a:r>
            <a:endParaRPr lang="zh-CN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073813" y="2011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中办、国办印发</a:t>
            </a:r>
            <a:endParaRPr lang="zh-CN" sz="1300" dirty="0"/>
          </a:p>
        </p:txBody>
      </p:sp>
      <p:sp>
        <p:nvSpPr>
          <p:cNvPr id="26" name="Shape 23"/>
          <p:cNvSpPr/>
          <p:nvPr/>
        </p:nvSpPr>
        <p:spPr>
          <a:xfrm>
            <a:off x="5301863" y="3328416"/>
            <a:ext cx="201168" cy="2011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70927" y="35844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2025.07</a:t>
            </a:r>
            <a:endParaRPr lang="zh-CN" sz="1400" dirty="0"/>
          </a:p>
        </p:txBody>
      </p:sp>
      <p:sp>
        <p:nvSpPr>
          <p:cNvPr id="28" name="Shape 25"/>
          <p:cNvSpPr/>
          <p:nvPr/>
        </p:nvSpPr>
        <p:spPr>
          <a:xfrm>
            <a:off x="5402447" y="3886200"/>
            <a:ext cx="0" cy="1371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50887" y="402336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42327" y="4133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中央财经委第六次会议</a:t>
            </a:r>
            <a:endParaRPr lang="zh-CN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460615" y="45720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治理企业低价无序竞争</a:t>
            </a:r>
            <a:endParaRPr lang="zh-CN" sz="1300" dirty="0"/>
          </a:p>
        </p:txBody>
      </p:sp>
      <p:sp>
        <p:nvSpPr>
          <p:cNvPr id="32" name="Shape 29"/>
          <p:cNvSpPr/>
          <p:nvPr/>
        </p:nvSpPr>
        <p:spPr>
          <a:xfrm>
            <a:off x="6688665" y="33284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057729" y="29718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2025.10</a:t>
            </a:r>
            <a:endParaRPr lang="zh-CN" sz="1400" dirty="0"/>
          </a:p>
        </p:txBody>
      </p:sp>
      <p:sp>
        <p:nvSpPr>
          <p:cNvPr id="34" name="Shape 31"/>
          <p:cNvSpPr/>
          <p:nvPr/>
        </p:nvSpPr>
        <p:spPr>
          <a:xfrm>
            <a:off x="6789249" y="2651760"/>
            <a:ext cx="0" cy="3200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37689" y="146304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29129" y="1572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“十五五”规划建议</a:t>
            </a:r>
            <a:endParaRPr lang="zh-CN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847417" y="2011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居民消费率明显提高</a:t>
            </a:r>
            <a:endParaRPr lang="zh-CN" sz="1300" dirty="0"/>
          </a:p>
        </p:txBody>
      </p:sp>
      <p:sp>
        <p:nvSpPr>
          <p:cNvPr id="38" name="Shape 35"/>
          <p:cNvSpPr/>
          <p:nvPr/>
        </p:nvSpPr>
        <p:spPr>
          <a:xfrm>
            <a:off x="8075466" y="33284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44530" y="35844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</a:t>
            </a:r>
            <a:endParaRPr lang="zh-CN" sz="1400" dirty="0"/>
          </a:p>
        </p:txBody>
      </p:sp>
      <p:sp>
        <p:nvSpPr>
          <p:cNvPr id="40" name="Shape 37"/>
          <p:cNvSpPr/>
          <p:nvPr/>
        </p:nvSpPr>
        <p:spPr>
          <a:xfrm>
            <a:off x="8176050" y="3886200"/>
            <a:ext cx="0" cy="1371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24490" y="402336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215930" y="4133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中央经济工作会议</a:t>
            </a:r>
            <a:endParaRPr lang="zh-CN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7234218" y="45720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坚持内需主导</a:t>
            </a:r>
            <a:endParaRPr lang="zh-CN" sz="1300" dirty="0"/>
          </a:p>
        </p:txBody>
      </p:sp>
      <p:sp>
        <p:nvSpPr>
          <p:cNvPr id="44" name="Shape 41"/>
          <p:cNvSpPr/>
          <p:nvPr/>
        </p:nvSpPr>
        <p:spPr>
          <a:xfrm>
            <a:off x="9462268" y="33284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831332" y="29718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2026.03</a:t>
            </a:r>
            <a:endParaRPr lang="zh-CN" sz="1400" dirty="0"/>
          </a:p>
        </p:txBody>
      </p:sp>
      <p:sp>
        <p:nvSpPr>
          <p:cNvPr id="46" name="Shape 43"/>
          <p:cNvSpPr/>
          <p:nvPr/>
        </p:nvSpPr>
        <p:spPr>
          <a:xfrm>
            <a:off x="9562852" y="2651760"/>
            <a:ext cx="0" cy="3200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511292" y="146304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602732" y="1572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政府工作报告</a:t>
            </a:r>
            <a:endParaRPr lang="zh-CN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8621020" y="2011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目标4.5%—5%；首提增收计划</a:t>
            </a:r>
            <a:endParaRPr lang="zh-CN" sz="1300" dirty="0"/>
          </a:p>
        </p:txBody>
      </p:sp>
      <p:sp>
        <p:nvSpPr>
          <p:cNvPr id="50" name="Shape 47"/>
          <p:cNvSpPr/>
          <p:nvPr/>
        </p:nvSpPr>
        <p:spPr>
          <a:xfrm>
            <a:off x="10849070" y="3328416"/>
            <a:ext cx="201168" cy="20116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218134" y="35844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</a:t>
            </a:r>
            <a:endParaRPr lang="zh-CN" sz="1400" dirty="0"/>
          </a:p>
        </p:txBody>
      </p:sp>
      <p:sp>
        <p:nvSpPr>
          <p:cNvPr id="52" name="Shape 49"/>
          <p:cNvSpPr/>
          <p:nvPr/>
        </p:nvSpPr>
        <p:spPr>
          <a:xfrm>
            <a:off x="10949654" y="3886200"/>
            <a:ext cx="0" cy="13716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539935" y="4023360"/>
            <a:ext cx="2103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631375" y="4133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扩大消费“十五五”规划</a:t>
            </a:r>
            <a:endParaRPr lang="zh-CN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9649663" y="45720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2030年社零60万亿元左右</a:t>
            </a:r>
            <a:endParaRPr lang="zh-CN" sz="1300" dirty="0"/>
          </a:p>
        </p:txBody>
      </p:sp>
      <p:sp>
        <p:nvSpPr>
          <p:cNvPr id="56" name="Shape 53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22960" y="544068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三个转变  </a:t>
            </a: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从“物”到“人”（投资于人） ｜ 从“商品”到“服务” ｜ 从“补贴刺激”到“制度建设”</a:t>
            </a:r>
            <a:endParaRPr lang="zh-CN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资料来源：中央经济工作会议、政府工作报告及相关文件公开报道，作者整理。红色节点为市场监管牵头或深度参与。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· 谋策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以旧换新：政策有效，但边际效应在递减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图17  以旧换新中央资金（亿元）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36118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25196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图18  带动相关商品销售额（万亿元）</a:t>
            </a:r>
            <a:endParaRPr lang="zh-CN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251960" y="1737360"/>
          <a:ext cx="36118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8092440" y="1463040"/>
            <a:ext cx="3547872" cy="452628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321040" y="164592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看点</a:t>
            </a:r>
            <a:endParaRPr lang="zh-CN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321040" y="2057400"/>
            <a:ext cx="30906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汽车以旧换新：2025年超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1150万辆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；2026年1—8月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535万辆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，8月汽车零售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-18.5%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“带动销售额”≠“新增消费”：要扣除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本来就会买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提前购买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挤出效应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政策在优化：家电聚焦一级能效、汽车向新能源倾斜、纳入智能眼镜与智能家居</a:t>
            </a:r>
            <a:endParaRPr lang="zh-CN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资料来源：国家发展改革委、商务部、财政部公开数据；2024年销售额由累计3.92万亿元减2025年2.6万亿元推算。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· 谋策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补贴的“归宿”：一元钱补贴，最终落进了谁的口袋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66928" y="1508760"/>
            <a:ext cx="6638544" cy="914400"/>
          </a:xfrm>
          <a:prstGeom prst="roundRect">
            <a:avLst>
              <a:gd name="adj" fmla="val 8000"/>
            </a:avLst>
          </a:prstGeom>
          <a:solidFill>
            <a:srgbClr val="A9B4BE"/>
          </a:solidFill>
          <a:ln w="12700">
            <a:solidFill>
              <a:srgbClr val="A9B4B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581912"/>
            <a:ext cx="6638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带动销售额</a:t>
            </a:r>
            <a:endParaRPr lang="zh-CN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1965960"/>
            <a:ext cx="6364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政策统计口径：补贴相关商品的全部销售</a:t>
            </a:r>
            <a:endParaRPr lang="zh-CN" sz="1100" dirty="0"/>
          </a:p>
        </p:txBody>
      </p:sp>
      <p:sp>
        <p:nvSpPr>
          <p:cNvPr id="10" name="Shape 7"/>
          <p:cNvSpPr/>
          <p:nvPr/>
        </p:nvSpPr>
        <p:spPr>
          <a:xfrm>
            <a:off x="1170432" y="2587752"/>
            <a:ext cx="5431536" cy="914400"/>
          </a:xfrm>
          <a:prstGeom prst="roundRect">
            <a:avLst>
              <a:gd name="adj" fmla="val 8000"/>
            </a:avLst>
          </a:prstGeom>
          <a:solidFill>
            <a:srgbClr val="4A63A6"/>
          </a:solidFill>
          <a:ln w="12700">
            <a:solidFill>
              <a:srgbClr val="4A63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70432" y="2660904"/>
            <a:ext cx="543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净新增支出</a:t>
            </a:r>
            <a:endParaRPr lang="zh-CN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307592" y="3044952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扣除：本来就会买（无谓补贴）、提前购买（跨期替代）、挤出其他消费</a:t>
            </a:r>
            <a:endParaRPr lang="zh-CN" sz="1100" dirty="0"/>
          </a:p>
        </p:txBody>
      </p:sp>
      <p:sp>
        <p:nvSpPr>
          <p:cNvPr id="13" name="Shape 10"/>
          <p:cNvSpPr/>
          <p:nvPr/>
        </p:nvSpPr>
        <p:spPr>
          <a:xfrm>
            <a:off x="1773936" y="3666744"/>
            <a:ext cx="4224528" cy="914400"/>
          </a:xfrm>
          <a:prstGeom prst="roundRect">
            <a:avLst>
              <a:gd name="adj" fmla="val 8000"/>
            </a:avLst>
          </a:prstGeom>
          <a:solidFill>
            <a:srgbClr val="C8442D"/>
          </a:solidFill>
          <a:ln w="12700">
            <a:solidFill>
              <a:srgbClr val="C844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73936" y="3739896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消费者实得</a:t>
            </a:r>
            <a:endParaRPr lang="zh-CN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911096" y="4123944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扣除：先涨后降、虚标套补、以次充好——被经营者“吃掉”的补贴</a:t>
            </a:r>
            <a:endParaRPr lang="zh-CN" sz="1100" dirty="0"/>
          </a:p>
        </p:txBody>
      </p:sp>
      <p:sp>
        <p:nvSpPr>
          <p:cNvPr id="16" name="Shape 13"/>
          <p:cNvSpPr/>
          <p:nvPr/>
        </p:nvSpPr>
        <p:spPr>
          <a:xfrm>
            <a:off x="2377440" y="4745736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77440" y="48188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社会福利</a:t>
            </a:r>
            <a:endParaRPr lang="zh-CN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2514600" y="52029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再计入：财政成本、分配公平、节能减排等外部性</a:t>
            </a:r>
            <a:endParaRPr lang="zh-CN" sz="1100" dirty="0"/>
          </a:p>
        </p:txBody>
      </p:sp>
      <p:sp>
        <p:nvSpPr>
          <p:cNvPr id="19" name="Shape 16"/>
          <p:cNvSpPr/>
          <p:nvPr/>
        </p:nvSpPr>
        <p:spPr>
          <a:xfrm>
            <a:off x="7543800" y="1508760"/>
            <a:ext cx="4096512" cy="4315968"/>
          </a:xfrm>
          <a:prstGeom prst="roundRect">
            <a:avLst>
              <a:gd name="adj" fmla="val 1786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市场监管守护的是第三层</a:t>
            </a:r>
            <a:endParaRPr lang="zh-CN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21945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价格监测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：补贴前后价格比对，防“先涨后降”</a:t>
            </a:r>
            <a:endParaRPr lang="zh-CN" sz="14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能效与认证核查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：防虚标等级、套取补贴</a:t>
            </a:r>
            <a:endParaRPr lang="zh-CN" sz="14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“旧”的真实性核查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：防虚假回收、骗补</a:t>
            </a:r>
            <a:endParaRPr lang="zh-CN" sz="14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售后与投诉处置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：保障“买得放心、修得方便”</a:t>
            </a:r>
            <a:endParaRPr lang="zh-CN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709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4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补贴效率 = 净新增 × 归宿到消费者的比例。监管决定后一项。</a:t>
            </a:r>
            <a:endParaRPr lang="zh-CN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资料来源：作者研究框架：消费刺激的家庭支出响应、市场归宿与福利。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74520"/>
            <a:ext cx="146304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874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278892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作为</a:t>
            </a:r>
            <a:endParaRPr lang="zh-CN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22860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市场监管如何为消费“增信任”</a:t>
            </a:r>
            <a:endParaRPr lang="zh-CN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32918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800" i="1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如何把“监管力”转化为“消费力”？</a:t>
            </a:r>
            <a:endParaRPr lang="zh-CN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观势</a:t>
            </a:r>
            <a:endParaRPr lang="zh-CN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析因</a:t>
            </a:r>
            <a:endParaRPr lang="zh-CN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镜鉴</a:t>
            </a:r>
            <a:endParaRPr lang="zh-CN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7FA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谋策</a:t>
            </a:r>
            <a:endParaRPr lang="zh-CN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5440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作为</a:t>
            </a:r>
            <a:endParaRPr lang="zh-CN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5303520"/>
            <a:ext cx="10360152" cy="0"/>
          </a:xfrm>
          <a:prstGeom prst="line">
            <a:avLst/>
          </a:prstGeom>
          <a:noFill/>
          <a:ln w="9525">
            <a:solidFill>
              <a:srgbClr val="2E5F5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· 作为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五个抓手：把“监管力”转化为“消费力”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057400" cy="36576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20140" y="17830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028" y="202996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抓手一</a:t>
            </a:r>
            <a:endParaRPr lang="zh-CN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200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放心消费</a:t>
            </a:r>
            <a:endParaRPr lang="zh-CN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降低“信任成本”</a:t>
            </a:r>
            <a:endParaRPr lang="zh-CN" sz="1500" dirty="0"/>
          </a:p>
        </p:txBody>
      </p:sp>
      <p:sp>
        <p:nvSpPr>
          <p:cNvPr id="13" name="Shape 9"/>
          <p:cNvSpPr/>
          <p:nvPr/>
        </p:nvSpPr>
        <p:spPr>
          <a:xfrm>
            <a:off x="777240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724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门槛④ 放心消费</a:t>
            </a:r>
            <a:endParaRPr lang="zh-CN" sz="1200" dirty="0"/>
          </a:p>
        </p:txBody>
      </p:sp>
      <p:sp>
        <p:nvSpPr>
          <p:cNvPr id="15" name="Shape 11"/>
          <p:cNvSpPr/>
          <p:nvPr/>
        </p:nvSpPr>
        <p:spPr>
          <a:xfrm>
            <a:off x="2798064" y="1554480"/>
            <a:ext cx="2057400" cy="36576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69564" y="17830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202996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798064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抓手二</a:t>
            </a:r>
            <a:endParaRPr lang="zh-CN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2798064" y="3200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公平竞争</a:t>
            </a:r>
            <a:endParaRPr lang="zh-CN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2889504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让价格说真话</a:t>
            </a:r>
            <a:endParaRPr lang="zh-CN" sz="1500" dirty="0"/>
          </a:p>
        </p:txBody>
      </p:sp>
      <p:sp>
        <p:nvSpPr>
          <p:cNvPr id="21" name="Shape 16"/>
          <p:cNvSpPr/>
          <p:nvPr/>
        </p:nvSpPr>
        <p:spPr>
          <a:xfrm>
            <a:off x="3026664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026664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门槛④ 放心消费</a:t>
            </a:r>
            <a:endParaRPr lang="zh-CN" sz="1200" dirty="0"/>
          </a:p>
        </p:txBody>
      </p:sp>
      <p:sp>
        <p:nvSpPr>
          <p:cNvPr id="23" name="Shape 18"/>
          <p:cNvSpPr/>
          <p:nvPr/>
        </p:nvSpPr>
        <p:spPr>
          <a:xfrm>
            <a:off x="5047488" y="1554480"/>
            <a:ext cx="2057400" cy="36576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618988" y="1783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202996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047488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抓手三</a:t>
            </a:r>
            <a:endParaRPr lang="zh-CN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047488" y="3200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zh-CN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5138928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让好产品“出得来”</a:t>
            </a:r>
            <a:endParaRPr lang="zh-CN" sz="1500" dirty="0"/>
          </a:p>
        </p:txBody>
      </p:sp>
      <p:sp>
        <p:nvSpPr>
          <p:cNvPr id="29" name="Shape 23"/>
          <p:cNvSpPr/>
          <p:nvPr/>
        </p:nvSpPr>
        <p:spPr>
          <a:xfrm>
            <a:off x="5276088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76088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门槛③ 愿消费</a:t>
            </a:r>
            <a:endParaRPr lang="zh-CN" sz="1200" dirty="0"/>
          </a:p>
        </p:txBody>
      </p:sp>
      <p:sp>
        <p:nvSpPr>
          <p:cNvPr id="31" name="Shape 25"/>
          <p:cNvSpPr/>
          <p:nvPr/>
        </p:nvSpPr>
        <p:spPr>
          <a:xfrm>
            <a:off x="7296912" y="1554480"/>
            <a:ext cx="2057400" cy="36576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868412" y="17830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029968"/>
            <a:ext cx="420624" cy="4206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96912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抓手四</a:t>
            </a:r>
            <a:endParaRPr lang="zh-CN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7296912" y="3200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经营主体</a:t>
            </a:r>
            <a:endParaRPr lang="zh-CN" sz="2200" dirty="0"/>
          </a:p>
        </p:txBody>
      </p:sp>
      <p:sp>
        <p:nvSpPr>
          <p:cNvPr id="36" name="Text 29"/>
          <p:cNvSpPr txBox="1"/>
          <p:nvPr/>
        </p:nvSpPr>
        <p:spPr>
          <a:xfrm>
            <a:off x="7388352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活力→就业→收入</a:t>
            </a:r>
            <a:endParaRPr lang="zh-CN" sz="1500" dirty="0"/>
          </a:p>
        </p:txBody>
      </p:sp>
      <p:sp>
        <p:nvSpPr>
          <p:cNvPr id="37" name="Shape 30"/>
          <p:cNvSpPr/>
          <p:nvPr/>
        </p:nvSpPr>
        <p:spPr>
          <a:xfrm>
            <a:off x="7525512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525512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门槛① 能消费</a:t>
            </a:r>
            <a:endParaRPr lang="zh-CN" sz="1200" dirty="0"/>
          </a:p>
        </p:txBody>
      </p:sp>
      <p:sp>
        <p:nvSpPr>
          <p:cNvPr id="39" name="Shape 32"/>
          <p:cNvSpPr/>
          <p:nvPr/>
        </p:nvSpPr>
        <p:spPr>
          <a:xfrm>
            <a:off x="9546336" y="1554480"/>
            <a:ext cx="2057400" cy="36576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0117836" y="1783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4724" y="2029968"/>
            <a:ext cx="420624" cy="42062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546336" y="2880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抓手五</a:t>
            </a:r>
            <a:endParaRPr lang="zh-CN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9546336" y="3200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新业态</a:t>
            </a:r>
            <a:endParaRPr lang="zh-CN" sz="2200" dirty="0"/>
          </a:p>
        </p:txBody>
      </p:sp>
      <p:sp>
        <p:nvSpPr>
          <p:cNvPr id="44" name="Text 36"/>
          <p:cNvSpPr txBox="1"/>
          <p:nvPr/>
        </p:nvSpPr>
        <p:spPr>
          <a:xfrm>
            <a:off x="9637776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包容审慎促创新</a:t>
            </a:r>
            <a:endParaRPr lang="zh-CN" sz="1500" dirty="0"/>
          </a:p>
        </p:txBody>
      </p:sp>
      <p:sp>
        <p:nvSpPr>
          <p:cNvPr id="45" name="Shape 37"/>
          <p:cNvSpPr/>
          <p:nvPr/>
        </p:nvSpPr>
        <p:spPr>
          <a:xfrm>
            <a:off x="9774936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9774936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门槛③ 愿消费</a:t>
            </a:r>
            <a:endParaRPr lang="zh-CN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548640" y="54864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每一个抓手，都对应消费的一道门槛——这是市场监管服务扩内需的“施工图”。</a:t>
            </a:r>
            <a:endParaRPr lang="zh-CN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· 作为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抓手一 · 放心消费：信任是成本最低的“刺激政策”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65760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184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4386.6万件</a:t>
            </a:r>
            <a:endParaRPr lang="zh-CN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13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2025年受理投诉举报咨询</a:t>
            </a:r>
            <a:endParaRPr lang="zh-CN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365760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0815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43.5亿元</a:t>
            </a:r>
            <a:endParaRPr lang="zh-CN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为消费者挽回经济损失</a:t>
            </a:r>
            <a:endParaRPr lang="zh-CN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434840"/>
            <a:ext cx="365760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5445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5000个+</a:t>
            </a:r>
            <a:endParaRPr lang="zh-CN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239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2030年全国放心消费集聚区目标</a:t>
            </a:r>
            <a:endParaRPr lang="zh-CN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15087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四项重点工作</a:t>
            </a:r>
            <a:endParaRPr lang="zh-CN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19659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zh-CN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5074920" y="19659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线下无理由退货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从商场延伸到商圈、景区、夜市，降低“买错成本”</a:t>
            </a:r>
            <a:endParaRPr lang="zh-CN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2834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zh-CN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28346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预付式消费治理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资金存管、余额公示、冷静期，治理“跑路”与“退费难”</a:t>
            </a:r>
            <a:endParaRPr lang="zh-CN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7033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zh-CN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5074920" y="37033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在线纠纷解决（ODR）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引导企业与消费者直接和解，缩短维权链条</a:t>
            </a:r>
            <a:endParaRPr lang="zh-CN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5720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zh-CN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5074920" y="45720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信息公示与信用约束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投诉数据公开、红黑榜，激活“用脚投票”的声誉机制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4572000" y="5440680"/>
            <a:ext cx="706831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54406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消费者买的不只是商品，还有“出了问题能解决”的保障。</a:t>
            </a:r>
            <a:endParaRPr lang="zh-CN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资料来源：国家市场监督管理总局；《关于全面开展放心消费单元和集聚区培育的通知》。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· 作为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浙江实践：从“放心消费在浙江”到“放心消费在中国”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图19  2026年上半年：浙江与全国（同比，%）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47548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669280" y="1536192"/>
            <a:ext cx="10515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0" y="153619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</a:t>
            </a:r>
            <a:endParaRPr lang="zh-CN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903720" y="1463040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启动“放心消费在浙江”行动，首批1.3万家企业承诺无理由退货；理念上升为全国“放心消费在中国”品牌</a:t>
            </a:r>
            <a:endParaRPr lang="zh-CN" sz="1400" dirty="0"/>
          </a:p>
        </p:txBody>
      </p:sp>
      <p:sp>
        <p:nvSpPr>
          <p:cNvPr id="12" name="Shape 8"/>
          <p:cNvSpPr/>
          <p:nvPr/>
        </p:nvSpPr>
        <p:spPr>
          <a:xfrm>
            <a:off x="5669280" y="2432304"/>
            <a:ext cx="10515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669280" y="243230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放心贷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2359152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覆盖147个放心消费商圈、4.16万户商户，放贷超1800亿元；入选全国优化消费环境五大典型案例</a:t>
            </a:r>
            <a:endParaRPr lang="zh-CN" sz="1400" dirty="0"/>
          </a:p>
        </p:txBody>
      </p:sp>
      <p:sp>
        <p:nvSpPr>
          <p:cNvPr id="15" name="Shape 11"/>
          <p:cNvSpPr/>
          <p:nvPr/>
        </p:nvSpPr>
        <p:spPr>
          <a:xfrm>
            <a:off x="5669280" y="3328416"/>
            <a:ext cx="10515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669280" y="33284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</a:t>
            </a:r>
            <a:endParaRPr lang="zh-CN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903720" y="3255264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7个项目入选总局优化消费环境试点，数量居全国首位</a:t>
            </a:r>
            <a:endParaRPr lang="zh-CN" sz="1400" dirty="0"/>
          </a:p>
        </p:txBody>
      </p:sp>
      <p:sp>
        <p:nvSpPr>
          <p:cNvPr id="18" name="Shape 14"/>
          <p:cNvSpPr/>
          <p:nvPr/>
        </p:nvSpPr>
        <p:spPr>
          <a:xfrm>
            <a:off x="5669280" y="4224528"/>
            <a:ext cx="10515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69280" y="42245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浙食链</a:t>
            </a:r>
            <a:endParaRPr lang="zh-CN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903720" y="4151376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温州食用农产品全链条数字化监管，入选全国首批全链条监管创新案例</a:t>
            </a:r>
            <a:endParaRPr lang="zh-CN" sz="1400" dirty="0"/>
          </a:p>
        </p:txBody>
      </p:sp>
      <p:sp>
        <p:nvSpPr>
          <p:cNvPr id="21" name="Shape 17"/>
          <p:cNvSpPr/>
          <p:nvPr/>
        </p:nvSpPr>
        <p:spPr>
          <a:xfrm>
            <a:off x="5669280" y="5120640"/>
            <a:ext cx="105156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669280" y="51206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zh-CN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903720" y="5047488"/>
            <a:ext cx="4736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培育“信用促消费”商圈100个以上，新增线下无理由退换货承诺单元超1万家</a:t>
            </a:r>
            <a:endParaRPr lang="zh-CN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资料来源：浙江省统计局；国家统计局；浙江省市场监督管理局公开资料。截至2025年底浙江经营主体1163.65万户。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· 作为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抓手二 · 公平竞争：治理“内卷式”竞争，让价格说真话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价格监管“两线作战”</a:t>
            </a:r>
            <a:endParaRPr lang="zh-CN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57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</a:t>
            </a:r>
            <a:endParaRPr lang="zh-CN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PPI +3.8%</a:t>
            </a:r>
            <a:endParaRPr lang="zh-CN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5420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防囤积居奇、哄抬价格、串通涨价</a:t>
            </a:r>
            <a:endParaRPr lang="zh-CN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</a:t>
            </a:r>
            <a:endParaRPr lang="zh-CN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 +0.8%</a:t>
            </a:r>
            <a:endParaRPr lang="zh-CN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8679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防低价倾销、价格欺诈、虚假折扣、大数据杀熟</a:t>
            </a:r>
            <a:endParaRPr lang="zh-CN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1772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2026年上半年：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16项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专项行动、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39项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zh-CN" sz="14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全国查办不正当竞争案件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11,465件</a:t>
            </a:r>
            <a:endParaRPr lang="zh-CN" sz="140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推进价格法修改：完善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低价倾销认定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行业成本调查</a:t>
            </a:r>
            <a:endParaRPr lang="zh-CN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1463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反内卷的边界</a:t>
            </a:r>
            <a:endParaRPr lang="zh-CN" sz="1700" dirty="0"/>
          </a:p>
        </p:txBody>
      </p:sp>
      <p:sp>
        <p:nvSpPr>
          <p:cNvPr id="18" name="Shape 15"/>
          <p:cNvSpPr/>
          <p:nvPr/>
        </p:nvSpPr>
        <p:spPr>
          <a:xfrm>
            <a:off x="6035040" y="1920240"/>
            <a:ext cx="560527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36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该治理</a:t>
            </a:r>
            <a:endParaRPr lang="zh-CN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4231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低于成本倾销、排挤竞争对手</a:t>
            </a:r>
            <a:endParaRPr lang="zh-CN" sz="1400" dirty="0"/>
          </a:p>
          <a:p>
            <a:pPr marL="177800" indent="-177800">
              <a:spcAft>
                <a:spcPts val="4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平台强制“最低价”、滥用“仅退款”规则</a:t>
            </a:r>
            <a:endParaRPr lang="zh-CN" sz="1400" dirty="0"/>
          </a:p>
          <a:p>
            <a:pPr marL="177800" indent="-177800">
              <a:spcAft>
                <a:spcPts val="4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偷工减料换来的“劣质低价”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>
            <a:off x="6035040" y="3886200"/>
            <a:ext cx="5605272" cy="1828800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6364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✘ 不该做</a:t>
            </a:r>
            <a:endParaRPr lang="zh-CN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43891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行政定价、设“保护价”</a:t>
            </a:r>
            <a:endParaRPr lang="zh-CN" sz="1400" dirty="0"/>
          </a:p>
          <a:p>
            <a:pPr marL="177800" indent="-177800">
              <a:spcAft>
                <a:spcPts val="4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为行业“协同涨价”背书（涉嫌垄断协议）</a:t>
            </a:r>
            <a:endParaRPr lang="zh-CN" sz="1400" dirty="0"/>
          </a:p>
          <a:p>
            <a:pPr marL="177800" indent="-177800">
              <a:spcAft>
                <a:spcPts val="4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把效率型降价当作“内卷”打压</a:t>
            </a:r>
            <a:endParaRPr lang="zh-CN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760720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判断标准：是否损害消费者长期福利与市场动态效率</a:t>
            </a:r>
            <a:endParaRPr lang="zh-CN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资料来源：国家统计局；国家市场监督管理总局2026年上半年新闻发布会。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· 作为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抓手三 · 质量标准：以标准升级牵引消费升级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51460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86446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zh-CN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定义“好”</a:t>
            </a:r>
            <a:endParaRPr lang="zh-CN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560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产品标准、服务标准、能效等级</a:t>
            </a:r>
            <a:endParaRPr lang="zh-CN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23774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zh-CN" sz="2000" dirty="0"/>
          </a:p>
        </p:txBody>
      </p:sp>
      <p:sp>
        <p:nvSpPr>
          <p:cNvPr id="14" name="Shape 10"/>
          <p:cNvSpPr/>
          <p:nvPr/>
        </p:nvSpPr>
        <p:spPr>
          <a:xfrm>
            <a:off x="3364992" y="1508760"/>
            <a:ext cx="251460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93592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414" y="186446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25112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zh-CN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325112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证明“好”</a:t>
            </a:r>
            <a:endParaRPr lang="zh-CN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593592" y="2560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绿色产品认证、能效标识核查</a:t>
            </a:r>
            <a:endParaRPr lang="zh-CN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879592" y="23774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zh-CN" sz="2000" dirty="0"/>
          </a:p>
        </p:txBody>
      </p:sp>
      <p:sp>
        <p:nvSpPr>
          <p:cNvPr id="21" name="Shape 16"/>
          <p:cNvSpPr/>
          <p:nvPr/>
        </p:nvSpPr>
        <p:spPr>
          <a:xfrm>
            <a:off x="6181344" y="1508760"/>
            <a:ext cx="251460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9944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766" y="186446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41464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检测抽查</a:t>
            </a:r>
            <a:endParaRPr lang="zh-CN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141464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核验“好”</a:t>
            </a:r>
            <a:endParaRPr lang="zh-CN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409944" y="2560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“双随机”抽查、网络商品抽检</a:t>
            </a:r>
            <a:endParaRPr lang="zh-CN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8695944" y="237744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zh-CN" sz="2000" dirty="0"/>
          </a:p>
        </p:txBody>
      </p:sp>
      <p:sp>
        <p:nvSpPr>
          <p:cNvPr id="28" name="Shape 22"/>
          <p:cNvSpPr/>
          <p:nvPr/>
        </p:nvSpPr>
        <p:spPr>
          <a:xfrm>
            <a:off x="8997696" y="1508760"/>
            <a:ext cx="251460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226296" y="16916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118" y="1864462"/>
            <a:ext cx="294437" cy="2944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957816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召回追责</a:t>
            </a:r>
            <a:endParaRPr lang="zh-CN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957816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兜住“底”</a:t>
            </a:r>
            <a:endParaRPr lang="zh-CN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226296" y="2560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缺陷产品召回、质量追溯</a:t>
            </a:r>
            <a:endParaRPr lang="zh-CN" sz="1400" dirty="0"/>
          </a:p>
        </p:txBody>
      </p:sp>
      <p:sp>
        <p:nvSpPr>
          <p:cNvPr id="34" name="Shape 27"/>
          <p:cNvSpPr/>
          <p:nvPr/>
        </p:nvSpPr>
        <p:spPr>
          <a:xfrm>
            <a:off x="548640" y="4160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77240" y="4251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9146万台 / 1.08亿件</a:t>
            </a:r>
            <a:endParaRPr lang="zh-CN" sz="2100" dirty="0"/>
          </a:p>
        </p:txBody>
      </p:sp>
      <p:sp>
        <p:nvSpPr>
          <p:cNvPr id="36" name="Text 29"/>
          <p:cNvSpPr txBox="1"/>
          <p:nvPr/>
        </p:nvSpPr>
        <p:spPr>
          <a:xfrm>
            <a:off x="77724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2026年1—8月6类家电以旧换新 / 数码和智能产品购新</a:t>
            </a:r>
            <a:endParaRPr lang="zh-CN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77240" y="52852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补贴聚焦一级能效：能效标识真实性＝财政资金效率</a:t>
            </a:r>
            <a:endParaRPr lang="zh-CN" sz="1400" dirty="0"/>
          </a:p>
        </p:txBody>
      </p:sp>
      <p:sp>
        <p:nvSpPr>
          <p:cNvPr id="38" name="Shape 31"/>
          <p:cNvSpPr/>
          <p:nvPr/>
        </p:nvSpPr>
        <p:spPr>
          <a:xfrm>
            <a:off x="4297680" y="4160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4526280" y="4251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+26.6%</a:t>
            </a:r>
            <a:endParaRPr lang="zh-CN" sz="2100" dirty="0"/>
          </a:p>
        </p:txBody>
      </p:sp>
      <p:sp>
        <p:nvSpPr>
          <p:cNvPr id="40" name="Text 33"/>
          <p:cNvSpPr txBox="1"/>
          <p:nvPr/>
        </p:nvSpPr>
        <p:spPr>
          <a:xfrm>
            <a:off x="452628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2025年智能设备投诉举报增速（15.2万件）</a:t>
            </a:r>
            <a:endParaRPr lang="zh-CN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4526280" y="52852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新产品标准滞后：标准缺位就是监管盲区</a:t>
            </a:r>
            <a:endParaRPr lang="zh-CN" sz="1400" dirty="0"/>
          </a:p>
        </p:txBody>
      </p:sp>
      <p:sp>
        <p:nvSpPr>
          <p:cNvPr id="42" name="Shape 35"/>
          <p:cNvSpPr/>
          <p:nvPr/>
        </p:nvSpPr>
        <p:spPr>
          <a:xfrm>
            <a:off x="8046720" y="4160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275320" y="4251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服务标准</a:t>
            </a:r>
            <a:endParaRPr lang="zh-CN" sz="2100" dirty="0"/>
          </a:p>
        </p:txBody>
      </p:sp>
      <p:sp>
        <p:nvSpPr>
          <p:cNvPr id="44" name="Text 37"/>
          <p:cNvSpPr txBox="1"/>
          <p:nvPr/>
        </p:nvSpPr>
        <p:spPr>
          <a:xfrm>
            <a:off x="827532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养老、托育、家政、文旅</a:t>
            </a:r>
            <a:endParaRPr lang="zh-CN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8275320" y="52852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服务消费最缺“看得见的质量”</a:t>
            </a:r>
            <a:endParaRPr lang="zh-CN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资料来源：国家发展改革委；国家市场监督管理总局。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· 作为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抓手四 · 经营主体：“活力—就业—收入—消费”的传导链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图20  2025年新设经营主体构成（万户）</a:t>
            </a:r>
            <a:endParaRPr lang="zh-CN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4206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920240" y="3063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2574.5</a:t>
            </a:r>
            <a:endParaRPr lang="zh-CN" sz="14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万户</a:t>
            </a:r>
            <a:endParaRPr lang="zh-CN" sz="1400" dirty="0"/>
          </a:p>
        </p:txBody>
      </p:sp>
      <p:sp>
        <p:nvSpPr>
          <p:cNvPr id="10" name="Shape 6"/>
          <p:cNvSpPr/>
          <p:nvPr/>
        </p:nvSpPr>
        <p:spPr>
          <a:xfrm>
            <a:off x="5029200" y="1600200"/>
            <a:ext cx="1115568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029200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准入便利</a:t>
            </a:r>
            <a:endParaRPr lang="zh-CN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144768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zh-CN" sz="1600" dirty="0"/>
          </a:p>
        </p:txBody>
      </p:sp>
      <p:sp>
        <p:nvSpPr>
          <p:cNvPr id="13" name="Shape 9"/>
          <p:cNvSpPr/>
          <p:nvPr/>
        </p:nvSpPr>
        <p:spPr>
          <a:xfrm>
            <a:off x="6373368" y="1600200"/>
            <a:ext cx="1115568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73368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主体活跃</a:t>
            </a:r>
            <a:endParaRPr lang="zh-CN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488936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zh-CN" sz="1600" dirty="0"/>
          </a:p>
        </p:txBody>
      </p:sp>
      <p:sp>
        <p:nvSpPr>
          <p:cNvPr id="16" name="Shape 12"/>
          <p:cNvSpPr/>
          <p:nvPr/>
        </p:nvSpPr>
        <p:spPr>
          <a:xfrm>
            <a:off x="7717536" y="1600200"/>
            <a:ext cx="1115568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17536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吸纳就业</a:t>
            </a:r>
            <a:endParaRPr lang="zh-CN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833104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9061704" y="1600200"/>
            <a:ext cx="1115568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61704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居民增收</a:t>
            </a:r>
            <a:endParaRPr lang="zh-CN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0177272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zh-CN" sz="1600" dirty="0"/>
          </a:p>
        </p:txBody>
      </p:sp>
      <p:sp>
        <p:nvSpPr>
          <p:cNvPr id="22" name="Shape 18"/>
          <p:cNvSpPr/>
          <p:nvPr/>
        </p:nvSpPr>
        <p:spPr>
          <a:xfrm>
            <a:off x="10405872" y="1600200"/>
            <a:ext cx="1115568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405872" y="160020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消费扩大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5029200" y="2514600"/>
            <a:ext cx="6611112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257800" y="269748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2025年在营活跃企业数量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+9.8%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，占全部企业比重提高4.7个百分点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浙江经营主体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1163.65万户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，约每6名常住人口就有1个经营主体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个体工商户是就业的“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蓄水池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”，也是消费的“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毛细血管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”——小店兴则烟火旺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工作抓手：涉企检查“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无事不扰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”、“综合查一次”；个体工商户</a:t>
            </a: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分型分类帮扶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；信用修复“应修尽修”</a:t>
            </a:r>
            <a:endParaRPr lang="zh-CN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资料来源：国家市场监督管理总局（另有农民专业合作社等5.1万户）；长三角市场监管部门《长三角经营主体发展指数（2025版）》；浙江省统计局。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· 作为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抓手五 · 新业态：包容审慎，压实平台“守门人”责任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24.8%</a:t>
            </a:r>
            <a:endParaRPr lang="zh-CN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2377440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网上商品零售额占社零比重（2026年一季度）</a:t>
            </a:r>
            <a:endParaRPr lang="zh-CN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417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56.9%</a:t>
            </a:r>
            <a:endParaRPr lang="zh-CN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网购占全部投诉举报比重（2025年）</a:t>
            </a:r>
            <a:endParaRPr lang="zh-CN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544068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3774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53051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直播电商</a:t>
            </a:r>
            <a:endParaRPr lang="zh-CN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508760" y="27706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虚假宣传、带货责任不清、售后难</a:t>
            </a:r>
            <a:endParaRPr lang="zh-CN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508760" y="31363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主播与平台责任界定、直播回放留存、重点抽查</a:t>
            </a:r>
            <a:endParaRPr lang="zh-CN" sz="1400" dirty="0"/>
          </a:p>
        </p:txBody>
      </p:sp>
      <p:sp>
        <p:nvSpPr>
          <p:cNvPr id="17" name="Shape 13"/>
          <p:cNvSpPr/>
          <p:nvPr/>
        </p:nvSpPr>
        <p:spPr>
          <a:xfrm>
            <a:off x="6172200" y="21488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0" y="23774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871" y="2530511"/>
            <a:ext cx="260787" cy="26078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32320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即时零售与外卖</a:t>
            </a:r>
            <a:endParaRPr lang="zh-CN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7132320" y="27706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补贴大战、低价倾销、食品安全</a:t>
            </a:r>
            <a:endParaRPr lang="zh-CN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0" y="31363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平台规则审查、约谈指导、“互联网+明厨亮灶”</a:t>
            </a:r>
            <a:endParaRPr lang="zh-CN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384048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1" y="4222151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08760" y="4041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智能与AI消费</a:t>
            </a:r>
            <a:endParaRPr lang="zh-CN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1508760" y="44622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算法“杀熟”、数据安全、标准缺位</a:t>
            </a:r>
            <a:endParaRPr lang="zh-CN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508760" y="48280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算法透明、标准先行、个人信息保护</a:t>
            </a:r>
            <a:endParaRPr lang="zh-CN" sz="1400" dirty="0"/>
          </a:p>
        </p:txBody>
      </p:sp>
      <p:sp>
        <p:nvSpPr>
          <p:cNvPr id="29" name="Shape 23"/>
          <p:cNvSpPr/>
          <p:nvPr/>
        </p:nvSpPr>
        <p:spPr>
          <a:xfrm>
            <a:off x="6172200" y="3840480"/>
            <a:ext cx="544068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0800" y="406908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871" y="4222151"/>
            <a:ext cx="260787" cy="26078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32320" y="4041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银发与健康消费</a:t>
            </a:r>
            <a:endParaRPr lang="zh-CN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7132320" y="44622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保健品虚假宣传、养老预付费风险</a:t>
            </a:r>
            <a:endParaRPr lang="zh-CN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7132320" y="48280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</a:t>
            </a: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重点人群专项整治、预付资金监管</a:t>
            </a:r>
            <a:endParaRPr lang="zh-CN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5596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包容审慎 ≠ 放任不管：规则先行 · 底线监管 · 科技赋能 · 平台共治</a:t>
            </a:r>
            <a:endParaRPr lang="zh-CN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资料来源：国家统计局；国家市场监督管理总局。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· 作为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落到基层：市县可以马上做的十件实事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40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508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2200" dirty="0"/>
          </a:p>
        </p:txBody>
      </p:sp>
      <p:sp>
        <p:nvSpPr>
          <p:cNvPr id="9" name="Shape 6"/>
          <p:cNvSpPr/>
          <p:nvPr/>
        </p:nvSpPr>
        <p:spPr>
          <a:xfrm>
            <a:off x="1280160" y="1728216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17282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放心消费</a:t>
            </a:r>
            <a:endParaRPr lang="zh-CN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1508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线下无理由退货承诺单元向商圈、景区、夜市扩面</a:t>
            </a:r>
            <a:endParaRPr lang="zh-CN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40487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40487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2200" dirty="0"/>
          </a:p>
        </p:txBody>
      </p:sp>
      <p:sp>
        <p:nvSpPr>
          <p:cNvPr id="14" name="Shape 11"/>
          <p:cNvSpPr/>
          <p:nvPr/>
        </p:nvSpPr>
        <p:spPr>
          <a:xfrm>
            <a:off x="1280160" y="2624328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80160" y="262432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放心消费</a:t>
            </a:r>
            <a:endParaRPr lang="zh-CN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24048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预付式消费推行“资金存管+余额公示+冷静期”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300984"/>
            <a:ext cx="5440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30098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2200" dirty="0"/>
          </a:p>
        </p:txBody>
      </p:sp>
      <p:sp>
        <p:nvSpPr>
          <p:cNvPr id="19" name="Shape 16"/>
          <p:cNvSpPr/>
          <p:nvPr/>
        </p:nvSpPr>
        <p:spPr>
          <a:xfrm>
            <a:off x="1280160" y="3520440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80160" y="3520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放心消费</a:t>
            </a:r>
            <a:endParaRPr lang="zh-CN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377440" y="330098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12315“诉转案”与重复投诉溯源治理</a:t>
            </a:r>
            <a:endParaRPr lang="zh-CN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19709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19709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2200" dirty="0"/>
          </a:p>
        </p:txBody>
      </p:sp>
      <p:sp>
        <p:nvSpPr>
          <p:cNvPr id="24" name="Shape 21"/>
          <p:cNvSpPr/>
          <p:nvPr/>
        </p:nvSpPr>
        <p:spPr>
          <a:xfrm>
            <a:off x="1280160" y="4416552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280160" y="44165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公平竞争</a:t>
            </a:r>
            <a:endParaRPr lang="zh-CN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377440" y="419709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以旧换新领域价格与能效标识专项检查，防“先涨后降”</a:t>
            </a:r>
            <a:endParaRPr lang="zh-CN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5093208"/>
            <a:ext cx="5440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509320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2200" dirty="0"/>
          </a:p>
        </p:txBody>
      </p:sp>
      <p:sp>
        <p:nvSpPr>
          <p:cNvPr id="29" name="Shape 26"/>
          <p:cNvSpPr/>
          <p:nvPr/>
        </p:nvSpPr>
        <p:spPr>
          <a:xfrm>
            <a:off x="1280160" y="5312664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280160" y="53126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公平竞争</a:t>
            </a:r>
            <a:endParaRPr lang="zh-CN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2377440" y="50932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重点民生商品价格监测与行业成本调查</a:t>
            </a:r>
            <a:endParaRPr lang="zh-CN" sz="1400" dirty="0"/>
          </a:p>
        </p:txBody>
      </p:sp>
      <p:sp>
        <p:nvSpPr>
          <p:cNvPr id="32" name="Shape 29"/>
          <p:cNvSpPr/>
          <p:nvPr/>
        </p:nvSpPr>
        <p:spPr>
          <a:xfrm>
            <a:off x="6172200" y="1508760"/>
            <a:ext cx="5440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0" y="1508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zh-CN" sz="2200" dirty="0"/>
          </a:p>
        </p:txBody>
      </p:sp>
      <p:sp>
        <p:nvSpPr>
          <p:cNvPr id="34" name="Shape 31"/>
          <p:cNvSpPr/>
          <p:nvPr/>
        </p:nvSpPr>
        <p:spPr>
          <a:xfrm>
            <a:off x="6903720" y="1728216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903720" y="17282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经营主体</a:t>
            </a:r>
            <a:endParaRPr lang="zh-CN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1508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涉企检查“综合查一次”、扫码入企，减少对经营的干扰</a:t>
            </a:r>
            <a:endParaRPr lang="zh-CN" sz="1400" dirty="0"/>
          </a:p>
        </p:txBody>
      </p:sp>
      <p:sp>
        <p:nvSpPr>
          <p:cNvPr id="37" name="Shape 34"/>
          <p:cNvSpPr/>
          <p:nvPr/>
        </p:nvSpPr>
        <p:spPr>
          <a:xfrm>
            <a:off x="6172200" y="2404872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09360" y="240487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zh-CN" sz="2200" dirty="0"/>
          </a:p>
        </p:txBody>
      </p:sp>
      <p:sp>
        <p:nvSpPr>
          <p:cNvPr id="39" name="Shape 36"/>
          <p:cNvSpPr/>
          <p:nvPr/>
        </p:nvSpPr>
        <p:spPr>
          <a:xfrm>
            <a:off x="6903720" y="2624328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903720" y="262432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经营主体</a:t>
            </a:r>
            <a:endParaRPr lang="zh-CN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001000" y="240487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个体工商户分型分类精准帮扶，信用修复“应修尽修”</a:t>
            </a:r>
            <a:endParaRPr lang="zh-CN" sz="1400" dirty="0"/>
          </a:p>
        </p:txBody>
      </p:sp>
      <p:sp>
        <p:nvSpPr>
          <p:cNvPr id="42" name="Shape 39"/>
          <p:cNvSpPr/>
          <p:nvPr/>
        </p:nvSpPr>
        <p:spPr>
          <a:xfrm>
            <a:off x="6172200" y="3300984"/>
            <a:ext cx="5440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09360" y="330098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zh-CN" sz="2200" dirty="0"/>
          </a:p>
        </p:txBody>
      </p:sp>
      <p:sp>
        <p:nvSpPr>
          <p:cNvPr id="44" name="Shape 41"/>
          <p:cNvSpPr/>
          <p:nvPr/>
        </p:nvSpPr>
        <p:spPr>
          <a:xfrm>
            <a:off x="6903720" y="3520440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903720" y="3520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经营主体</a:t>
            </a:r>
            <a:endParaRPr lang="zh-CN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8001000" y="330098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配合简化外摆经营、促销活动审批，设置“包容期”</a:t>
            </a:r>
            <a:endParaRPr lang="zh-CN" sz="1400" dirty="0"/>
          </a:p>
        </p:txBody>
      </p:sp>
      <p:sp>
        <p:nvSpPr>
          <p:cNvPr id="47" name="Shape 44"/>
          <p:cNvSpPr/>
          <p:nvPr/>
        </p:nvSpPr>
        <p:spPr>
          <a:xfrm>
            <a:off x="6172200" y="4197096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09360" y="419709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zh-CN" sz="2200" dirty="0"/>
          </a:p>
        </p:txBody>
      </p:sp>
      <p:sp>
        <p:nvSpPr>
          <p:cNvPr id="49" name="Shape 46"/>
          <p:cNvSpPr/>
          <p:nvPr/>
        </p:nvSpPr>
        <p:spPr>
          <a:xfrm>
            <a:off x="6903720" y="4416552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903720" y="44165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新业态</a:t>
            </a:r>
            <a:endParaRPr lang="zh-CN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8001000" y="419709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直播带货、即时零售、外卖平台重点监测与抽查</a:t>
            </a:r>
            <a:endParaRPr lang="zh-CN" sz="1400" dirty="0"/>
          </a:p>
        </p:txBody>
      </p:sp>
      <p:sp>
        <p:nvSpPr>
          <p:cNvPr id="52" name="Shape 49"/>
          <p:cNvSpPr/>
          <p:nvPr/>
        </p:nvSpPr>
        <p:spPr>
          <a:xfrm>
            <a:off x="6172200" y="5093208"/>
            <a:ext cx="5440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309360" y="509320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zh-CN" sz="2200" dirty="0"/>
          </a:p>
        </p:txBody>
      </p:sp>
      <p:sp>
        <p:nvSpPr>
          <p:cNvPr id="54" name="Shape 51"/>
          <p:cNvSpPr/>
          <p:nvPr/>
        </p:nvSpPr>
        <p:spPr>
          <a:xfrm>
            <a:off x="6903720" y="5312664"/>
            <a:ext cx="9601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903720" y="53126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zh-CN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8001000" y="50932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智能产品、银发产品质量抽检；服务质量评价试点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结语：市场监管的三个转变</a:t>
            </a:r>
            <a:endParaRPr lang="zh-CN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889150"/>
            <a:ext cx="336499" cy="3364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从“守底线”</a:t>
            </a:r>
            <a:endParaRPr lang="zh-CN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到“促发展”</a:t>
            </a:r>
            <a:endParaRPr lang="zh-CN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监管不只是成本，也是生产力：好的监管降低全社会交易成本</a:t>
            </a:r>
            <a:endParaRPr lang="zh-CN" sz="1500" dirty="0"/>
          </a:p>
        </p:txBody>
      </p:sp>
      <p:sp>
        <p:nvSpPr>
          <p:cNvPr id="13" name="Shape 9"/>
          <p:cNvSpPr/>
          <p:nvPr/>
        </p:nvSpPr>
        <p:spPr>
          <a:xfrm>
            <a:off x="4297680" y="150876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1772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1889150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772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从“事后罚”</a:t>
            </a:r>
            <a:endParaRPr lang="zh-CN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461772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到“事前防”</a:t>
            </a:r>
            <a:endParaRPr lang="zh-CN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信用监管、智慧监管：让守法者无事不扰，让违法者无处可藏</a:t>
            </a:r>
            <a:endParaRPr lang="zh-CN" sz="1500" dirty="0"/>
          </a:p>
        </p:txBody>
      </p:sp>
      <p:sp>
        <p:nvSpPr>
          <p:cNvPr id="19" name="Shape 14"/>
          <p:cNvSpPr/>
          <p:nvPr/>
        </p:nvSpPr>
        <p:spPr>
          <a:xfrm>
            <a:off x="8046720" y="150876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66760" y="16916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188915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6676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从“保护消费者”</a:t>
            </a:r>
            <a:endParaRPr lang="zh-CN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36676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到“建设消费社会”</a:t>
            </a:r>
            <a:endParaRPr lang="zh-CN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836676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放心消费是扩大内需的制度基础设施</a:t>
            </a:r>
            <a:endParaRPr lang="zh-CN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68680" y="498348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监管的最高境界  </a:t>
            </a:r>
            <a:r>
              <a:rPr lang="zh-CN" altLang="en-US" sz="17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让守法经营者感觉不到监管的存在，让消费者时时感受到监管的保护。</a:t>
            </a:r>
            <a:endParaRPr lang="zh-CN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88720"/>
            <a:ext cx="91440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4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</a:t>
            </a:r>
            <a:endParaRPr lang="zh-CN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23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宏观政策提振信心，市场监管守护信任。</a:t>
            </a:r>
            <a:endParaRPr lang="zh-CN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D7E4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信心决定人们愿不愿意花钱，信任决定人们敢不敢在这里花钱。</a:t>
            </a:r>
            <a:endParaRPr lang="zh-CN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343400"/>
            <a:ext cx="5669280" cy="0"/>
          </a:xfrm>
          <a:prstGeom prst="line">
            <a:avLst/>
          </a:prstGeom>
          <a:noFill/>
          <a:ln w="9525">
            <a:solidFill>
              <a:srgbClr val="2E5F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谢谢！欢迎批评指正</a:t>
            </a:r>
            <a:endParaRPr lang="zh-CN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3A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</a:t>
            </a:r>
            <a:endParaRPr lang="zh-CN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zh-CN" sz="12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0B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附：数据说明与讲前更新清单</a:t>
            </a:r>
            <a:endParaRPr lang="zh-CN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数据说明</a:t>
            </a:r>
            <a:endParaRPr lang="zh-CN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2024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宏观数据来自国家统计局月度/季度/年度发布；2025年社零按第五次经济普查修订后可比口径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名义GDP增速、收入占GDP比重、平均消费倾向、消费倾向缺口等为作者据官方数据计算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国际居民消费率为世界银行WDI取整值（2023年或最近年份），引用前建议再核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日本CPI为总务省统计局年度同比，取一位小数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市场监管数据来自总局新闻发布会、3·15数据发布及浙江省局公开资料</a:t>
            </a:r>
            <a:endParaRPr lang="zh-CN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76672" cy="4480560"/>
          </a:xfrm>
          <a:prstGeom prst="roundRect">
            <a:avLst>
              <a:gd name="adj" fmla="val 1633"/>
            </a:avLst>
          </a:prstGeom>
          <a:solidFill>
            <a:srgbClr val="FBEFEC"/>
          </a:solidFill>
          <a:ln w="12700">
            <a:solidFill>
              <a:srgbClr val="FBEF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讲前更新清单（10月20日前后）</a:t>
            </a:r>
            <a:endParaRPr lang="zh-CN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1031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前三季度GDP、9月社零与失业率 → 第6、8、9页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9月CPI、PPI → 第10页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9月青年失业率（不含在校生） → 第19页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浙江前三季度GDP与社零 → 第36页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以旧换新最新进展（发改委/商务部） → 第31页</a:t>
            </a:r>
            <a:endParaRPr lang="zh-CN" sz="14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zh-CN" alt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封面补充主讲人姓名与讲座地点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29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inxin Xinren">
  <a:themeElements>
    <a:clrScheme name="Xinxin Xinren">
      <a:dk1>
        <a:srgbClr val="22272E"/>
      </a:dk1>
      <a:lt1>
        <a:srgbClr val="FFFFFF"/>
      </a:lt1>
      <a:dk2>
        <a:srgbClr val="0B3B3C"/>
      </a:dk2>
      <a:lt2>
        <a:srgbClr val="EEF5F4"/>
      </a:lt2>
      <a:accent1>
        <a:srgbClr val="00897B"/>
      </a:accent1>
      <a:accent2>
        <a:srgbClr val="C8442D"/>
      </a:accent2>
      <a:accent3>
        <a:srgbClr val="4A63A6"/>
      </a:accent3>
      <a:accent4>
        <a:srgbClr val="B07D0E"/>
      </a:accent4>
      <a:accent5>
        <a:srgbClr val="6B7280"/>
      </a:accent5>
      <a:accent6>
        <a:srgbClr val="E0B252"/>
      </a:accent6>
      <a:hlink>
        <a:srgbClr val="4A63A6"/>
      </a:hlink>
      <a:folHlink>
        <a:srgbClr val="6B7280"/>
      </a:folHlink>
    </a:clrScheme>
    <a:fontScheme name="Xinxin Xinren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浙江省市场监督管理局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信心与信任：从消费看中国经济形势与市场监管的作为</dc:title>
  <dc:subject>全省市场监管系统干部专题讲座</dc:subject>
  <dc:creator>浙江财经大学经济学院</dc:creator>
  <cp:lastModifiedBy>浙江财经大学经济学院</cp:lastModifiedBy>
  <cp:revision>1</cp:revision>
  <dcterms:created xsi:type="dcterms:W3CDTF">2026-10-14T15:08:20Z</dcterms:created>
  <dcterms:modified xsi:type="dcterms:W3CDTF">2026-10-14T15:08:20Z</dcterms:modified>
</cp:coreProperties>
</file>